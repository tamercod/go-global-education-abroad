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C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080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11535" y="164592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E7582"/>
                </a:solidFill>
                <a:latin typeface="Arial"/>
              </a:rPr>
              <a:t>01 / 36</a:t>
            </a:r>
          </a:p>
        </p:txBody>
      </p:sp>
      <p:sp>
        <p:nvSpPr>
          <p:cNvPr id="5" name="Oval 4"/>
          <p:cNvSpPr/>
          <p:nvPr/>
        </p:nvSpPr>
        <p:spPr>
          <a:xfrm>
            <a:off x="0" y="0"/>
            <a:ext cx="4572000" cy="2743200"/>
          </a:xfrm>
          <a:prstGeom prst="ellipse">
            <a:avLst/>
          </a:prstGeom>
          <a:solidFill>
            <a:srgbClr val="142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534095" y="4572000"/>
            <a:ext cx="3657600" cy="2286000"/>
          </a:xfrm>
          <a:prstGeom prst="ellipse">
            <a:avLst/>
          </a:prstGeom>
          <a:solidFill>
            <a:srgbClr val="0C31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31520" y="914400"/>
            <a:ext cx="914400" cy="91440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>
                <a:solidFill>
                  <a:srgbClr val="0B0C0F"/>
                </a:solidFill>
                <a:latin typeface="Arial"/>
              </a:rPr>
              <a:t>GG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011680"/>
            <a:ext cx="100584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6000" b="1">
                <a:solidFill>
                  <a:srgbClr val="FFFFFF"/>
                </a:solidFill>
                <a:latin typeface="Arial"/>
              </a:rPr>
              <a:t>GoGlobal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063240"/>
            <a:ext cx="100584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9AA1AE"/>
                </a:solidFill>
                <a:latin typeface="Arial"/>
              </a:rPr>
              <a:t>Платформа агентства образования за рубежом:</a:t>
            </a:r>
          </a:p>
          <a:p>
            <a:pPr algn="l"/>
            <a:r>
              <a:rPr sz="2000" b="0">
                <a:solidFill>
                  <a:srgbClr val="9AA1AE"/>
                </a:solidFill>
                <a:latin typeface="Arial"/>
              </a:rPr>
              <a:t>сайт + админ-панель + CRM в одной системе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4937760"/>
            <a:ext cx="31750" cy="68580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4937760"/>
            <a:ext cx="25603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6E7582"/>
                </a:solidFill>
                <a:latin typeface="Arial"/>
              </a:rPr>
              <a:t>АДРЕС</a:t>
            </a:r>
          </a:p>
          <a:p>
            <a:pPr algn="l"/>
            <a:r>
              <a:rPr sz="1400" b="1">
                <a:solidFill>
                  <a:srgbClr val="E7E9EE"/>
                </a:solidFill>
                <a:latin typeface="Arial"/>
              </a:rPr>
              <a:t>goglobal.kg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520440" y="4937760"/>
            <a:ext cx="31750" cy="68580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57600" y="4937760"/>
            <a:ext cx="25603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6E7582"/>
                </a:solidFill>
                <a:latin typeface="Arial"/>
              </a:rPr>
              <a:t>ДЛЯ КОГО</a:t>
            </a:r>
          </a:p>
          <a:p>
            <a:pPr algn="l"/>
            <a:r>
              <a:rPr sz="1400" b="1">
                <a:solidFill>
                  <a:srgbClr val="E7E9EE"/>
                </a:solidFill>
                <a:latin typeface="Arial"/>
              </a:rPr>
              <a:t>Админ · РОП · Продавцы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309360" y="4937760"/>
            <a:ext cx="31750" cy="68580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46520" y="4937760"/>
            <a:ext cx="25603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6E7582"/>
                </a:solidFill>
                <a:latin typeface="Arial"/>
              </a:rPr>
              <a:t>ВЕРСИЯ</a:t>
            </a:r>
          </a:p>
          <a:p>
            <a:pPr algn="l"/>
            <a:r>
              <a:rPr sz="1400" b="1">
                <a:solidFill>
                  <a:srgbClr val="E7E9EE"/>
                </a:solidFill>
                <a:latin typeface="Arial"/>
              </a:rPr>
              <a:t>4.1 · июнь 2026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098280" y="4937760"/>
            <a:ext cx="31750" cy="68580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235440" y="4937760"/>
            <a:ext cx="25603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6E7582"/>
                </a:solidFill>
                <a:latin typeface="Arial"/>
              </a:rPr>
              <a:t>СЛАЙДОВ</a:t>
            </a:r>
          </a:p>
          <a:p>
            <a:pPr algn="l"/>
            <a:r>
              <a:rPr sz="1400" b="1">
                <a:solidFill>
                  <a:srgbClr val="E7E9EE"/>
                </a:solidFill>
                <a:latin typeface="Arial"/>
              </a:rPr>
              <a:t>36 · ~25 минут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C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080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11535" y="164592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E7582"/>
                </a:solidFill>
                <a:latin typeface="Arial"/>
              </a:rPr>
              <a:t>02 / 36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84048"/>
            <a:ext cx="82296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6366F1"/>
                </a:solidFill>
                <a:latin typeface="Arial"/>
              </a:rPr>
              <a:t>СОДЕРЖАНИЕ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58368"/>
            <a:ext cx="10911535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E7E9EE"/>
                </a:solidFill>
                <a:latin typeface="Arial"/>
              </a:rPr>
              <a:t>О чём эта презентация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54480"/>
            <a:ext cx="42976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7E9EE"/>
                </a:solidFill>
                <a:latin typeface="Arial"/>
              </a:rPr>
              <a:t>I · Платформа в цифрах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0" y="1554480"/>
            <a:ext cx="8229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6E7582"/>
                </a:solidFill>
                <a:latin typeface="Arial"/>
              </a:rPr>
              <a:t>03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029968"/>
            <a:ext cx="42976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7E9EE"/>
                </a:solidFill>
                <a:latin typeface="Arial"/>
              </a:rPr>
              <a:t>II · Три части системы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0" y="2029968"/>
            <a:ext cx="8229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6E7582"/>
                </a:solidFill>
                <a:latin typeface="Arial"/>
              </a:rPr>
              <a:t>04–05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505456"/>
            <a:ext cx="42976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7E9EE"/>
                </a:solidFill>
                <a:latin typeface="Arial"/>
              </a:rPr>
              <a:t>III · Как всё связано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0" y="2505456"/>
            <a:ext cx="8229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6E7582"/>
                </a:solidFill>
                <a:latin typeface="Arial"/>
              </a:rPr>
              <a:t>06–07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2980944"/>
            <a:ext cx="42976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7E9EE"/>
                </a:solidFill>
                <a:latin typeface="Arial"/>
              </a:rPr>
              <a:t>IV · Роли и права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0" y="2980944"/>
            <a:ext cx="8229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6E7582"/>
                </a:solidFill>
                <a:latin typeface="Arial"/>
              </a:rPr>
              <a:t>08–09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3456432"/>
            <a:ext cx="42976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7E9EE"/>
                </a:solidFill>
                <a:latin typeface="Arial"/>
              </a:rPr>
              <a:t>V · Сайт по экранам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0" y="3456432"/>
            <a:ext cx="8229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6E7582"/>
                </a:solidFill>
                <a:latin typeface="Arial"/>
              </a:rPr>
              <a:t>10–13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3931920"/>
            <a:ext cx="42976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7E9EE"/>
                </a:solidFill>
                <a:latin typeface="Arial"/>
              </a:rPr>
              <a:t>VI · CRM продавца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0" y="3931920"/>
            <a:ext cx="8229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6E7582"/>
                </a:solidFill>
                <a:latin typeface="Arial"/>
              </a:rPr>
              <a:t>14–20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9360" y="1554480"/>
            <a:ext cx="42976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7E9EE"/>
                </a:solidFill>
                <a:latin typeface="Arial"/>
              </a:rPr>
              <a:t>VII · Админка и аналитика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98480" y="1554480"/>
            <a:ext cx="8229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6E7582"/>
                </a:solidFill>
                <a:latin typeface="Arial"/>
              </a:rPr>
              <a:t>21–27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0" y="2029968"/>
            <a:ext cx="42976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7E9EE"/>
                </a:solidFill>
                <a:latin typeface="Arial"/>
              </a:rPr>
              <a:t>VIII · Путь клиента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98480" y="2029968"/>
            <a:ext cx="8229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6E7582"/>
                </a:solidFill>
                <a:latin typeface="Arial"/>
              </a:rPr>
              <a:t>28–29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09360" y="2505456"/>
            <a:ext cx="42976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7E9EE"/>
                </a:solidFill>
                <a:latin typeface="Arial"/>
              </a:rPr>
              <a:t>IX · Истории из практики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698480" y="2505456"/>
            <a:ext cx="8229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6E7582"/>
                </a:solidFill>
                <a:latin typeface="Arial"/>
              </a:rPr>
              <a:t>30–32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09360" y="2980944"/>
            <a:ext cx="42976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7E9EE"/>
                </a:solidFill>
                <a:latin typeface="Arial"/>
              </a:rPr>
              <a:t>X · Карта действий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698480" y="2980944"/>
            <a:ext cx="8229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6E7582"/>
                </a:solidFill>
                <a:latin typeface="Arial"/>
              </a:rPr>
              <a:t>33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09360" y="3456432"/>
            <a:ext cx="42976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7E9EE"/>
                </a:solidFill>
                <a:latin typeface="Arial"/>
              </a:rPr>
              <a:t>XI · Чек-листы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698480" y="3456432"/>
            <a:ext cx="8229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6E7582"/>
                </a:solidFill>
                <a:latin typeface="Arial"/>
              </a:rPr>
              <a:t>34–35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09360" y="3931920"/>
            <a:ext cx="42976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7E9EE"/>
                </a:solidFill>
                <a:latin typeface="Arial"/>
              </a:rPr>
              <a:t>Финал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698480" y="3931920"/>
            <a:ext cx="8229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6E7582"/>
                </a:solidFill>
                <a:latin typeface="Arial"/>
              </a:rPr>
              <a:t>36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40080" y="4754880"/>
            <a:ext cx="10881360" cy="1188720"/>
          </a:xfrm>
          <a:prstGeom prst="roundRect">
            <a:avLst>
              <a:gd name="adj" fmla="val 6000"/>
            </a:avLst>
          </a:prstGeom>
          <a:solidFill>
            <a:srgbClr val="121419"/>
          </a:solidFill>
          <a:ln w="9525">
            <a:solidFill>
              <a:srgbClr val="2326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68680" y="4937760"/>
            <a:ext cx="104241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6366F1"/>
                </a:solidFill>
                <a:latin typeface="Arial"/>
              </a:rPr>
              <a:t>КАК ЧИТАТЬ</a:t>
            </a:r>
          </a:p>
          <a:p>
            <a:pPr algn="l"/>
            <a:r>
              <a:rPr sz="1200" b="0">
                <a:solidFill>
                  <a:srgbClr val="9AA1AE"/>
                </a:solidFill>
                <a:latin typeface="Arial"/>
              </a:rPr>
              <a:t>Продавцам достаточно разделов V–VI и IX. РОПу — VII–XI. Админу — всё. Каждый слайд самодостаточен.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6E7582"/>
                </a:solidFill>
                <a:latin typeface="Arial"/>
              </a:rPr>
              <a:t>GoGlobal · база знаний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979615" y="6473952"/>
            <a:ext cx="4572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>
                <a:solidFill>
                  <a:srgbClr val="6E7582"/>
                </a:solidFill>
                <a:latin typeface="Arial"/>
              </a:rPr>
              <a:t>Содержание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C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080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11535" y="164592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E7582"/>
                </a:solidFill>
                <a:latin typeface="Arial"/>
              </a:rPr>
              <a:t>03 / 36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84048"/>
            <a:ext cx="82296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6366F1"/>
                </a:solidFill>
                <a:latin typeface="Arial"/>
              </a:rPr>
              <a:t>I · ПЛАТФОРМА В ЦИФРАХ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58368"/>
            <a:ext cx="10911535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E7E9EE"/>
                </a:solidFill>
                <a:latin typeface="Arial"/>
              </a:rPr>
              <a:t>Что построено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417320"/>
            <a:ext cx="2606040" cy="914400"/>
          </a:xfrm>
          <a:prstGeom prst="roundRect">
            <a:avLst>
              <a:gd name="adj" fmla="val 6000"/>
            </a:avLst>
          </a:prstGeom>
          <a:solidFill>
            <a:srgbClr val="121419"/>
          </a:solidFill>
          <a:ln w="9525">
            <a:solidFill>
              <a:srgbClr val="2326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508760"/>
            <a:ext cx="23317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1">
                <a:solidFill>
                  <a:srgbClr val="6E7582"/>
                </a:solidFill>
                <a:latin typeface="Arial"/>
              </a:rPr>
              <a:t>ЧАСТЕЙ СИСТЕМЫ</a:t>
            </a:r>
          </a:p>
          <a:p>
            <a:pPr algn="l"/>
            <a:r>
              <a:rPr sz="2200" b="1">
                <a:solidFill>
                  <a:srgbClr val="E7E9EE"/>
                </a:solidFill>
                <a:latin typeface="Arial"/>
              </a:rPr>
              <a:t>3</a:t>
            </a:r>
          </a:p>
          <a:p>
            <a:pPr algn="l"/>
            <a:r>
              <a:rPr sz="900" b="0">
                <a:solidFill>
                  <a:srgbClr val="6E7582"/>
                </a:solidFill>
                <a:latin typeface="Arial"/>
              </a:rPr>
              <a:t>сайт · админка · CRM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29000" y="1417320"/>
            <a:ext cx="2606040" cy="914400"/>
          </a:xfrm>
          <a:prstGeom prst="roundRect">
            <a:avLst>
              <a:gd name="adj" fmla="val 6000"/>
            </a:avLst>
          </a:prstGeom>
          <a:solidFill>
            <a:srgbClr val="121419"/>
          </a:solidFill>
          <a:ln w="9525">
            <a:solidFill>
              <a:srgbClr val="2326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566160" y="1508760"/>
            <a:ext cx="23317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1">
                <a:solidFill>
                  <a:srgbClr val="6E7582"/>
                </a:solidFill>
                <a:latin typeface="Arial"/>
              </a:rPr>
              <a:t>РОЛЕЙ</a:t>
            </a:r>
          </a:p>
          <a:p>
            <a:pPr algn="l"/>
            <a:r>
              <a:rPr sz="2200" b="1">
                <a:solidFill>
                  <a:srgbClr val="E7E9EE"/>
                </a:solidFill>
                <a:latin typeface="Arial"/>
              </a:rPr>
              <a:t>4</a:t>
            </a:r>
          </a:p>
          <a:p>
            <a:pPr algn="l"/>
            <a:r>
              <a:rPr sz="900" b="0">
                <a:solidFill>
                  <a:srgbClr val="6E7582"/>
                </a:solidFill>
                <a:latin typeface="Arial"/>
              </a:rPr>
              <a:t>админ · РОП · менеджер · партнёр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1417320"/>
            <a:ext cx="2606040" cy="914400"/>
          </a:xfrm>
          <a:prstGeom prst="roundRect">
            <a:avLst>
              <a:gd name="adj" fmla="val 6000"/>
            </a:avLst>
          </a:prstGeom>
          <a:solidFill>
            <a:srgbClr val="121419"/>
          </a:solidFill>
          <a:ln w="9525">
            <a:solidFill>
              <a:srgbClr val="2326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55080" y="1508760"/>
            <a:ext cx="23317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1">
                <a:solidFill>
                  <a:srgbClr val="6E7582"/>
                </a:solidFill>
                <a:latin typeface="Arial"/>
              </a:rPr>
              <a:t>РАЗДЕЛОВ АДМИНКИ</a:t>
            </a:r>
          </a:p>
          <a:p>
            <a:pPr algn="l"/>
            <a:r>
              <a:rPr sz="2200" b="1">
                <a:solidFill>
                  <a:srgbClr val="E7E9EE"/>
                </a:solidFill>
                <a:latin typeface="Arial"/>
              </a:rPr>
              <a:t>30+</a:t>
            </a:r>
          </a:p>
          <a:p>
            <a:pPr algn="l"/>
            <a:r>
              <a:rPr sz="900" b="0">
                <a:solidFill>
                  <a:srgbClr val="6E7582"/>
                </a:solidFill>
                <a:latin typeface="Arial"/>
              </a:rPr>
              <a:t>аналитика · операции · контент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006840" y="1417320"/>
            <a:ext cx="2606040" cy="914400"/>
          </a:xfrm>
          <a:prstGeom prst="roundRect">
            <a:avLst>
              <a:gd name="adj" fmla="val 6000"/>
            </a:avLst>
          </a:prstGeom>
          <a:solidFill>
            <a:srgbClr val="121419"/>
          </a:solidFill>
          <a:ln w="9525">
            <a:solidFill>
              <a:srgbClr val="2326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0" y="1508760"/>
            <a:ext cx="23317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1">
                <a:solidFill>
                  <a:srgbClr val="6E7582"/>
                </a:solidFill>
                <a:latin typeface="Arial"/>
              </a:rPr>
              <a:t>ВИДЖЕТОВ АНАЛИТИКИ</a:t>
            </a:r>
          </a:p>
          <a:p>
            <a:pPr algn="l"/>
            <a:r>
              <a:rPr sz="2200" b="1">
                <a:solidFill>
                  <a:srgbClr val="E7E9EE"/>
                </a:solidFill>
                <a:latin typeface="Arial"/>
              </a:rPr>
              <a:t>11</a:t>
            </a:r>
          </a:p>
          <a:p>
            <a:pPr algn="l"/>
            <a:r>
              <a:rPr sz="900" b="0">
                <a:solidFill>
                  <a:srgbClr val="6E7582"/>
                </a:solidFill>
                <a:latin typeface="Arial"/>
              </a:rPr>
              <a:t>без единого Excel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2468880"/>
            <a:ext cx="2606040" cy="914400"/>
          </a:xfrm>
          <a:prstGeom prst="roundRect">
            <a:avLst>
              <a:gd name="adj" fmla="val 6000"/>
            </a:avLst>
          </a:prstGeom>
          <a:solidFill>
            <a:srgbClr val="121419"/>
          </a:solidFill>
          <a:ln w="9525">
            <a:solidFill>
              <a:srgbClr val="2326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7240" y="2560320"/>
            <a:ext cx="23317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1">
                <a:solidFill>
                  <a:srgbClr val="6E7582"/>
                </a:solidFill>
                <a:latin typeface="Arial"/>
              </a:rPr>
              <a:t>ВИДОВ СПИСКА ЛИДОВ</a:t>
            </a:r>
          </a:p>
          <a:p>
            <a:pPr algn="l"/>
            <a:r>
              <a:rPr sz="2200" b="1">
                <a:solidFill>
                  <a:srgbClr val="E7E9EE"/>
                </a:solidFill>
                <a:latin typeface="Arial"/>
              </a:rPr>
              <a:t>5</a:t>
            </a:r>
          </a:p>
          <a:p>
            <a:pPr algn="l"/>
            <a:r>
              <a:rPr sz="900" b="0">
                <a:solidFill>
                  <a:srgbClr val="6E7582"/>
                </a:solidFill>
                <a:latin typeface="Arial"/>
              </a:rPr>
              <a:t>карточки · таблица · 2 канбана · календарь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429000" y="2468880"/>
            <a:ext cx="2606040" cy="914400"/>
          </a:xfrm>
          <a:prstGeom prst="roundRect">
            <a:avLst>
              <a:gd name="adj" fmla="val 6000"/>
            </a:avLst>
          </a:prstGeom>
          <a:solidFill>
            <a:srgbClr val="121419"/>
          </a:solidFill>
          <a:ln w="9525">
            <a:solidFill>
              <a:srgbClr val="2326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566160" y="2560320"/>
            <a:ext cx="23317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1">
                <a:solidFill>
                  <a:srgbClr val="6E7582"/>
                </a:solidFill>
                <a:latin typeface="Arial"/>
              </a:rPr>
              <a:t>ВКЛАДОК В КАРТОЧКЕ</a:t>
            </a:r>
          </a:p>
          <a:p>
            <a:pPr algn="l"/>
            <a:r>
              <a:rPr sz="2200" b="1">
                <a:solidFill>
                  <a:srgbClr val="E7E9EE"/>
                </a:solidFill>
                <a:latin typeface="Arial"/>
              </a:rPr>
              <a:t>7</a:t>
            </a:r>
          </a:p>
          <a:p>
            <a:pPr algn="l"/>
            <a:r>
              <a:rPr sz="900" b="0">
                <a:solidFill>
                  <a:srgbClr val="6E7582"/>
                </a:solidFill>
                <a:latin typeface="Arial"/>
              </a:rPr>
              <a:t>обзор · сделка · задачи · файлы · чат · аудит · связи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17920" y="2468880"/>
            <a:ext cx="2606040" cy="914400"/>
          </a:xfrm>
          <a:prstGeom prst="roundRect">
            <a:avLst>
              <a:gd name="adj" fmla="val 6000"/>
            </a:avLst>
          </a:prstGeom>
          <a:solidFill>
            <a:srgbClr val="121419"/>
          </a:solidFill>
          <a:ln w="9525">
            <a:solidFill>
              <a:srgbClr val="2326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55080" y="2560320"/>
            <a:ext cx="23317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1">
                <a:solidFill>
                  <a:srgbClr val="6E7582"/>
                </a:solidFill>
                <a:latin typeface="Arial"/>
              </a:rPr>
              <a:t>СТАТУСОВ ВОРОНКИ</a:t>
            </a:r>
          </a:p>
          <a:p>
            <a:pPr algn="l"/>
            <a:r>
              <a:rPr sz="2200" b="1">
                <a:solidFill>
                  <a:srgbClr val="E7E9EE"/>
                </a:solidFill>
                <a:latin typeface="Arial"/>
              </a:rPr>
              <a:t>7+9</a:t>
            </a:r>
          </a:p>
          <a:p>
            <a:pPr algn="l"/>
            <a:r>
              <a:rPr sz="900" b="0">
                <a:solidFill>
                  <a:srgbClr val="6E7582"/>
                </a:solidFill>
                <a:latin typeface="Arial"/>
              </a:rPr>
              <a:t>обработка + этапы клиента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006840" y="2468880"/>
            <a:ext cx="2606040" cy="914400"/>
          </a:xfrm>
          <a:prstGeom prst="roundRect">
            <a:avLst>
              <a:gd name="adj" fmla="val 6000"/>
            </a:avLst>
          </a:prstGeom>
          <a:solidFill>
            <a:srgbClr val="121419"/>
          </a:solidFill>
          <a:ln w="9525">
            <a:solidFill>
              <a:srgbClr val="2326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44000" y="2560320"/>
            <a:ext cx="23317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1">
                <a:solidFill>
                  <a:srgbClr val="6E7582"/>
                </a:solidFill>
                <a:latin typeface="Arial"/>
              </a:rPr>
              <a:t>АВТО-ЗАЩИТ</a:t>
            </a:r>
          </a:p>
          <a:p>
            <a:pPr algn="l"/>
            <a:r>
              <a:rPr sz="2200" b="1">
                <a:solidFill>
                  <a:srgbClr val="E7E9EE"/>
                </a:solidFill>
                <a:latin typeface="Arial"/>
              </a:rPr>
              <a:t>6</a:t>
            </a:r>
          </a:p>
          <a:p>
            <a:pPr algn="l"/>
            <a:r>
              <a:rPr sz="900" b="0">
                <a:solidFill>
                  <a:srgbClr val="6E7582"/>
                </a:solidFill>
                <a:latin typeface="Arial"/>
              </a:rPr>
              <a:t>SLA · дубли · сценарии · отчёты · аудит · бэкап</a:t>
            </a:r>
          </a:p>
        </p:txBody>
      </p:sp>
      <p:graphicFrame>
        <p:nvGraphicFramePr>
          <p:cNvPr id="23" name="Table 22"/>
          <p:cNvGraphicFramePr>
            <a:graphicFrameLocks noGrp="1"/>
          </p:cNvGraphicFramePr>
          <p:nvPr/>
        </p:nvGraphicFramePr>
        <p:xfrm>
          <a:off x="640080" y="3703320"/>
          <a:ext cx="10881359" cy="167640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4946072"/>
                <a:gridCol w="5935287"/>
              </a:tblGrid>
              <a:tr h="279400">
                <a:tc>
                  <a:txBody>
                    <a:bodyPr wrap="square" lIns="76200" rIns="76200" tIns="38100" bIns="38100"/>
                    <a:lstStyle/>
                    <a:p>
                      <a:pPr algn="l"/>
                      <a:r>
                        <a:rPr sz="1000" b="1">
                          <a:solidFill>
                            <a:srgbClr val="9AA1AE"/>
                          </a:solidFill>
                          <a:latin typeface="Arial"/>
                        </a:rPr>
                        <a:t>Было (без платформы)</a:t>
                      </a:r>
                    </a:p>
                  </a:txBody>
                  <a:tcPr>
                    <a:solidFill>
                      <a:srgbClr val="121419"/>
                    </a:solidFill>
                  </a:tcPr>
                </a:tc>
                <a:tc>
                  <a:txBody>
                    <a:bodyPr wrap="square" lIns="76200" rIns="76200" tIns="38100" bIns="38100"/>
                    <a:lstStyle/>
                    <a:p>
                      <a:pPr algn="l"/>
                      <a:r>
                        <a:rPr sz="1000" b="1">
                          <a:solidFill>
                            <a:srgbClr val="9AA1AE"/>
                          </a:solidFill>
                          <a:latin typeface="Arial"/>
                        </a:rPr>
                        <a:t>Стало (с платформой)</a:t>
                      </a:r>
                    </a:p>
                  </a:txBody>
                  <a:tcPr>
                    <a:solidFill>
                      <a:srgbClr val="121419"/>
                    </a:solidFill>
                  </a:tcPr>
                </a:tc>
              </a:tr>
              <a:tr h="279400">
                <a:tc>
                  <a:txBody>
                    <a:bodyPr wrap="square" lIns="76200" rIns="76200" tIns="38100" bIns="38100"/>
                    <a:lstStyle/>
                    <a:p>
                      <a:pPr algn="l"/>
                      <a:r>
                        <a:rPr sz="1100" b="0">
                          <a:solidFill>
                            <a:srgbClr val="E7E9EE"/>
                          </a:solidFill>
                          <a:latin typeface="Arial"/>
                        </a:rPr>
                        <a:t>CRM-аренда — платёж каждый месяц</a:t>
                      </a:r>
                    </a:p>
                  </a:txBody>
                  <a:tcPr>
                    <a:solidFill>
                      <a:srgbClr val="0B0C0F"/>
                    </a:solidFill>
                  </a:tcPr>
                </a:tc>
                <a:tc>
                  <a:txBody>
                    <a:bodyPr wrap="square" lIns="76200" rIns="76200" tIns="38100" bIns="38100"/>
                    <a:lstStyle/>
                    <a:p>
                      <a:pPr algn="l"/>
                      <a:r>
                        <a:rPr sz="1100" b="0">
                          <a:solidFill>
                            <a:srgbClr val="86EFAC"/>
                          </a:solidFill>
                          <a:latin typeface="Arial"/>
                        </a:rPr>
                        <a:t>Своя CRM — 0 платежей за лицензии</a:t>
                      </a:r>
                    </a:p>
                  </a:txBody>
                  <a:tcPr>
                    <a:solidFill>
                      <a:srgbClr val="0B0C0F"/>
                    </a:solidFill>
                  </a:tcPr>
                </a:tc>
              </a:tr>
              <a:tr h="279400">
                <a:tc>
                  <a:txBody>
                    <a:bodyPr wrap="square" lIns="76200" rIns="76200" tIns="38100" bIns="38100"/>
                    <a:lstStyle/>
                    <a:p>
                      <a:pPr algn="l"/>
                      <a:r>
                        <a:rPr sz="1100" b="0">
                          <a:solidFill>
                            <a:srgbClr val="E7E9EE"/>
                          </a:solidFill>
                          <a:latin typeface="Arial"/>
                        </a:rPr>
                        <a:t>Заявки на почту, теряются</a:t>
                      </a:r>
                    </a:p>
                  </a:txBody>
                  <a:tcPr>
                    <a:solidFill>
                      <a:srgbClr val="0D1628"/>
                    </a:solidFill>
                  </a:tcPr>
                </a:tc>
                <a:tc>
                  <a:txBody>
                    <a:bodyPr wrap="square" lIns="76200" rIns="76200" tIns="38100" bIns="38100"/>
                    <a:lstStyle/>
                    <a:p>
                      <a:pPr algn="l"/>
                      <a:r>
                        <a:rPr sz="1100" b="0">
                          <a:solidFill>
                            <a:srgbClr val="86EFAC"/>
                          </a:solidFill>
                          <a:latin typeface="Arial"/>
                        </a:rPr>
                        <a:t>Заявка у менеджера за секунды + push</a:t>
                      </a:r>
                    </a:p>
                  </a:txBody>
                  <a:tcPr>
                    <a:solidFill>
                      <a:srgbClr val="0D1628"/>
                    </a:solidFill>
                  </a:tcPr>
                </a:tc>
              </a:tr>
              <a:tr h="279400">
                <a:tc>
                  <a:txBody>
                    <a:bodyPr wrap="square" lIns="76200" rIns="76200" tIns="38100" bIns="38100"/>
                    <a:lstStyle/>
                    <a:p>
                      <a:pPr algn="l"/>
                      <a:r>
                        <a:rPr sz="1100" b="0">
                          <a:solidFill>
                            <a:srgbClr val="E7E9EE"/>
                          </a:solidFill>
                          <a:latin typeface="Arial"/>
                        </a:rPr>
                        <a:t>Отчёты руками в Excel по пятницам</a:t>
                      </a:r>
                    </a:p>
                  </a:txBody>
                  <a:tcPr>
                    <a:solidFill>
                      <a:srgbClr val="0B0C0F"/>
                    </a:solidFill>
                  </a:tcPr>
                </a:tc>
                <a:tc>
                  <a:txBody>
                    <a:bodyPr wrap="square" lIns="76200" rIns="76200" tIns="38100" bIns="38100"/>
                    <a:lstStyle/>
                    <a:p>
                      <a:pPr algn="l"/>
                      <a:r>
                        <a:rPr sz="1100" b="0">
                          <a:solidFill>
                            <a:srgbClr val="86EFAC"/>
                          </a:solidFill>
                          <a:latin typeface="Arial"/>
                        </a:rPr>
                        <a:t>Цифры считаются сами, в реальном времени</a:t>
                      </a:r>
                    </a:p>
                  </a:txBody>
                  <a:tcPr>
                    <a:solidFill>
                      <a:srgbClr val="0B0C0F"/>
                    </a:solidFill>
                  </a:tcPr>
                </a:tc>
              </a:tr>
              <a:tr h="279400">
                <a:tc>
                  <a:txBody>
                    <a:bodyPr wrap="square" lIns="76200" rIns="76200" tIns="38100" bIns="38100"/>
                    <a:lstStyle/>
                    <a:p>
                      <a:pPr algn="l"/>
                      <a:r>
                        <a:rPr sz="1100" b="0">
                          <a:solidFill>
                            <a:srgbClr val="E7E9EE"/>
                          </a:solidFill>
                          <a:latin typeface="Arial"/>
                        </a:rPr>
                        <a:t>«Кто вёл клиента?» — никто не помнит</a:t>
                      </a:r>
                    </a:p>
                  </a:txBody>
                  <a:tcPr>
                    <a:solidFill>
                      <a:srgbClr val="0D1628"/>
                    </a:solidFill>
                  </a:tcPr>
                </a:tc>
                <a:tc>
                  <a:txBody>
                    <a:bodyPr wrap="square" lIns="76200" rIns="76200" tIns="38100" bIns="38100"/>
                    <a:lstStyle/>
                    <a:p>
                      <a:pPr algn="l"/>
                      <a:r>
                        <a:rPr sz="1100" b="0">
                          <a:solidFill>
                            <a:srgbClr val="86EFAC"/>
                          </a:solidFill>
                          <a:latin typeface="Arial"/>
                        </a:rPr>
                        <a:t>Полная история: статусы, звонки, файлы, аудит</a:t>
                      </a:r>
                    </a:p>
                  </a:txBody>
                  <a:tcPr>
                    <a:solidFill>
                      <a:srgbClr val="0D1628"/>
                    </a:solidFill>
                  </a:tcPr>
                </a:tc>
              </a:tr>
              <a:tr h="279400">
                <a:tc>
                  <a:txBody>
                    <a:bodyPr wrap="square" lIns="76200" rIns="76200" tIns="38100" bIns="38100"/>
                    <a:lstStyle/>
                    <a:p>
                      <a:pPr algn="l"/>
                      <a:r>
                        <a:rPr sz="1100" b="0">
                          <a:solidFill>
                            <a:srgbClr val="E7E9EE"/>
                          </a:solidFill>
                          <a:latin typeface="Arial"/>
                        </a:rPr>
                        <a:t>Контент сайта меняет программист</a:t>
                      </a:r>
                    </a:p>
                  </a:txBody>
                  <a:tcPr>
                    <a:solidFill>
                      <a:srgbClr val="0B0C0F"/>
                    </a:solidFill>
                  </a:tcPr>
                </a:tc>
                <a:tc>
                  <a:txBody>
                    <a:bodyPr wrap="square" lIns="76200" rIns="76200" tIns="38100" bIns="38100"/>
                    <a:lstStyle/>
                    <a:p>
                      <a:pPr algn="l"/>
                      <a:r>
                        <a:rPr sz="1100" b="0">
                          <a:solidFill>
                            <a:srgbClr val="86EFAC"/>
                          </a:solidFill>
                          <a:latin typeface="Arial"/>
                        </a:rPr>
                        <a:t>Меняет админ сам за 5–10 минут</a:t>
                      </a:r>
                    </a:p>
                  </a:txBody>
                  <a:tcPr>
                    <a:solidFill>
                      <a:srgbClr val="0B0C0F"/>
                    </a:solidFill>
                  </a:tcPr>
                </a:tc>
              </a:tr>
            </a:tbl>
          </a:graphicData>
        </a:graphic>
      </p:graphicFrame>
      <p:sp>
        <p:nvSpPr>
          <p:cNvPr id="24" name="TextBox 23"/>
          <p:cNvSpPr txBox="1"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6E7582"/>
                </a:solidFill>
                <a:latin typeface="Arial"/>
              </a:rPr>
              <a:t>GoGlobal · база знаний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979615" y="6473952"/>
            <a:ext cx="4572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>
                <a:solidFill>
                  <a:srgbClr val="6E7582"/>
                </a:solidFill>
                <a:latin typeface="Arial"/>
              </a:rPr>
              <a:t>I · Платформа в цифрах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C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080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11535" y="164592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E7582"/>
                </a:solidFill>
                <a:latin typeface="Arial"/>
              </a:rPr>
              <a:t>04 / 36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84048"/>
            <a:ext cx="82296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6366F1"/>
                </a:solidFill>
                <a:latin typeface="Arial"/>
              </a:rPr>
              <a:t>II · ТРИ ЧАСТИ СИСТЕМЫ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58368"/>
            <a:ext cx="10911535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E7E9EE"/>
                </a:solidFill>
                <a:latin typeface="Arial"/>
              </a:rPr>
              <a:t>Один движок — три «двери»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463040"/>
            <a:ext cx="3474720" cy="2057400"/>
          </a:xfrm>
          <a:prstGeom prst="roundRect">
            <a:avLst>
              <a:gd name="adj" fmla="val 6000"/>
            </a:avLst>
          </a:prstGeom>
          <a:solidFill>
            <a:srgbClr val="121419"/>
          </a:solidFill>
          <a:ln w="9525">
            <a:solidFill>
              <a:srgbClr val="6366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600200"/>
            <a:ext cx="310896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1">
                <a:solidFill>
                  <a:srgbClr val="6366F1"/>
                </a:solidFill>
                <a:latin typeface="Arial"/>
              </a:rPr>
              <a:t>ДЛЯ КЛИЕНТОВ</a:t>
            </a:r>
          </a:p>
          <a:p>
            <a:pPr algn="l"/>
            <a:r>
              <a:rPr sz="1800" b="1">
                <a:solidFill>
                  <a:srgbClr val="E7E9EE"/>
                </a:solidFill>
                <a:latin typeface="Arial"/>
              </a:rPr>
              <a:t>Сайт</a:t>
            </a:r>
          </a:p>
          <a:p>
            <a:pPr algn="l"/>
            <a:r>
              <a:rPr sz="1100" b="0">
                <a:solidFill>
                  <a:srgbClr val="6E7582"/>
                </a:solidFill>
                <a:latin typeface="Arial"/>
              </a:rPr>
              <a:t>goglobal.kg</a:t>
            </a:r>
          </a:p>
          <a:p>
            <a:pPr algn="l"/>
            <a:r>
              <a:rPr sz="1100" b="0">
                <a:solidFill>
                  <a:srgbClr val="9AA1AE"/>
                </a:solidFill>
                <a:latin typeface="Arial"/>
              </a:rPr>
              <a:t>Маркетинговая витрина: направления, вузы, отзывы, калькулятор, форма заявки. Открыт всем.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97680" y="1463040"/>
            <a:ext cx="3474720" cy="2057400"/>
          </a:xfrm>
          <a:prstGeom prst="roundRect">
            <a:avLst>
              <a:gd name="adj" fmla="val 6000"/>
            </a:avLst>
          </a:prstGeom>
          <a:solidFill>
            <a:srgbClr val="121419"/>
          </a:solidFill>
          <a:ln w="9525">
            <a:solidFill>
              <a:srgbClr val="6366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480560" y="1600200"/>
            <a:ext cx="310896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1">
                <a:solidFill>
                  <a:srgbClr val="6366F1"/>
                </a:solidFill>
                <a:latin typeface="Arial"/>
              </a:rPr>
              <a:t>ДЛЯ АДМИНА И РОПА</a:t>
            </a:r>
          </a:p>
          <a:p>
            <a:pPr algn="l"/>
            <a:r>
              <a:rPr sz="1800" b="1">
                <a:solidFill>
                  <a:srgbClr val="E7E9EE"/>
                </a:solidFill>
                <a:latin typeface="Arial"/>
              </a:rPr>
              <a:t>Админ-панель</a:t>
            </a:r>
          </a:p>
          <a:p>
            <a:pPr algn="l"/>
            <a:r>
              <a:rPr sz="1100" b="0">
                <a:solidFill>
                  <a:srgbClr val="6E7582"/>
                </a:solidFill>
                <a:latin typeface="Arial"/>
              </a:rPr>
              <a:t>goglobal.kg/admin</a:t>
            </a:r>
          </a:p>
          <a:p>
            <a:pPr algn="l"/>
            <a:r>
              <a:rPr sz="1100" b="0">
                <a:solidFill>
                  <a:srgbClr val="9AA1AE"/>
                </a:solidFill>
                <a:latin typeface="Arial"/>
              </a:rPr>
              <a:t>Сотрудники, воронка, шаблоны, авто-правила, контент сайта. Вся аналитика — 11 виджетов.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955280" y="1463040"/>
            <a:ext cx="3474720" cy="2057400"/>
          </a:xfrm>
          <a:prstGeom prst="roundRect">
            <a:avLst>
              <a:gd name="adj" fmla="val 6000"/>
            </a:avLst>
          </a:prstGeom>
          <a:solidFill>
            <a:srgbClr val="121419"/>
          </a:solidFill>
          <a:ln w="9525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138160" y="1600200"/>
            <a:ext cx="310896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1">
                <a:solidFill>
                  <a:srgbClr val="10B981"/>
                </a:solidFill>
                <a:latin typeface="Arial"/>
              </a:rPr>
              <a:t>ДЛЯ ПРОДАВЦОВ</a:t>
            </a:r>
          </a:p>
          <a:p>
            <a:pPr algn="l"/>
            <a:r>
              <a:rPr sz="1800" b="1">
                <a:solidFill>
                  <a:srgbClr val="E7E9EE"/>
                </a:solidFill>
                <a:latin typeface="Arial"/>
              </a:rPr>
              <a:t>CRM</a:t>
            </a:r>
          </a:p>
          <a:p>
            <a:pPr algn="l"/>
            <a:r>
              <a:rPr sz="1100" b="0">
                <a:solidFill>
                  <a:srgbClr val="6E7582"/>
                </a:solidFill>
                <a:latin typeface="Arial"/>
              </a:rPr>
              <a:t>goglobal.kg/lidy</a:t>
            </a:r>
          </a:p>
          <a:p>
            <a:pPr algn="l"/>
            <a:r>
              <a:rPr sz="1100" b="0">
                <a:solidFill>
                  <a:srgbClr val="9AA1AE"/>
                </a:solidFill>
                <a:latin typeface="Arial"/>
              </a:rPr>
              <a:t>Рабочее место менеджера: лиды, карточки, задачи, документы, календарь, шаблоны WhatsApp.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640080" y="3794760"/>
          <a:ext cx="10881360" cy="152400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2448306"/>
                <a:gridCol w="2176272"/>
                <a:gridCol w="2992374"/>
                <a:gridCol w="3264408"/>
              </a:tblGrid>
              <a:tr h="304800">
                <a:tc>
                  <a:txBody>
                    <a:bodyPr wrap="square" lIns="76200" rIns="76200" tIns="38100" bIns="38100"/>
                    <a:lstStyle/>
                    <a:p>
                      <a:pPr algn="l"/>
                      <a:r>
                        <a:rPr sz="1000" b="1">
                          <a:solidFill>
                            <a:srgbClr val="9AA1AE"/>
                          </a:solidFill>
                          <a:latin typeface="Arial"/>
                        </a:rPr>
                        <a:t>Параметр</a:t>
                      </a:r>
                    </a:p>
                  </a:txBody>
                  <a:tcPr>
                    <a:solidFill>
                      <a:srgbClr val="121419"/>
                    </a:solidFill>
                  </a:tcPr>
                </a:tc>
                <a:tc>
                  <a:txBody>
                    <a:bodyPr wrap="square" lIns="76200" rIns="76200" tIns="38100" bIns="38100"/>
                    <a:lstStyle/>
                    <a:p>
                      <a:pPr algn="l"/>
                      <a:r>
                        <a:rPr sz="1000" b="1">
                          <a:solidFill>
                            <a:srgbClr val="9AA1AE"/>
                          </a:solidFill>
                          <a:latin typeface="Arial"/>
                        </a:rPr>
                        <a:t>Сайт</a:t>
                      </a:r>
                    </a:p>
                  </a:txBody>
                  <a:tcPr>
                    <a:solidFill>
                      <a:srgbClr val="121419"/>
                    </a:solidFill>
                  </a:tcPr>
                </a:tc>
                <a:tc>
                  <a:txBody>
                    <a:bodyPr wrap="square" lIns="76200" rIns="76200" tIns="38100" bIns="38100"/>
                    <a:lstStyle/>
                    <a:p>
                      <a:pPr algn="l"/>
                      <a:r>
                        <a:rPr sz="1000" b="1">
                          <a:solidFill>
                            <a:srgbClr val="9AA1AE"/>
                          </a:solidFill>
                          <a:latin typeface="Arial"/>
                        </a:rPr>
                        <a:t>Админка</a:t>
                      </a:r>
                    </a:p>
                  </a:txBody>
                  <a:tcPr>
                    <a:solidFill>
                      <a:srgbClr val="121419"/>
                    </a:solidFill>
                  </a:tcPr>
                </a:tc>
                <a:tc>
                  <a:txBody>
                    <a:bodyPr wrap="square" lIns="76200" rIns="76200" tIns="38100" bIns="38100"/>
                    <a:lstStyle/>
                    <a:p>
                      <a:pPr algn="l"/>
                      <a:r>
                        <a:rPr sz="1000" b="1">
                          <a:solidFill>
                            <a:srgbClr val="9AA1AE"/>
                          </a:solidFill>
                          <a:latin typeface="Arial"/>
                        </a:rPr>
                        <a:t>CRM</a:t>
                      </a:r>
                    </a:p>
                  </a:txBody>
                  <a:tcPr>
                    <a:solidFill>
                      <a:srgbClr val="121419"/>
                    </a:solidFill>
                  </a:tcPr>
                </a:tc>
              </a:tr>
              <a:tr h="304800">
                <a:tc>
                  <a:txBody>
                    <a:bodyPr wrap="square" lIns="76200" rIns="76200" tIns="38100" bIns="38100"/>
                    <a:lstStyle/>
                    <a:p>
                      <a:pPr algn="l"/>
                      <a:r>
                        <a:rPr sz="1100" b="0">
                          <a:solidFill>
                            <a:srgbClr val="E7E9EE"/>
                          </a:solidFill>
                          <a:latin typeface="Arial"/>
                        </a:rPr>
                        <a:t>Нужен пароль</a:t>
                      </a:r>
                    </a:p>
                  </a:txBody>
                  <a:tcPr>
                    <a:solidFill>
                      <a:srgbClr val="0B0C0F"/>
                    </a:solidFill>
                  </a:tcPr>
                </a:tc>
                <a:tc>
                  <a:txBody>
                    <a:bodyPr wrap="square" lIns="76200" rIns="76200" tIns="38100" bIns="38100"/>
                    <a:lstStyle/>
                    <a:p>
                      <a:pPr algn="l"/>
                      <a:r>
                        <a:rPr sz="1100" b="0">
                          <a:solidFill>
                            <a:srgbClr val="E7E9EE"/>
                          </a:solidFill>
                          <a:latin typeface="Arial"/>
                        </a:rPr>
                        <a:t>Нет</a:t>
                      </a:r>
                    </a:p>
                  </a:txBody>
                  <a:tcPr>
                    <a:solidFill>
                      <a:srgbClr val="0B0C0F"/>
                    </a:solidFill>
                  </a:tcPr>
                </a:tc>
                <a:tc>
                  <a:txBody>
                    <a:bodyPr wrap="square" lIns="76200" rIns="76200" tIns="38100" bIns="38100"/>
                    <a:lstStyle/>
                    <a:p>
                      <a:pPr algn="l"/>
                      <a:r>
                        <a:rPr sz="1100" b="0">
                          <a:solidFill>
                            <a:srgbClr val="E7E9EE"/>
                          </a:solidFill>
                          <a:latin typeface="Arial"/>
                        </a:rPr>
                        <a:t>Да (пароль админа)</a:t>
                      </a:r>
                    </a:p>
                  </a:txBody>
                  <a:tcPr>
                    <a:solidFill>
                      <a:srgbClr val="0B0C0F"/>
                    </a:solidFill>
                  </a:tcPr>
                </a:tc>
                <a:tc>
                  <a:txBody>
                    <a:bodyPr wrap="square" lIns="76200" rIns="76200" tIns="38100" bIns="38100"/>
                    <a:lstStyle/>
                    <a:p>
                      <a:pPr algn="l"/>
                      <a:r>
                        <a:rPr sz="1100" b="0">
                          <a:solidFill>
                            <a:srgbClr val="E7E9EE"/>
                          </a:solidFill>
                          <a:latin typeface="Arial"/>
                        </a:rPr>
                        <a:t>Да (личный логин)</a:t>
                      </a:r>
                    </a:p>
                  </a:txBody>
                  <a:tcPr>
                    <a:solidFill>
                      <a:srgbClr val="0B0C0F"/>
                    </a:solidFill>
                  </a:tcPr>
                </a:tc>
              </a:tr>
              <a:tr h="304800">
                <a:tc>
                  <a:txBody>
                    <a:bodyPr wrap="square" lIns="76200" rIns="76200" tIns="38100" bIns="38100"/>
                    <a:lstStyle/>
                    <a:p>
                      <a:pPr algn="l"/>
                      <a:r>
                        <a:rPr sz="1100" b="0">
                          <a:solidFill>
                            <a:srgbClr val="E7E9EE"/>
                          </a:solidFill>
                          <a:latin typeface="Arial"/>
                        </a:rPr>
                        <a:t>Кто пользуется</a:t>
                      </a:r>
                    </a:p>
                  </a:txBody>
                  <a:tcPr>
                    <a:solidFill>
                      <a:srgbClr val="0D1628"/>
                    </a:solidFill>
                  </a:tcPr>
                </a:tc>
                <a:tc>
                  <a:txBody>
                    <a:bodyPr wrap="square" lIns="76200" rIns="76200" tIns="38100" bIns="38100"/>
                    <a:lstStyle/>
                    <a:p>
                      <a:pPr algn="l"/>
                      <a:r>
                        <a:rPr sz="1100" b="0">
                          <a:solidFill>
                            <a:srgbClr val="E7E9EE"/>
                          </a:solidFill>
                          <a:latin typeface="Arial"/>
                        </a:rPr>
                        <a:t>Клиенты</a:t>
                      </a:r>
                    </a:p>
                  </a:txBody>
                  <a:tcPr>
                    <a:solidFill>
                      <a:srgbClr val="0D1628"/>
                    </a:solidFill>
                  </a:tcPr>
                </a:tc>
                <a:tc>
                  <a:txBody>
                    <a:bodyPr wrap="square" lIns="76200" rIns="76200" tIns="38100" bIns="38100"/>
                    <a:lstStyle/>
                    <a:p>
                      <a:pPr algn="l"/>
                      <a:r>
                        <a:rPr sz="1100" b="0">
                          <a:solidFill>
                            <a:srgbClr val="E7E9EE"/>
                          </a:solidFill>
                          <a:latin typeface="Arial"/>
                        </a:rPr>
                        <a:t>Админ, РОП</a:t>
                      </a:r>
                    </a:p>
                  </a:txBody>
                  <a:tcPr>
                    <a:solidFill>
                      <a:srgbClr val="0D1628"/>
                    </a:solidFill>
                  </a:tcPr>
                </a:tc>
                <a:tc>
                  <a:txBody>
                    <a:bodyPr wrap="square" lIns="76200" rIns="76200" tIns="38100" bIns="38100"/>
                    <a:lstStyle/>
                    <a:p>
                      <a:pPr algn="l"/>
                      <a:r>
                        <a:rPr sz="1100" b="0">
                          <a:solidFill>
                            <a:srgbClr val="E7E9EE"/>
                          </a:solidFill>
                          <a:latin typeface="Arial"/>
                        </a:rPr>
                        <a:t>Менеджеры, РОП, партнёры</a:t>
                      </a:r>
                    </a:p>
                  </a:txBody>
                  <a:tcPr>
                    <a:solidFill>
                      <a:srgbClr val="0D1628"/>
                    </a:solidFill>
                  </a:tcPr>
                </a:tc>
              </a:tr>
              <a:tr h="304800">
                <a:tc>
                  <a:txBody>
                    <a:bodyPr wrap="square" lIns="76200" rIns="76200" tIns="38100" bIns="38100"/>
                    <a:lstStyle/>
                    <a:p>
                      <a:pPr algn="l"/>
                      <a:r>
                        <a:rPr sz="1100" b="0">
                          <a:solidFill>
                            <a:srgbClr val="E7E9EE"/>
                          </a:solidFill>
                          <a:latin typeface="Arial"/>
                        </a:rPr>
                        <a:t>Главное действие</a:t>
                      </a:r>
                    </a:p>
                  </a:txBody>
                  <a:tcPr>
                    <a:solidFill>
                      <a:srgbClr val="0B0C0F"/>
                    </a:solidFill>
                  </a:tcPr>
                </a:tc>
                <a:tc>
                  <a:txBody>
                    <a:bodyPr wrap="square" lIns="76200" rIns="76200" tIns="38100" bIns="38100"/>
                    <a:lstStyle/>
                    <a:p>
                      <a:pPr algn="l"/>
                      <a:r>
                        <a:rPr sz="1100" b="0">
                          <a:solidFill>
                            <a:srgbClr val="E7E9EE"/>
                          </a:solidFill>
                          <a:latin typeface="Arial"/>
                        </a:rPr>
                        <a:t>Оставить заявку</a:t>
                      </a:r>
                    </a:p>
                  </a:txBody>
                  <a:tcPr>
                    <a:solidFill>
                      <a:srgbClr val="0B0C0F"/>
                    </a:solidFill>
                  </a:tcPr>
                </a:tc>
                <a:tc>
                  <a:txBody>
                    <a:bodyPr wrap="square" lIns="76200" rIns="76200" tIns="38100" bIns="38100"/>
                    <a:lstStyle/>
                    <a:p>
                      <a:pPr algn="l"/>
                      <a:r>
                        <a:rPr sz="1100" b="0">
                          <a:solidFill>
                            <a:srgbClr val="E7E9EE"/>
                          </a:solidFill>
                          <a:latin typeface="Arial"/>
                        </a:rPr>
                        <a:t>Настроить и проанализировать</a:t>
                      </a:r>
                    </a:p>
                  </a:txBody>
                  <a:tcPr>
                    <a:solidFill>
                      <a:srgbClr val="0B0C0F"/>
                    </a:solidFill>
                  </a:tcPr>
                </a:tc>
                <a:tc>
                  <a:txBody>
                    <a:bodyPr wrap="square" lIns="76200" rIns="76200" tIns="38100" bIns="38100"/>
                    <a:lstStyle/>
                    <a:p>
                      <a:pPr algn="l"/>
                      <a:r>
                        <a:rPr sz="1100" b="0">
                          <a:solidFill>
                            <a:srgbClr val="E7E9EE"/>
                          </a:solidFill>
                          <a:latin typeface="Arial"/>
                        </a:rPr>
                        <a:t>Превратить лид в контракт</a:t>
                      </a:r>
                    </a:p>
                  </a:txBody>
                  <a:tcPr>
                    <a:solidFill>
                      <a:srgbClr val="0B0C0F"/>
                    </a:solidFill>
                  </a:tcPr>
                </a:tc>
              </a:tr>
              <a:tr h="304800">
                <a:tc>
                  <a:txBody>
                    <a:bodyPr wrap="square" lIns="76200" rIns="76200" tIns="38100" bIns="38100"/>
                    <a:lstStyle/>
                    <a:p>
                      <a:pPr algn="l"/>
                      <a:r>
                        <a:rPr sz="1100" b="0">
                          <a:solidFill>
                            <a:srgbClr val="E7E9EE"/>
                          </a:solidFill>
                          <a:latin typeface="Arial"/>
                        </a:rPr>
                        <a:t>Как часто заходят</a:t>
                      </a:r>
                    </a:p>
                  </a:txBody>
                  <a:tcPr>
                    <a:solidFill>
                      <a:srgbClr val="0D1628"/>
                    </a:solidFill>
                  </a:tcPr>
                </a:tc>
                <a:tc>
                  <a:txBody>
                    <a:bodyPr wrap="square" lIns="76200" rIns="76200" tIns="38100" bIns="38100"/>
                    <a:lstStyle/>
                    <a:p>
                      <a:pPr algn="l"/>
                      <a:r>
                        <a:rPr sz="1100" b="0">
                          <a:solidFill>
                            <a:srgbClr val="E7E9EE"/>
                          </a:solidFill>
                          <a:latin typeface="Arial"/>
                        </a:rPr>
                        <a:t>1 раз (клиент)</a:t>
                      </a:r>
                    </a:p>
                  </a:txBody>
                  <a:tcPr>
                    <a:solidFill>
                      <a:srgbClr val="0D1628"/>
                    </a:solidFill>
                  </a:tcPr>
                </a:tc>
                <a:tc>
                  <a:txBody>
                    <a:bodyPr wrap="square" lIns="76200" rIns="76200" tIns="38100" bIns="38100"/>
                    <a:lstStyle/>
                    <a:p>
                      <a:pPr algn="l"/>
                      <a:r>
                        <a:rPr sz="1100" b="0">
                          <a:solidFill>
                            <a:srgbClr val="E7E9EE"/>
                          </a:solidFill>
                          <a:latin typeface="Arial"/>
                        </a:rPr>
                        <a:t>1–2 раза в день</a:t>
                      </a:r>
                    </a:p>
                  </a:txBody>
                  <a:tcPr>
                    <a:solidFill>
                      <a:srgbClr val="0D1628"/>
                    </a:solidFill>
                  </a:tcPr>
                </a:tc>
                <a:tc>
                  <a:txBody>
                    <a:bodyPr wrap="square" lIns="76200" rIns="76200" tIns="38100" bIns="38100"/>
                    <a:lstStyle/>
                    <a:p>
                      <a:pPr algn="l"/>
                      <a:r>
                        <a:rPr sz="1100" b="0">
                          <a:solidFill>
                            <a:srgbClr val="E7E9EE"/>
                          </a:solidFill>
                          <a:latin typeface="Arial"/>
                        </a:rPr>
                        <a:t>Весь рабочий день</a:t>
                      </a:r>
                    </a:p>
                  </a:txBody>
                  <a:tcPr>
                    <a:solidFill>
                      <a:srgbClr val="0D1628"/>
                    </a:solidFill>
                  </a:tcPr>
                </a:tc>
              </a:tr>
            </a:tbl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6E7582"/>
                </a:solidFill>
                <a:latin typeface="Arial"/>
              </a:rPr>
              <a:t>GoGlobal · база знаний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79615" y="6473952"/>
            <a:ext cx="4572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>
                <a:solidFill>
                  <a:srgbClr val="6E7582"/>
                </a:solidFill>
                <a:latin typeface="Arial"/>
              </a:rPr>
              <a:t>II · Три части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C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080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11535" y="164592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E7582"/>
                </a:solidFill>
                <a:latin typeface="Arial"/>
              </a:rPr>
              <a:t>05 / 36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84048"/>
            <a:ext cx="82296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6366F1"/>
                </a:solidFill>
                <a:latin typeface="Arial"/>
              </a:rPr>
              <a:t>II · ТРИ ЧАСТИ СИСТЕМЫ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58368"/>
            <a:ext cx="10911535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E7E9EE"/>
                </a:solidFill>
                <a:latin typeface="Arial"/>
              </a:rPr>
              <a:t>Как они выглядят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463040"/>
            <a:ext cx="3474720" cy="2377440"/>
          </a:xfrm>
          <a:prstGeom prst="roundRect">
            <a:avLst>
              <a:gd name="adj" fmla="val 6000"/>
            </a:avLst>
          </a:prstGeom>
          <a:solidFill>
            <a:srgbClr val="121419"/>
          </a:solidFill>
          <a:ln w="9525">
            <a:solidFill>
              <a:srgbClr val="6366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645920"/>
            <a:ext cx="3108960" cy="2103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>
                <a:solidFill>
                  <a:srgbClr val="E7E9EE"/>
                </a:solidFill>
                <a:latin typeface="Arial"/>
              </a:rPr>
              <a:t>Сайт</a:t>
            </a:r>
          </a:p>
          <a:p>
            <a:pPr algn="l"/>
            <a:r>
              <a:rPr sz="1150" b="0">
                <a:solidFill>
                  <a:srgbClr val="9AA1AE"/>
                </a:solidFill>
                <a:latin typeface="Arial"/>
              </a:rPr>
              <a:t>Яркий, продающий: синие градиенты, оранжевые акценты, крупные заголовки, фото студентов. Дизайн для эмоций клиента.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97680" y="1463040"/>
            <a:ext cx="3474720" cy="2377440"/>
          </a:xfrm>
          <a:prstGeom prst="roundRect">
            <a:avLst>
              <a:gd name="adj" fmla="val 6000"/>
            </a:avLst>
          </a:prstGeom>
          <a:solidFill>
            <a:srgbClr val="121419"/>
          </a:solidFill>
          <a:ln w="9525">
            <a:solidFill>
              <a:srgbClr val="6366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480560" y="1645920"/>
            <a:ext cx="3108960" cy="2103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>
                <a:solidFill>
                  <a:srgbClr val="E7E9EE"/>
                </a:solidFill>
                <a:latin typeface="Arial"/>
              </a:rPr>
              <a:t>Админка</a:t>
            </a:r>
          </a:p>
          <a:p>
            <a:pPr algn="l"/>
            <a:r>
              <a:rPr sz="1150" b="0">
                <a:solidFill>
                  <a:srgbClr val="9AA1AE"/>
                </a:solidFill>
                <a:latin typeface="Arial"/>
              </a:rPr>
              <a:t>Спокойная и минималистичная: тёмный фон, разделы-аккордеоны, ничего лишнего. Дизайн для долгой работы без усталости глаз.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955280" y="1463040"/>
            <a:ext cx="3474720" cy="2377440"/>
          </a:xfrm>
          <a:prstGeom prst="roundRect">
            <a:avLst>
              <a:gd name="adj" fmla="val 6000"/>
            </a:avLst>
          </a:prstGeom>
          <a:solidFill>
            <a:srgbClr val="121419"/>
          </a:solidFill>
          <a:ln w="9525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138160" y="1645920"/>
            <a:ext cx="3108960" cy="2103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>
                <a:solidFill>
                  <a:srgbClr val="E7E9EE"/>
                </a:solidFill>
                <a:latin typeface="Arial"/>
              </a:rPr>
              <a:t>CRM</a:t>
            </a:r>
          </a:p>
          <a:p>
            <a:pPr algn="l"/>
            <a:r>
              <a:rPr sz="1150" b="0">
                <a:solidFill>
                  <a:srgbClr val="9AA1AE"/>
                </a:solidFill>
                <a:latin typeface="Arial"/>
              </a:rPr>
              <a:t>Рабочий стол: виджет «Мой день» сверху, список лидов с цветными статусами, всё в 1–2 клика. Дизайн для скорости.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4114800"/>
            <a:ext cx="10881360" cy="1554480"/>
          </a:xfrm>
          <a:prstGeom prst="roundRect">
            <a:avLst>
              <a:gd name="adj" fmla="val 6000"/>
            </a:avLst>
          </a:prstGeom>
          <a:solidFill>
            <a:srgbClr val="121419"/>
          </a:solidFill>
          <a:ln w="9525">
            <a:solidFill>
              <a:srgbClr val="2326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" y="4297680"/>
            <a:ext cx="1042416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6366F1"/>
                </a:solidFill>
                <a:latin typeface="Arial"/>
              </a:rPr>
              <a:t>ДИЗАЙН-СИСТЕМА РАБОЧИХ ЭКРАНОВ (V5)</a:t>
            </a:r>
          </a:p>
          <a:p>
            <a:pPr algn="l"/>
            <a:r>
              <a:rPr sz="1200" b="0">
                <a:solidFill>
                  <a:srgbClr val="9AA1AE"/>
                </a:solidFill>
                <a:latin typeface="Arial"/>
              </a:rPr>
              <a:t>Нейтральный графитовый фон + один спокойный акцент (индиго) + вторичный теал. Красный — только тревога, зелёный — успех.</a:t>
            </a:r>
          </a:p>
          <a:p>
            <a:pPr algn="l"/>
            <a:r>
              <a:rPr sz="1200" b="0">
                <a:solidFill>
                  <a:srgbClr val="9AA1AE"/>
                </a:solidFill>
                <a:latin typeface="Arial"/>
              </a:rPr>
              <a:t>Статусы — выпадающий список с подсказками, этапы — степпер 1→9, у ключевых цифр значок ⓘ с пояснением. Без неона и свечений.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6E7582"/>
                </a:solidFill>
                <a:latin typeface="Arial"/>
              </a:rPr>
              <a:t>GoGlobal · база знаний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79615" y="6473952"/>
            <a:ext cx="4572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>
                <a:solidFill>
                  <a:srgbClr val="6E7582"/>
                </a:solidFill>
                <a:latin typeface="Arial"/>
              </a:rPr>
              <a:t>II · Как выглядят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C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080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11535" y="164592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E7582"/>
                </a:solidFill>
                <a:latin typeface="Arial"/>
              </a:rPr>
              <a:t>06 / 36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84048"/>
            <a:ext cx="82296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6366F1"/>
                </a:solidFill>
                <a:latin typeface="Arial"/>
              </a:rPr>
              <a:t>III · КАК ВСЁ СВЯЗАНО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58368"/>
            <a:ext cx="10911535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E7E9EE"/>
                </a:solidFill>
                <a:latin typeface="Arial"/>
              </a:rPr>
              <a:t>Путь заявки за 60 секунд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1417320"/>
            <a:ext cx="3017520" cy="868680"/>
          </a:xfrm>
          <a:prstGeom prst="roundRect">
            <a:avLst>
              <a:gd name="adj" fmla="val 6000"/>
            </a:avLst>
          </a:prstGeom>
          <a:solidFill>
            <a:srgbClr val="121419"/>
          </a:solidFill>
          <a:ln w="9525">
            <a:solidFill>
              <a:srgbClr val="2326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1527048"/>
            <a:ext cx="27432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E7E9EE"/>
                </a:solidFill>
                <a:latin typeface="Arial"/>
              </a:rPr>
              <a:t>🌍  Сайт</a:t>
            </a:r>
          </a:p>
          <a:p>
            <a:pPr algn="l"/>
            <a:r>
              <a:rPr sz="1100" b="0">
                <a:solidFill>
                  <a:srgbClr val="6E7582"/>
                </a:solidFill>
                <a:latin typeface="Arial"/>
              </a:rPr>
              <a:t>клиент заполнил форму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931920" y="1554480"/>
            <a:ext cx="6400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600" b="1">
                <a:solidFill>
                  <a:srgbClr val="6366F1"/>
                </a:solidFill>
                <a:latin typeface="Arial"/>
              </a:rPr>
              <a:t>→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663440" y="1417320"/>
            <a:ext cx="3017520" cy="868680"/>
          </a:xfrm>
          <a:prstGeom prst="roundRect">
            <a:avLst>
              <a:gd name="adj" fmla="val 6000"/>
            </a:avLst>
          </a:prstGeom>
          <a:solidFill>
            <a:srgbClr val="121419"/>
          </a:solidFill>
          <a:ln w="9525">
            <a:solidFill>
              <a:srgbClr val="2326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846320" y="1527048"/>
            <a:ext cx="27432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E7E9EE"/>
                </a:solidFill>
                <a:latin typeface="Arial"/>
              </a:rPr>
              <a:t>📥  CRM</a:t>
            </a:r>
          </a:p>
          <a:p>
            <a:pPr algn="l"/>
            <a:r>
              <a:rPr sz="1100" b="0">
                <a:solidFill>
                  <a:srgbClr val="6E7582"/>
                </a:solidFill>
                <a:latin typeface="Arial"/>
              </a:rPr>
              <a:t>лид у менеджера + push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0" y="1554480"/>
            <a:ext cx="6400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600" b="1">
                <a:solidFill>
                  <a:srgbClr val="6366F1"/>
                </a:solidFill>
                <a:latin typeface="Arial"/>
              </a:rPr>
              <a:t>→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503920" y="1417320"/>
            <a:ext cx="3017520" cy="868680"/>
          </a:xfrm>
          <a:prstGeom prst="roundRect">
            <a:avLst>
              <a:gd name="adj" fmla="val 6000"/>
            </a:avLst>
          </a:prstGeom>
          <a:solidFill>
            <a:srgbClr val="121419"/>
          </a:solidFill>
          <a:ln w="9525">
            <a:solidFill>
              <a:srgbClr val="2326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0" y="1527048"/>
            <a:ext cx="27432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E7E9EE"/>
                </a:solidFill>
                <a:latin typeface="Arial"/>
              </a:rPr>
              <a:t>📊  Админка</a:t>
            </a:r>
          </a:p>
          <a:p>
            <a:pPr algn="l"/>
            <a:r>
              <a:rPr sz="1100" b="0">
                <a:solidFill>
                  <a:srgbClr val="6E7582"/>
                </a:solidFill>
                <a:latin typeface="Arial"/>
              </a:rPr>
              <a:t>виден в аналитике РОПа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640080" y="2514600"/>
          <a:ext cx="10881359" cy="204470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1171838"/>
                <a:gridCol w="5356977"/>
                <a:gridCol w="4352544"/>
              </a:tblGrid>
              <a:tr h="292100">
                <a:tc>
                  <a:txBody>
                    <a:bodyPr wrap="square" lIns="76200" rIns="76200" tIns="38100" bIns="38100"/>
                    <a:lstStyle/>
                    <a:p>
                      <a:pPr algn="l"/>
                      <a:r>
                        <a:rPr sz="1000" b="1">
                          <a:solidFill>
                            <a:srgbClr val="9AA1AE"/>
                          </a:solidFill>
                          <a:latin typeface="Arial"/>
                        </a:rPr>
                        <a:t>Сек</a:t>
                      </a:r>
                    </a:p>
                  </a:txBody>
                  <a:tcPr>
                    <a:solidFill>
                      <a:srgbClr val="121419"/>
                    </a:solidFill>
                  </a:tcPr>
                </a:tc>
                <a:tc>
                  <a:txBody>
                    <a:bodyPr wrap="square" lIns="76200" rIns="76200" tIns="38100" bIns="38100"/>
                    <a:lstStyle/>
                    <a:p>
                      <a:pPr algn="l"/>
                      <a:r>
                        <a:rPr sz="1000" b="1">
                          <a:solidFill>
                            <a:srgbClr val="9AA1AE"/>
                          </a:solidFill>
                          <a:latin typeface="Arial"/>
                        </a:rPr>
                        <a:t>Событие</a:t>
                      </a:r>
                    </a:p>
                  </a:txBody>
                  <a:tcPr>
                    <a:solidFill>
                      <a:srgbClr val="121419"/>
                    </a:solidFill>
                  </a:tcPr>
                </a:tc>
                <a:tc>
                  <a:txBody>
                    <a:bodyPr wrap="square" lIns="76200" rIns="76200" tIns="38100" bIns="38100"/>
                    <a:lstStyle/>
                    <a:p>
                      <a:pPr algn="l"/>
                      <a:r>
                        <a:rPr sz="1000" b="1">
                          <a:solidFill>
                            <a:srgbClr val="9AA1AE"/>
                          </a:solidFill>
                          <a:latin typeface="Arial"/>
                        </a:rPr>
                        <a:t>Кто видит</a:t>
                      </a:r>
                    </a:p>
                  </a:txBody>
                  <a:tcPr>
                    <a:solidFill>
                      <a:srgbClr val="121419"/>
                    </a:solidFill>
                  </a:tcPr>
                </a:tc>
              </a:tr>
              <a:tr h="292100">
                <a:tc>
                  <a:txBody>
                    <a:bodyPr wrap="square" lIns="76200" rIns="76200" tIns="38100" bIns="38100"/>
                    <a:lstStyle/>
                    <a:p>
                      <a:pPr algn="l"/>
                      <a:r>
                        <a:rPr sz="1100" b="0">
                          <a:solidFill>
                            <a:srgbClr val="E7E9EE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>
                    <a:solidFill>
                      <a:srgbClr val="0B0C0F"/>
                    </a:solidFill>
                  </a:tcPr>
                </a:tc>
                <a:tc>
                  <a:txBody>
                    <a:bodyPr wrap="square" lIns="76200" rIns="76200" tIns="38100" bIns="38100"/>
                    <a:lstStyle/>
                    <a:p>
                      <a:pPr algn="l"/>
                      <a:r>
                        <a:rPr sz="1100" b="0">
                          <a:solidFill>
                            <a:srgbClr val="E7E9EE"/>
                          </a:solidFill>
                          <a:latin typeface="Arial"/>
                        </a:rPr>
                        <a:t>Клиент нажал «Отправить заявку»</a:t>
                      </a:r>
                    </a:p>
                  </a:txBody>
                  <a:tcPr>
                    <a:solidFill>
                      <a:srgbClr val="0B0C0F"/>
                    </a:solidFill>
                  </a:tcPr>
                </a:tc>
                <a:tc>
                  <a:txBody>
                    <a:bodyPr wrap="square" lIns="76200" rIns="76200" tIns="38100" bIns="38100"/>
                    <a:lstStyle/>
                    <a:p>
                      <a:pPr algn="l"/>
                      <a:r>
                        <a:rPr sz="1100" b="0">
                          <a:solidFill>
                            <a:srgbClr val="E7E9EE"/>
                          </a:solidFill>
                          <a:latin typeface="Arial"/>
                        </a:rPr>
                        <a:t>Клиент: «Спасибо! Менеджер свяжется»</a:t>
                      </a:r>
                    </a:p>
                  </a:txBody>
                  <a:tcPr>
                    <a:solidFill>
                      <a:srgbClr val="0B0C0F"/>
                    </a:solidFill>
                  </a:tcPr>
                </a:tc>
              </a:tr>
              <a:tr h="292100">
                <a:tc>
                  <a:txBody>
                    <a:bodyPr wrap="square" lIns="76200" rIns="76200" tIns="38100" bIns="38100"/>
                    <a:lstStyle/>
                    <a:p>
                      <a:pPr algn="l"/>
                      <a:r>
                        <a:rPr sz="1100" b="0">
                          <a:solidFill>
                            <a:srgbClr val="E7E9EE"/>
                          </a:solidFill>
                          <a:latin typeface="Arial"/>
                        </a:rPr>
                        <a:t>~1</a:t>
                      </a:r>
                    </a:p>
                  </a:txBody>
                  <a:tcPr>
                    <a:solidFill>
                      <a:srgbClr val="0D1628"/>
                    </a:solidFill>
                  </a:tcPr>
                </a:tc>
                <a:tc>
                  <a:txBody>
                    <a:bodyPr wrap="square" lIns="76200" rIns="76200" tIns="38100" bIns="38100"/>
                    <a:lstStyle/>
                    <a:p>
                      <a:pPr algn="l"/>
                      <a:r>
                        <a:rPr sz="1100" b="0">
                          <a:solidFill>
                            <a:srgbClr val="E7E9EE"/>
                          </a:solidFill>
                          <a:latin typeface="Arial"/>
                        </a:rPr>
                        <a:t>Проверка на дубликат (тот же телефон/email?)</a:t>
                      </a:r>
                    </a:p>
                  </a:txBody>
                  <a:tcPr>
                    <a:solidFill>
                      <a:srgbClr val="0D1628"/>
                    </a:solidFill>
                  </a:tcPr>
                </a:tc>
                <a:tc>
                  <a:txBody>
                    <a:bodyPr wrap="square" lIns="76200" rIns="76200" tIns="38100" bIns="38100"/>
                    <a:lstStyle/>
                    <a:p>
                      <a:pPr algn="l"/>
                      <a:r>
                        <a:rPr sz="1100" b="0">
                          <a:solidFill>
                            <a:srgbClr val="E7E9EE"/>
                          </a:solidFill>
                          <a:latin typeface="Arial"/>
                        </a:rPr>
                        <a:t>Дубль → комментарий к старому лиду</a:t>
                      </a:r>
                    </a:p>
                  </a:txBody>
                  <a:tcPr>
                    <a:solidFill>
                      <a:srgbClr val="0D1628"/>
                    </a:solidFill>
                  </a:tcPr>
                </a:tc>
              </a:tr>
              <a:tr h="292100">
                <a:tc>
                  <a:txBody>
                    <a:bodyPr wrap="square" lIns="76200" rIns="76200" tIns="38100" bIns="38100"/>
                    <a:lstStyle/>
                    <a:p>
                      <a:pPr algn="l"/>
                      <a:r>
                        <a:rPr sz="1100" b="0">
                          <a:solidFill>
                            <a:srgbClr val="E7E9EE"/>
                          </a:solidFill>
                          <a:latin typeface="Arial"/>
                        </a:rPr>
                        <a:t>~1</a:t>
                      </a:r>
                    </a:p>
                  </a:txBody>
                  <a:tcPr>
                    <a:solidFill>
                      <a:srgbClr val="0B0C0F"/>
                    </a:solidFill>
                  </a:tcPr>
                </a:tc>
                <a:tc>
                  <a:txBody>
                    <a:bodyPr wrap="square" lIns="76200" rIns="76200" tIns="38100" bIns="38100"/>
                    <a:lstStyle/>
                    <a:p>
                      <a:pPr algn="l"/>
                      <a:r>
                        <a:rPr sz="1100" b="0">
                          <a:solidFill>
                            <a:srgbClr val="E7E9EE"/>
                          </a:solidFill>
                          <a:latin typeface="Arial"/>
                        </a:rPr>
                        <a:t>Подбор менеджера: правила, потом очередь</a:t>
                      </a:r>
                    </a:p>
                  </a:txBody>
                  <a:tcPr>
                    <a:solidFill>
                      <a:srgbClr val="0B0C0F"/>
                    </a:solidFill>
                  </a:tcPr>
                </a:tc>
                <a:tc>
                  <a:txBody>
                    <a:bodyPr wrap="square" lIns="76200" rIns="76200" tIns="38100" bIns="38100"/>
                    <a:lstStyle/>
                    <a:p>
                      <a:pPr algn="l"/>
                      <a:r>
                        <a:rPr sz="1100" b="0">
                          <a:solidFill>
                            <a:srgbClr val="E7E9EE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>
                    <a:solidFill>
                      <a:srgbClr val="0B0C0F"/>
                    </a:solidFill>
                  </a:tcPr>
                </a:tc>
              </a:tr>
              <a:tr h="292100">
                <a:tc>
                  <a:txBody>
                    <a:bodyPr wrap="square" lIns="76200" rIns="76200" tIns="38100" bIns="38100"/>
                    <a:lstStyle/>
                    <a:p>
                      <a:pPr algn="l"/>
                      <a:r>
                        <a:rPr sz="1100" b="0">
                          <a:solidFill>
                            <a:srgbClr val="E7E9EE"/>
                          </a:solidFill>
                          <a:latin typeface="Arial"/>
                        </a:rPr>
                        <a:t>~2</a:t>
                      </a:r>
                    </a:p>
                  </a:txBody>
                  <a:tcPr>
                    <a:solidFill>
                      <a:srgbClr val="0D1628"/>
                    </a:solidFill>
                  </a:tcPr>
                </a:tc>
                <a:tc>
                  <a:txBody>
                    <a:bodyPr wrap="square" lIns="76200" rIns="76200" tIns="38100" bIns="38100"/>
                    <a:lstStyle/>
                    <a:p>
                      <a:pPr algn="l"/>
                      <a:r>
                        <a:rPr sz="1100" b="0">
                          <a:solidFill>
                            <a:srgbClr val="E7E9EE"/>
                          </a:solidFill>
                          <a:latin typeface="Arial"/>
                        </a:rPr>
                        <a:t>Лид в CRM со статусом «Новый»</a:t>
                      </a:r>
                    </a:p>
                  </a:txBody>
                  <a:tcPr>
                    <a:solidFill>
                      <a:srgbClr val="0D1628"/>
                    </a:solidFill>
                  </a:tcPr>
                </a:tc>
                <a:tc>
                  <a:txBody>
                    <a:bodyPr wrap="square" lIns="76200" rIns="76200" tIns="38100" bIns="38100"/>
                    <a:lstStyle/>
                    <a:p>
                      <a:pPr algn="l"/>
                      <a:r>
                        <a:rPr sz="1100" b="0">
                          <a:solidFill>
                            <a:srgbClr val="E7E9EE"/>
                          </a:solidFill>
                          <a:latin typeface="Arial"/>
                        </a:rPr>
                        <a:t>Менеджер: push-уведомление</a:t>
                      </a:r>
                    </a:p>
                  </a:txBody>
                  <a:tcPr>
                    <a:solidFill>
                      <a:srgbClr val="0D1628"/>
                    </a:solidFill>
                  </a:tcPr>
                </a:tc>
              </a:tr>
              <a:tr h="292100">
                <a:tc>
                  <a:txBody>
                    <a:bodyPr wrap="square" lIns="76200" rIns="76200" tIns="38100" bIns="38100"/>
                    <a:lstStyle/>
                    <a:p>
                      <a:pPr algn="l"/>
                      <a:r>
                        <a:rPr sz="1100" b="0">
                          <a:solidFill>
                            <a:srgbClr val="E7E9EE"/>
                          </a:solidFill>
                          <a:latin typeface="Arial"/>
                        </a:rPr>
                        <a:t>~2</a:t>
                      </a:r>
                    </a:p>
                  </a:txBody>
                  <a:tcPr>
                    <a:solidFill>
                      <a:srgbClr val="0B0C0F"/>
                    </a:solidFill>
                  </a:tcPr>
                </a:tc>
                <a:tc>
                  <a:txBody>
                    <a:bodyPr wrap="square" lIns="76200" rIns="76200" tIns="38100" bIns="38100"/>
                    <a:lstStyle/>
                    <a:p>
                      <a:pPr algn="l"/>
                      <a:r>
                        <a:rPr sz="1100" b="0">
                          <a:solidFill>
                            <a:srgbClr val="E7E9EE"/>
                          </a:solidFill>
                          <a:latin typeface="Arial"/>
                        </a:rPr>
                        <a:t>Запустился таймер SLA (3 часа на ответ)</a:t>
                      </a:r>
                    </a:p>
                  </a:txBody>
                  <a:tcPr>
                    <a:solidFill>
                      <a:srgbClr val="0B0C0F"/>
                    </a:solidFill>
                  </a:tcPr>
                </a:tc>
                <a:tc>
                  <a:txBody>
                    <a:bodyPr wrap="square" lIns="76200" rIns="76200" tIns="38100" bIns="38100"/>
                    <a:lstStyle/>
                    <a:p>
                      <a:pPr algn="l"/>
                      <a:r>
                        <a:rPr sz="1100" b="0">
                          <a:solidFill>
                            <a:srgbClr val="E7E9EE"/>
                          </a:solidFill>
                          <a:latin typeface="Arial"/>
                        </a:rPr>
                        <a:t>Таймер в карточке лида</a:t>
                      </a:r>
                    </a:p>
                  </a:txBody>
                  <a:tcPr>
                    <a:solidFill>
                      <a:srgbClr val="0B0C0F"/>
                    </a:solidFill>
                  </a:tcPr>
                </a:tc>
              </a:tr>
              <a:tr h="292100">
                <a:tc>
                  <a:txBody>
                    <a:bodyPr wrap="square" lIns="76200" rIns="76200" tIns="38100" bIns="38100"/>
                    <a:lstStyle/>
                    <a:p>
                      <a:pPr algn="l"/>
                      <a:r>
                        <a:rPr sz="1100" b="0">
                          <a:solidFill>
                            <a:srgbClr val="E7E9EE"/>
                          </a:solidFill>
                          <a:latin typeface="Arial"/>
                        </a:rPr>
                        <a:t>~3</a:t>
                      </a:r>
                    </a:p>
                  </a:txBody>
                  <a:tcPr>
                    <a:solidFill>
                      <a:srgbClr val="0D1628"/>
                    </a:solidFill>
                  </a:tcPr>
                </a:tc>
                <a:tc>
                  <a:txBody>
                    <a:bodyPr wrap="square" lIns="76200" rIns="76200" tIns="38100" bIns="38100"/>
                    <a:lstStyle/>
                    <a:p>
                      <a:pPr algn="l"/>
                      <a:r>
                        <a:rPr sz="1100" b="0">
                          <a:solidFill>
                            <a:srgbClr val="E7E9EE"/>
                          </a:solidFill>
                          <a:latin typeface="Arial"/>
                        </a:rPr>
                        <a:t>Сообщение в Telegram-чат отдела</a:t>
                      </a:r>
                    </a:p>
                  </a:txBody>
                  <a:tcPr>
                    <a:solidFill>
                      <a:srgbClr val="0D1628"/>
                    </a:solidFill>
                  </a:tcPr>
                </a:tc>
                <a:tc>
                  <a:txBody>
                    <a:bodyPr wrap="square" lIns="76200" rIns="76200" tIns="38100" bIns="38100"/>
                    <a:lstStyle/>
                    <a:p>
                      <a:pPr algn="l"/>
                      <a:r>
                        <a:rPr sz="1100" b="0">
                          <a:solidFill>
                            <a:srgbClr val="E7E9EE"/>
                          </a:solidFill>
                          <a:latin typeface="Arial"/>
                        </a:rPr>
                        <a:t>РОП и команда</a:t>
                      </a:r>
                    </a:p>
                  </a:txBody>
                  <a:tcPr>
                    <a:solidFill>
                      <a:srgbClr val="0D1628"/>
                    </a:solidFill>
                  </a:tcPr>
                </a:tc>
              </a:tr>
            </a:tbl>
          </a:graphicData>
        </a:graphic>
      </p:graphicFrame>
      <p:sp>
        <p:nvSpPr>
          <p:cNvPr id="16" name="Rounded Rectangle 15"/>
          <p:cNvSpPr/>
          <p:nvPr/>
        </p:nvSpPr>
        <p:spPr>
          <a:xfrm>
            <a:off x="640080" y="5166360"/>
            <a:ext cx="5349240" cy="1143000"/>
          </a:xfrm>
          <a:prstGeom prst="roundRect">
            <a:avLst>
              <a:gd name="adj" fmla="val 6000"/>
            </a:avLst>
          </a:prstGeom>
          <a:solidFill>
            <a:srgbClr val="121419"/>
          </a:solidFill>
          <a:ln w="9525">
            <a:solidFill>
              <a:srgbClr val="2326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68680" y="5303520"/>
            <a:ext cx="49377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1">
                <a:solidFill>
                  <a:srgbClr val="FDE68A"/>
                </a:solidFill>
                <a:latin typeface="Arial"/>
              </a:rPr>
              <a:t>НЕ ОТВЕТИЛ ВОВРЕМЯ?</a:t>
            </a:r>
          </a:p>
          <a:p>
            <a:pPr algn="l"/>
            <a:r>
              <a:rPr sz="1100" b="0">
                <a:solidFill>
                  <a:srgbClr val="9AA1AE"/>
                </a:solidFill>
                <a:latin typeface="Arial"/>
              </a:rPr>
              <a:t>Через 3 ч: лид краснеет, РОПу сигнал в Telegram, минус в личную статистику менеджера.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72200" y="5166360"/>
            <a:ext cx="5349240" cy="1143000"/>
          </a:xfrm>
          <a:prstGeom prst="roundRect">
            <a:avLst>
              <a:gd name="adj" fmla="val 6000"/>
            </a:avLst>
          </a:prstGeom>
          <a:solidFill>
            <a:srgbClr val="121419"/>
          </a:solidFill>
          <a:ln w="9525">
            <a:solidFill>
              <a:srgbClr val="2326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0" y="5303520"/>
            <a:ext cx="49377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1">
                <a:solidFill>
                  <a:srgbClr val="FDE68A"/>
                </a:solidFill>
                <a:latin typeface="Arial"/>
              </a:rPr>
              <a:t>ВСЕ ОФЛАЙН?</a:t>
            </a:r>
          </a:p>
          <a:p>
            <a:pPr algn="l"/>
            <a:r>
              <a:rPr sz="1100" b="0">
                <a:solidFill>
                  <a:srgbClr val="9AA1AE"/>
                </a:solidFill>
                <a:latin typeface="Arial"/>
              </a:rPr>
              <a:t>Лид встаёт в очередь. Кто-то включил «в сети» — очередь раздаётся автоматически.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6E7582"/>
                </a:solidFill>
                <a:latin typeface="Arial"/>
              </a:rPr>
              <a:t>GoGlobal · база знаний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79615" y="6473952"/>
            <a:ext cx="4572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>
                <a:solidFill>
                  <a:srgbClr val="6E7582"/>
                </a:solidFill>
                <a:latin typeface="Arial"/>
              </a:rPr>
              <a:t>III · Путь заявки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C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080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11535" y="164592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E7582"/>
                </a:solidFill>
                <a:latin typeface="Arial"/>
              </a:rPr>
              <a:t>07 / 36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84048"/>
            <a:ext cx="82296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6366F1"/>
                </a:solidFill>
                <a:latin typeface="Arial"/>
              </a:rPr>
              <a:t>III · КАК ВСЁ СВЯЗАНО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58368"/>
            <a:ext cx="10911535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E7E9EE"/>
                </a:solidFill>
                <a:latin typeface="Arial"/>
              </a:rPr>
              <a:t>Что чем управляется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71600"/>
            <a:ext cx="5303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E7E9EE"/>
                </a:solidFill>
                <a:latin typeface="Arial"/>
              </a:rPr>
              <a:t>Сайт ← Админка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783080"/>
          <a:ext cx="5303519" cy="204470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2525485"/>
                <a:gridCol w="2778034"/>
              </a:tblGrid>
              <a:tr h="292100">
                <a:tc>
                  <a:txBody>
                    <a:bodyPr wrap="square" lIns="76200" rIns="76200" tIns="38100" bIns="38100"/>
                    <a:lstStyle/>
                    <a:p>
                      <a:pPr algn="l"/>
                      <a:r>
                        <a:rPr sz="950" b="1">
                          <a:solidFill>
                            <a:srgbClr val="9AA1AE"/>
                          </a:solidFill>
                          <a:latin typeface="Arial"/>
                        </a:rPr>
                        <a:t>На сайте</a:t>
                      </a:r>
                    </a:p>
                  </a:txBody>
                  <a:tcPr>
                    <a:solidFill>
                      <a:srgbClr val="121419"/>
                    </a:solidFill>
                  </a:tcPr>
                </a:tc>
                <a:tc>
                  <a:txBody>
                    <a:bodyPr wrap="square" lIns="76200" rIns="76200" tIns="38100" bIns="38100"/>
                    <a:lstStyle/>
                    <a:p>
                      <a:pPr algn="l"/>
                      <a:r>
                        <a:rPr sz="950" b="1">
                          <a:solidFill>
                            <a:srgbClr val="9AA1AE"/>
                          </a:solidFill>
                          <a:latin typeface="Arial"/>
                        </a:rPr>
                        <a:t>Управляется в админке</a:t>
                      </a:r>
                    </a:p>
                  </a:txBody>
                  <a:tcPr>
                    <a:solidFill>
                      <a:srgbClr val="121419"/>
                    </a:solidFill>
                  </a:tcPr>
                </a:tc>
              </a:tr>
              <a:tr h="292100">
                <a:tc>
                  <a:txBody>
                    <a:bodyPr wrap="square" lIns="76200" rIns="76200" tIns="38100" bIns="38100"/>
                    <a:lstStyle/>
                    <a:p>
                      <a:pPr algn="l"/>
                      <a:r>
                        <a:rPr sz="1050" b="0">
                          <a:solidFill>
                            <a:srgbClr val="E7E9EE"/>
                          </a:solidFill>
                          <a:latin typeface="Arial"/>
                        </a:rPr>
                        <a:t>Главное фото и тексты</a:t>
                      </a:r>
                    </a:p>
                  </a:txBody>
                  <a:tcPr>
                    <a:solidFill>
                      <a:srgbClr val="0B0C0F"/>
                    </a:solidFill>
                  </a:tcPr>
                </a:tc>
                <a:tc>
                  <a:txBody>
                    <a:bodyPr wrap="square" lIns="76200" rIns="76200" tIns="38100" bIns="38100"/>
                    <a:lstStyle/>
                    <a:p>
                      <a:pPr algn="l"/>
                      <a:r>
                        <a:rPr sz="1050" b="0">
                          <a:solidFill>
                            <a:srgbClr val="E7E9EE"/>
                          </a:solidFill>
                          <a:latin typeface="Arial"/>
                        </a:rPr>
                        <a:t>«Главный экран (Hero)»</a:t>
                      </a:r>
                    </a:p>
                  </a:txBody>
                  <a:tcPr>
                    <a:solidFill>
                      <a:srgbClr val="0B0C0F"/>
                    </a:solidFill>
                  </a:tcPr>
                </a:tc>
              </a:tr>
              <a:tr h="292100">
                <a:tc>
                  <a:txBody>
                    <a:bodyPr wrap="square" lIns="76200" rIns="76200" tIns="38100" bIns="38100"/>
                    <a:lstStyle/>
                    <a:p>
                      <a:pPr algn="l"/>
                      <a:r>
                        <a:rPr sz="1050" b="0">
                          <a:solidFill>
                            <a:srgbClr val="E7E9EE"/>
                          </a:solidFill>
                          <a:latin typeface="Arial"/>
                        </a:rPr>
                        <a:t>Страны и вузы</a:t>
                      </a:r>
                    </a:p>
                  </a:txBody>
                  <a:tcPr>
                    <a:solidFill>
                      <a:srgbClr val="0D1628"/>
                    </a:solidFill>
                  </a:tcPr>
                </a:tc>
                <a:tc>
                  <a:txBody>
                    <a:bodyPr wrap="square" lIns="76200" rIns="76200" tIns="38100" bIns="38100"/>
                    <a:lstStyle/>
                    <a:p>
                      <a:pPr algn="l"/>
                      <a:r>
                        <a:rPr sz="1050" b="0">
                          <a:solidFill>
                            <a:srgbClr val="E7E9EE"/>
                          </a:solidFill>
                          <a:latin typeface="Arial"/>
                        </a:rPr>
                        <a:t>«Страны и Университеты»</a:t>
                      </a:r>
                    </a:p>
                  </a:txBody>
                  <a:tcPr>
                    <a:solidFill>
                      <a:srgbClr val="0D1628"/>
                    </a:solidFill>
                  </a:tcPr>
                </a:tc>
              </a:tr>
              <a:tr h="292100">
                <a:tc>
                  <a:txBody>
                    <a:bodyPr wrap="square" lIns="76200" rIns="76200" tIns="38100" bIns="38100"/>
                    <a:lstStyle/>
                    <a:p>
                      <a:pPr algn="l"/>
                      <a:r>
                        <a:rPr sz="1050" b="0">
                          <a:solidFill>
                            <a:srgbClr val="E7E9EE"/>
                          </a:solidFill>
                          <a:latin typeface="Arial"/>
                        </a:rPr>
                        <a:t>Цены калькулятора</a:t>
                      </a:r>
                    </a:p>
                  </a:txBody>
                  <a:tcPr>
                    <a:solidFill>
                      <a:srgbClr val="0B0C0F"/>
                    </a:solidFill>
                  </a:tcPr>
                </a:tc>
                <a:tc>
                  <a:txBody>
                    <a:bodyPr wrap="square" lIns="76200" rIns="76200" tIns="38100" bIns="38100"/>
                    <a:lstStyle/>
                    <a:p>
                      <a:pPr algn="l"/>
                      <a:r>
                        <a:rPr sz="1050" b="0">
                          <a:solidFill>
                            <a:srgbClr val="E7E9EE"/>
                          </a:solidFill>
                          <a:latin typeface="Arial"/>
                        </a:rPr>
                        <a:t>«Калькулятор стоимости обучения»</a:t>
                      </a:r>
                    </a:p>
                  </a:txBody>
                  <a:tcPr>
                    <a:solidFill>
                      <a:srgbClr val="0B0C0F"/>
                    </a:solidFill>
                  </a:tcPr>
                </a:tc>
              </a:tr>
              <a:tr h="292100">
                <a:tc>
                  <a:txBody>
                    <a:bodyPr wrap="square" lIns="76200" rIns="76200" tIns="38100" bIns="38100"/>
                    <a:lstStyle/>
                    <a:p>
                      <a:pPr algn="l"/>
                      <a:r>
                        <a:rPr sz="1050" b="0">
                          <a:solidFill>
                            <a:srgbClr val="E7E9EE"/>
                          </a:solidFill>
                          <a:latin typeface="Arial"/>
                        </a:rPr>
                        <a:t>Отзывы студентов</a:t>
                      </a:r>
                    </a:p>
                  </a:txBody>
                  <a:tcPr>
                    <a:solidFill>
                      <a:srgbClr val="0D1628"/>
                    </a:solidFill>
                  </a:tcPr>
                </a:tc>
                <a:tc>
                  <a:txBody>
                    <a:bodyPr wrap="square" lIns="76200" rIns="76200" tIns="38100" bIns="38100"/>
                    <a:lstStyle/>
                    <a:p>
                      <a:pPr algn="l"/>
                      <a:r>
                        <a:rPr sz="1050" b="0">
                          <a:solidFill>
                            <a:srgbClr val="E7E9EE"/>
                          </a:solidFill>
                          <a:latin typeface="Arial"/>
                        </a:rPr>
                        <a:t>«Отзывы»</a:t>
                      </a:r>
                    </a:p>
                  </a:txBody>
                  <a:tcPr>
                    <a:solidFill>
                      <a:srgbClr val="0D1628"/>
                    </a:solidFill>
                  </a:tcPr>
                </a:tc>
              </a:tr>
              <a:tr h="292100">
                <a:tc>
                  <a:txBody>
                    <a:bodyPr wrap="square" lIns="76200" rIns="76200" tIns="38100" bIns="38100"/>
                    <a:lstStyle/>
                    <a:p>
                      <a:pPr algn="l"/>
                      <a:r>
                        <a:rPr sz="1050" b="0">
                          <a:solidFill>
                            <a:srgbClr val="E7E9EE"/>
                          </a:solidFill>
                          <a:latin typeface="Arial"/>
                        </a:rPr>
                        <a:t>Телефон, адрес, график</a:t>
                      </a:r>
                    </a:p>
                  </a:txBody>
                  <a:tcPr>
                    <a:solidFill>
                      <a:srgbClr val="0B0C0F"/>
                    </a:solidFill>
                  </a:tcPr>
                </a:tc>
                <a:tc>
                  <a:txBody>
                    <a:bodyPr wrap="square" lIns="76200" rIns="76200" tIns="38100" bIns="38100"/>
                    <a:lstStyle/>
                    <a:p>
                      <a:pPr algn="l"/>
                      <a:r>
                        <a:rPr sz="1050" b="0">
                          <a:solidFill>
                            <a:srgbClr val="E7E9EE"/>
                          </a:solidFill>
                          <a:latin typeface="Arial"/>
                        </a:rPr>
                        <a:t>«Контактная информация»</a:t>
                      </a:r>
                    </a:p>
                  </a:txBody>
                  <a:tcPr>
                    <a:solidFill>
                      <a:srgbClr val="0B0C0F"/>
                    </a:solidFill>
                  </a:tcPr>
                </a:tc>
              </a:tr>
              <a:tr h="292100">
                <a:tc>
                  <a:txBody>
                    <a:bodyPr wrap="square" lIns="76200" rIns="76200" tIns="38100" bIns="38100"/>
                    <a:lstStyle/>
                    <a:p>
                      <a:pPr algn="l"/>
                      <a:r>
                        <a:rPr sz="1050" b="0">
                          <a:solidFill>
                            <a:srgbClr val="E7E9EE"/>
                          </a:solidFill>
                          <a:latin typeface="Arial"/>
                        </a:rPr>
                        <a:t>Секции вкл/выкл</a:t>
                      </a:r>
                    </a:p>
                  </a:txBody>
                  <a:tcPr>
                    <a:solidFill>
                      <a:srgbClr val="0D1628"/>
                    </a:solidFill>
                  </a:tcPr>
                </a:tc>
                <a:tc>
                  <a:txBody>
                    <a:bodyPr wrap="square" lIns="76200" rIns="76200" tIns="38100" bIns="38100"/>
                    <a:lstStyle/>
                    <a:p>
                      <a:pPr algn="l"/>
                      <a:r>
                        <a:rPr sz="1050" b="0">
                          <a:solidFill>
                            <a:srgbClr val="E7E9EE"/>
                          </a:solidFill>
                          <a:latin typeface="Arial"/>
                        </a:rPr>
                        <a:t>«Видимость блоков»</a:t>
                      </a:r>
                    </a:p>
                  </a:txBody>
                  <a:tcPr>
                    <a:solidFill>
                      <a:srgbClr val="0D1628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217920" y="1371600"/>
            <a:ext cx="5303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E7E9EE"/>
                </a:solidFill>
                <a:latin typeface="Arial"/>
              </a:rPr>
              <a:t>CRM ← Админка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217920" y="1783080"/>
          <a:ext cx="5303519" cy="204470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2525485"/>
                <a:gridCol w="2778034"/>
              </a:tblGrid>
              <a:tr h="292100">
                <a:tc>
                  <a:txBody>
                    <a:bodyPr wrap="square" lIns="76200" rIns="76200" tIns="38100" bIns="38100"/>
                    <a:lstStyle/>
                    <a:p>
                      <a:pPr algn="l"/>
                      <a:r>
                        <a:rPr sz="950" b="1">
                          <a:solidFill>
                            <a:srgbClr val="9AA1AE"/>
                          </a:solidFill>
                          <a:latin typeface="Arial"/>
                        </a:rPr>
                        <a:t>В CRM</a:t>
                      </a:r>
                    </a:p>
                  </a:txBody>
                  <a:tcPr>
                    <a:solidFill>
                      <a:srgbClr val="121419"/>
                    </a:solidFill>
                  </a:tcPr>
                </a:tc>
                <a:tc>
                  <a:txBody>
                    <a:bodyPr wrap="square" lIns="76200" rIns="76200" tIns="38100" bIns="38100"/>
                    <a:lstStyle/>
                    <a:p>
                      <a:pPr algn="l"/>
                      <a:r>
                        <a:rPr sz="950" b="1">
                          <a:solidFill>
                            <a:srgbClr val="9AA1AE"/>
                          </a:solidFill>
                          <a:latin typeface="Arial"/>
                        </a:rPr>
                        <a:t>Управляется в админке</a:t>
                      </a:r>
                    </a:p>
                  </a:txBody>
                  <a:tcPr>
                    <a:solidFill>
                      <a:srgbClr val="121419"/>
                    </a:solidFill>
                  </a:tcPr>
                </a:tc>
              </a:tr>
              <a:tr h="292100">
                <a:tc>
                  <a:txBody>
                    <a:bodyPr wrap="square" lIns="76200" rIns="76200" tIns="38100" bIns="38100"/>
                    <a:lstStyle/>
                    <a:p>
                      <a:pPr algn="l"/>
                      <a:r>
                        <a:rPr sz="1050" b="0">
                          <a:solidFill>
                            <a:srgbClr val="E7E9EE"/>
                          </a:solidFill>
                          <a:latin typeface="Arial"/>
                        </a:rPr>
                        <a:t>Кто может войти</a:t>
                      </a:r>
                    </a:p>
                  </a:txBody>
                  <a:tcPr>
                    <a:solidFill>
                      <a:srgbClr val="0B0C0F"/>
                    </a:solidFill>
                  </a:tcPr>
                </a:tc>
                <a:tc>
                  <a:txBody>
                    <a:bodyPr wrap="square" lIns="76200" rIns="76200" tIns="38100" bIns="38100"/>
                    <a:lstStyle/>
                    <a:p>
                      <a:pPr algn="l"/>
                      <a:r>
                        <a:rPr sz="1050" b="0">
                          <a:solidFill>
                            <a:srgbClr val="E7E9EE"/>
                          </a:solidFill>
                          <a:latin typeface="Arial"/>
                        </a:rPr>
                        <a:t>«Менеджеры»</a:t>
                      </a:r>
                    </a:p>
                  </a:txBody>
                  <a:tcPr>
                    <a:solidFill>
                      <a:srgbClr val="0B0C0F"/>
                    </a:solidFill>
                  </a:tcPr>
                </a:tc>
              </a:tr>
              <a:tr h="292100">
                <a:tc>
                  <a:txBody>
                    <a:bodyPr wrap="square" lIns="76200" rIns="76200" tIns="38100" bIns="38100"/>
                    <a:lstStyle/>
                    <a:p>
                      <a:pPr algn="l"/>
                      <a:r>
                        <a:rPr sz="1050" b="0">
                          <a:solidFill>
                            <a:srgbClr val="E7E9EE"/>
                          </a:solidFill>
                          <a:latin typeface="Arial"/>
                        </a:rPr>
                        <a:t>Статусы воронки</a:t>
                      </a:r>
                    </a:p>
                  </a:txBody>
                  <a:tcPr>
                    <a:solidFill>
                      <a:srgbClr val="0D1628"/>
                    </a:solidFill>
                  </a:tcPr>
                </a:tc>
                <a:tc>
                  <a:txBody>
                    <a:bodyPr wrap="square" lIns="76200" rIns="76200" tIns="38100" bIns="38100"/>
                    <a:lstStyle/>
                    <a:p>
                      <a:pPr algn="l"/>
                      <a:r>
                        <a:rPr sz="1050" b="0">
                          <a:solidFill>
                            <a:srgbClr val="E7E9EE"/>
                          </a:solidFill>
                          <a:latin typeface="Arial"/>
                        </a:rPr>
                        <a:t>«Статусы лидов»</a:t>
                      </a:r>
                    </a:p>
                  </a:txBody>
                  <a:tcPr>
                    <a:solidFill>
                      <a:srgbClr val="0D1628"/>
                    </a:solidFill>
                  </a:tcPr>
                </a:tc>
              </a:tr>
              <a:tr h="292100">
                <a:tc>
                  <a:txBody>
                    <a:bodyPr wrap="square" lIns="76200" rIns="76200" tIns="38100" bIns="38100"/>
                    <a:lstStyle/>
                    <a:p>
                      <a:pPr algn="l"/>
                      <a:r>
                        <a:rPr sz="1050" b="0">
                          <a:solidFill>
                            <a:srgbClr val="E7E9EE"/>
                          </a:solidFill>
                          <a:latin typeface="Arial"/>
                        </a:rPr>
                        <a:t>Шаблоны WhatsApp</a:t>
                      </a:r>
                    </a:p>
                  </a:txBody>
                  <a:tcPr>
                    <a:solidFill>
                      <a:srgbClr val="0B0C0F"/>
                    </a:solidFill>
                  </a:tcPr>
                </a:tc>
                <a:tc>
                  <a:txBody>
                    <a:bodyPr wrap="square" lIns="76200" rIns="76200" tIns="38100" bIns="38100"/>
                    <a:lstStyle/>
                    <a:p>
                      <a:pPr algn="l"/>
                      <a:r>
                        <a:rPr sz="1050" b="0">
                          <a:solidFill>
                            <a:srgbClr val="E7E9EE"/>
                          </a:solidFill>
                          <a:latin typeface="Arial"/>
                        </a:rPr>
                        <a:t>«Шаблоны быстрых ответов»</a:t>
                      </a:r>
                    </a:p>
                  </a:txBody>
                  <a:tcPr>
                    <a:solidFill>
                      <a:srgbClr val="0B0C0F"/>
                    </a:solidFill>
                  </a:tcPr>
                </a:tc>
              </a:tr>
              <a:tr h="292100">
                <a:tc>
                  <a:txBody>
                    <a:bodyPr wrap="square" lIns="76200" rIns="76200" tIns="38100" bIns="38100"/>
                    <a:lstStyle/>
                    <a:p>
                      <a:pPr algn="l"/>
                      <a:r>
                        <a:rPr sz="1050" b="0">
                          <a:solidFill>
                            <a:srgbClr val="E7E9EE"/>
                          </a:solidFill>
                          <a:latin typeface="Arial"/>
                        </a:rPr>
                        <a:t>Кому падают лиды</a:t>
                      </a:r>
                    </a:p>
                  </a:txBody>
                  <a:tcPr>
                    <a:solidFill>
                      <a:srgbClr val="0D1628"/>
                    </a:solidFill>
                  </a:tcPr>
                </a:tc>
                <a:tc>
                  <a:txBody>
                    <a:bodyPr wrap="square" lIns="76200" rIns="76200" tIns="38100" bIns="38100"/>
                    <a:lstStyle/>
                    <a:p>
                      <a:pPr algn="l"/>
                      <a:r>
                        <a:rPr sz="1050" b="0">
                          <a:solidFill>
                            <a:srgbClr val="E7E9EE"/>
                          </a:solidFill>
                          <a:latin typeface="Arial"/>
                        </a:rPr>
                        <a:t>«Авто-распределение»</a:t>
                      </a:r>
                    </a:p>
                  </a:txBody>
                  <a:tcPr>
                    <a:solidFill>
                      <a:srgbClr val="0D1628"/>
                    </a:solidFill>
                  </a:tcPr>
                </a:tc>
              </a:tr>
              <a:tr h="292100">
                <a:tc>
                  <a:txBody>
                    <a:bodyPr wrap="square" lIns="76200" rIns="76200" tIns="38100" bIns="38100"/>
                    <a:lstStyle/>
                    <a:p>
                      <a:pPr algn="l"/>
                      <a:r>
                        <a:rPr sz="1050" b="0">
                          <a:solidFill>
                            <a:srgbClr val="E7E9EE"/>
                          </a:solidFill>
                          <a:latin typeface="Arial"/>
                        </a:rPr>
                        <a:t>Реакции на бездействие</a:t>
                      </a:r>
                    </a:p>
                  </a:txBody>
                  <a:tcPr>
                    <a:solidFill>
                      <a:srgbClr val="0B0C0F"/>
                    </a:solidFill>
                  </a:tcPr>
                </a:tc>
                <a:tc>
                  <a:txBody>
                    <a:bodyPr wrap="square" lIns="76200" rIns="76200" tIns="38100" bIns="38100"/>
                    <a:lstStyle/>
                    <a:p>
                      <a:pPr algn="l"/>
                      <a:r>
                        <a:rPr sz="1050" b="0">
                          <a:solidFill>
                            <a:srgbClr val="E7E9EE"/>
                          </a:solidFill>
                          <a:latin typeface="Arial"/>
                        </a:rPr>
                        <a:t>«Авто-сценарии»</a:t>
                      </a:r>
                    </a:p>
                  </a:txBody>
                  <a:tcPr>
                    <a:solidFill>
                      <a:srgbClr val="0B0C0F"/>
                    </a:solidFill>
                  </a:tcPr>
                </a:tc>
              </a:tr>
              <a:tr h="292100">
                <a:tc>
                  <a:txBody>
                    <a:bodyPr wrap="square" lIns="76200" rIns="76200" tIns="38100" bIns="38100"/>
                    <a:lstStyle/>
                    <a:p>
                      <a:pPr algn="l"/>
                      <a:r>
                        <a:rPr sz="1050" b="0">
                          <a:solidFill>
                            <a:srgbClr val="E7E9EE"/>
                          </a:solidFill>
                          <a:latin typeface="Arial"/>
                        </a:rPr>
                        <a:t>Статьи для менеджеров</a:t>
                      </a:r>
                    </a:p>
                  </a:txBody>
                  <a:tcPr>
                    <a:solidFill>
                      <a:srgbClr val="0D1628"/>
                    </a:solidFill>
                  </a:tcPr>
                </a:tc>
                <a:tc>
                  <a:txBody>
                    <a:bodyPr wrap="square" lIns="76200" rIns="76200" tIns="38100" bIns="38100"/>
                    <a:lstStyle/>
                    <a:p>
                      <a:pPr algn="l"/>
                      <a:r>
                        <a:rPr sz="1050" b="0">
                          <a:solidFill>
                            <a:srgbClr val="E7E9EE"/>
                          </a:solidFill>
                          <a:latin typeface="Arial"/>
                        </a:rPr>
                        <a:t>«База знаний»</a:t>
                      </a:r>
                    </a:p>
                  </a:txBody>
                  <a:tcPr>
                    <a:solidFill>
                      <a:srgbClr val="0D1628"/>
                    </a:solidFill>
                  </a:tcPr>
                </a:tc>
              </a:tr>
            </a:tbl>
          </a:graphicData>
        </a:graphic>
      </p:graphicFrame>
      <p:sp>
        <p:nvSpPr>
          <p:cNvPr id="11" name="Rounded Rectangle 10"/>
          <p:cNvSpPr/>
          <p:nvPr/>
        </p:nvSpPr>
        <p:spPr>
          <a:xfrm>
            <a:off x="640080" y="5166360"/>
            <a:ext cx="10881360" cy="1051560"/>
          </a:xfrm>
          <a:prstGeom prst="roundRect">
            <a:avLst>
              <a:gd name="adj" fmla="val 6000"/>
            </a:avLst>
          </a:prstGeom>
          <a:solidFill>
            <a:srgbClr val="121419"/>
          </a:solidFill>
          <a:ln w="9525">
            <a:solidFill>
              <a:srgbClr val="2326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321808"/>
            <a:ext cx="10424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6366F1"/>
                </a:solidFill>
                <a:latin typeface="Arial"/>
              </a:rPr>
              <a:t>ПРИНЦИП</a:t>
            </a:r>
          </a:p>
          <a:p>
            <a:pPr algn="l"/>
            <a:r>
              <a:rPr sz="1200" b="0">
                <a:solidFill>
                  <a:srgbClr val="9AA1AE"/>
                </a:solidFill>
                <a:latin typeface="Arial"/>
              </a:rPr>
              <a:t>Менеджеры работают, админ настраивает, РОП анализирует. Продавец не может сломать настройки, админ не вмешивается в сделки.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6E7582"/>
                </a:solidFill>
                <a:latin typeface="Arial"/>
              </a:rPr>
              <a:t>GoGlobal · база знаний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79615" y="6473952"/>
            <a:ext cx="4572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>
                <a:solidFill>
                  <a:srgbClr val="6E7582"/>
                </a:solidFill>
                <a:latin typeface="Arial"/>
              </a:rPr>
              <a:t>III · Управление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C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080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11535" y="164592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E7582"/>
                </a:solidFill>
                <a:latin typeface="Arial"/>
              </a:rPr>
              <a:t>08 / 36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84048"/>
            <a:ext cx="82296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6366F1"/>
                </a:solidFill>
                <a:latin typeface="Arial"/>
              </a:rPr>
              <a:t>IV · РОЛИ И ПРАВА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58368"/>
            <a:ext cx="10911535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E7E9EE"/>
                </a:solidFill>
                <a:latin typeface="Arial"/>
              </a:rPr>
              <a:t>Четыре роли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417320"/>
            <a:ext cx="5394960" cy="2194560"/>
          </a:xfrm>
          <a:prstGeom prst="roundRect">
            <a:avLst>
              <a:gd name="adj" fmla="val 6000"/>
            </a:avLst>
          </a:prstGeom>
          <a:solidFill>
            <a:srgbClr val="121419"/>
          </a:solidFill>
          <a:ln w="9525">
            <a:solidFill>
              <a:srgbClr val="2326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554480"/>
            <a:ext cx="493776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E7E9EE"/>
                </a:solidFill>
                <a:latin typeface="Arial"/>
              </a:rPr>
              <a:t>👑  Администратор</a:t>
            </a:r>
          </a:p>
          <a:p>
            <a:pPr algn="l"/>
            <a:r>
              <a:rPr sz="1050" b="0">
                <a:solidFill>
                  <a:srgbClr val="6E7582"/>
                </a:solidFill>
                <a:latin typeface="Arial"/>
              </a:rPr>
              <a:t>Хозяин системы · 1-2 человека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194560"/>
            <a:ext cx="49377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050" b="1">
                <a:solidFill>
                  <a:srgbClr val="6366F1"/>
                </a:solidFill>
                <a:latin typeface="Arial"/>
              </a:rPr>
              <a:t>•  </a:t>
            </a:r>
            <a:r>
              <a:rPr sz="1050" b="0">
                <a:solidFill>
                  <a:srgbClr val="9AA1AE"/>
                </a:solidFill>
                <a:latin typeface="Arial"/>
              </a:rPr>
              <a:t>Создаёт сотрудников, назначает роли</a:t>
            </a:r>
          </a:p>
          <a:p>
            <a:pPr>
              <a:spcAft>
                <a:spcPts val="400"/>
              </a:spcAft>
            </a:pPr>
            <a:r>
              <a:rPr sz="1050" b="1">
                <a:solidFill>
                  <a:srgbClr val="6366F1"/>
                </a:solidFill>
                <a:latin typeface="Arial"/>
              </a:rPr>
              <a:t>•  </a:t>
            </a:r>
            <a:r>
              <a:rPr sz="1050" b="0">
                <a:solidFill>
                  <a:srgbClr val="9AA1AE"/>
                </a:solidFill>
                <a:latin typeface="Arial"/>
              </a:rPr>
              <a:t>Меняет контент сайта без программиста</a:t>
            </a:r>
          </a:p>
          <a:p>
            <a:pPr>
              <a:spcAft>
                <a:spcPts val="400"/>
              </a:spcAft>
            </a:pPr>
            <a:r>
              <a:rPr sz="1050" b="1">
                <a:solidFill>
                  <a:srgbClr val="6366F1"/>
                </a:solidFill>
                <a:latin typeface="Arial"/>
              </a:rPr>
              <a:t>•  </a:t>
            </a:r>
            <a:r>
              <a:rPr sz="1050" b="0">
                <a:solidFill>
                  <a:srgbClr val="9AA1AE"/>
                </a:solidFill>
                <a:latin typeface="Arial"/>
              </a:rPr>
              <a:t>Настраивает воронку, шаблоны, авто-правила</a:t>
            </a:r>
          </a:p>
          <a:p>
            <a:pPr>
              <a:spcAft>
                <a:spcPts val="400"/>
              </a:spcAft>
            </a:pPr>
            <a:r>
              <a:rPr sz="1050" b="1">
                <a:solidFill>
                  <a:srgbClr val="6366F1"/>
                </a:solidFill>
                <a:latin typeface="Arial"/>
              </a:rPr>
              <a:t>•  </a:t>
            </a:r>
            <a:r>
              <a:rPr sz="1050" b="0">
                <a:solidFill>
                  <a:srgbClr val="9AA1AE"/>
                </a:solidFill>
                <a:latin typeface="Arial"/>
              </a:rPr>
              <a:t>Резервные копии раз в месяц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1417320"/>
            <a:ext cx="5394960" cy="2194560"/>
          </a:xfrm>
          <a:prstGeom prst="roundRect">
            <a:avLst>
              <a:gd name="adj" fmla="val 6000"/>
            </a:avLst>
          </a:prstGeom>
          <a:solidFill>
            <a:srgbClr val="121419"/>
          </a:solidFill>
          <a:ln w="9525">
            <a:solidFill>
              <a:srgbClr val="2326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46520" y="1554480"/>
            <a:ext cx="493776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E7E9EE"/>
                </a:solidFill>
                <a:latin typeface="Arial"/>
              </a:rPr>
              <a:t>📈  РОП / Тимлид</a:t>
            </a:r>
          </a:p>
          <a:p>
            <a:pPr algn="l"/>
            <a:r>
              <a:rPr sz="1050" b="0">
                <a:solidFill>
                  <a:srgbClr val="6E7582"/>
                </a:solidFill>
                <a:latin typeface="Arial"/>
              </a:rPr>
              <a:t>Руководитель отдела продаж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46520" y="2194560"/>
            <a:ext cx="49377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050" b="1">
                <a:solidFill>
                  <a:srgbClr val="6366F1"/>
                </a:solidFill>
                <a:latin typeface="Arial"/>
              </a:rPr>
              <a:t>•  </a:t>
            </a:r>
            <a:r>
              <a:rPr sz="1050" b="0">
                <a:solidFill>
                  <a:srgbClr val="9AA1AE"/>
                </a:solidFill>
                <a:latin typeface="Arial"/>
              </a:rPr>
              <a:t>Видит лиды всех менеджеров</a:t>
            </a:r>
          </a:p>
          <a:p>
            <a:pPr>
              <a:spcAft>
                <a:spcPts val="400"/>
              </a:spcAft>
            </a:pPr>
            <a:r>
              <a:rPr sz="1050" b="1">
                <a:solidFill>
                  <a:srgbClr val="6366F1"/>
                </a:solidFill>
                <a:latin typeface="Arial"/>
              </a:rPr>
              <a:t>•  </a:t>
            </a:r>
            <a:r>
              <a:rPr sz="1050" b="0">
                <a:solidFill>
                  <a:srgbClr val="9AA1AE"/>
                </a:solidFill>
                <a:latin typeface="Arial"/>
              </a:rPr>
              <a:t>Переназначает, передаёт, удаляет лиды</a:t>
            </a:r>
          </a:p>
          <a:p>
            <a:pPr>
              <a:spcAft>
                <a:spcPts val="400"/>
              </a:spcAft>
            </a:pPr>
            <a:r>
              <a:rPr sz="1050" b="1">
                <a:solidFill>
                  <a:srgbClr val="6366F1"/>
                </a:solidFill>
                <a:latin typeface="Arial"/>
              </a:rPr>
              <a:t>•  </a:t>
            </a:r>
            <a:r>
              <a:rPr sz="1050" b="0">
                <a:solidFill>
                  <a:srgbClr val="9AA1AE"/>
                </a:solidFill>
                <a:latin typeface="Arial"/>
              </a:rPr>
              <a:t>Утренний отчёт в Telegram в 09:00</a:t>
            </a:r>
          </a:p>
          <a:p>
            <a:pPr>
              <a:spcAft>
                <a:spcPts val="400"/>
              </a:spcAft>
            </a:pPr>
            <a:r>
              <a:rPr sz="1050" b="1">
                <a:solidFill>
                  <a:srgbClr val="6366F1"/>
                </a:solidFill>
                <a:latin typeface="Arial"/>
              </a:rPr>
              <a:t>•  </a:t>
            </a:r>
            <a:r>
              <a:rPr sz="1050" b="0">
                <a:solidFill>
                  <a:srgbClr val="9AA1AE"/>
                </a:solidFill>
                <a:latin typeface="Arial"/>
              </a:rPr>
              <a:t>1-на-1 встречи по готовым отчётам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794760"/>
            <a:ext cx="5394960" cy="2194560"/>
          </a:xfrm>
          <a:prstGeom prst="roundRect">
            <a:avLst>
              <a:gd name="adj" fmla="val 6000"/>
            </a:avLst>
          </a:prstGeom>
          <a:solidFill>
            <a:srgbClr val="121419"/>
          </a:solidFill>
          <a:ln w="9525">
            <a:solidFill>
              <a:srgbClr val="2326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" y="3931920"/>
            <a:ext cx="493776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E7E9EE"/>
                </a:solidFill>
                <a:latin typeface="Arial"/>
              </a:rPr>
              <a:t>💼  Менеджер</a:t>
            </a:r>
          </a:p>
          <a:p>
            <a:pPr algn="l"/>
            <a:r>
              <a:rPr sz="1050" b="0">
                <a:solidFill>
                  <a:srgbClr val="6E7582"/>
                </a:solidFill>
                <a:latin typeface="Arial"/>
              </a:rPr>
              <a:t>Продавец · основная роль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4572000"/>
            <a:ext cx="49377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050" b="1">
                <a:solidFill>
                  <a:srgbClr val="6366F1"/>
                </a:solidFill>
                <a:latin typeface="Arial"/>
              </a:rPr>
              <a:t>•  </a:t>
            </a:r>
            <a:r>
              <a:rPr sz="1050" b="0">
                <a:solidFill>
                  <a:srgbClr val="9AA1AE"/>
                </a:solidFill>
                <a:latin typeface="Arial"/>
              </a:rPr>
              <a:t>Видит только свои лиды</a:t>
            </a:r>
          </a:p>
          <a:p>
            <a:pPr>
              <a:spcAft>
                <a:spcPts val="400"/>
              </a:spcAft>
            </a:pPr>
            <a:r>
              <a:rPr sz="1050" b="1">
                <a:solidFill>
                  <a:srgbClr val="6366F1"/>
                </a:solidFill>
                <a:latin typeface="Arial"/>
              </a:rPr>
              <a:t>•  </a:t>
            </a:r>
            <a:r>
              <a:rPr sz="1050" b="0">
                <a:solidFill>
                  <a:srgbClr val="9AA1AE"/>
                </a:solidFill>
                <a:latin typeface="Arial"/>
              </a:rPr>
              <a:t>Чат, задачи, документы, статусы, сделки</a:t>
            </a:r>
          </a:p>
          <a:p>
            <a:pPr>
              <a:spcAft>
                <a:spcPts val="400"/>
              </a:spcAft>
            </a:pPr>
            <a:r>
              <a:rPr sz="1050" b="1">
                <a:solidFill>
                  <a:srgbClr val="6366F1"/>
                </a:solidFill>
                <a:latin typeface="Arial"/>
              </a:rPr>
              <a:t>•  </a:t>
            </a:r>
            <a:r>
              <a:rPr sz="1050" b="0">
                <a:solidFill>
                  <a:srgbClr val="9AA1AE"/>
                </a:solidFill>
                <a:latin typeface="Arial"/>
              </a:rPr>
              <a:t>Шаблоны WhatsApp в один клик</a:t>
            </a:r>
          </a:p>
          <a:p>
            <a:pPr>
              <a:spcAft>
                <a:spcPts val="400"/>
              </a:spcAft>
            </a:pPr>
            <a:r>
              <a:rPr sz="1050" b="1">
                <a:solidFill>
                  <a:srgbClr val="6366F1"/>
                </a:solidFill>
                <a:latin typeface="Arial"/>
              </a:rPr>
              <a:t>•  </a:t>
            </a:r>
            <a:r>
              <a:rPr sz="1050" b="0">
                <a:solidFill>
                  <a:srgbClr val="9AA1AE"/>
                </a:solidFill>
                <a:latin typeface="Arial"/>
              </a:rPr>
              <a:t>Передача лида коллеге (10 мин на принятие)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17920" y="3794760"/>
            <a:ext cx="5394960" cy="2194560"/>
          </a:xfrm>
          <a:prstGeom prst="roundRect">
            <a:avLst>
              <a:gd name="adj" fmla="val 6000"/>
            </a:avLst>
          </a:prstGeom>
          <a:solidFill>
            <a:srgbClr val="121419"/>
          </a:solidFill>
          <a:ln w="9525">
            <a:solidFill>
              <a:srgbClr val="2326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46520" y="3931920"/>
            <a:ext cx="493776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E7E9EE"/>
                </a:solidFill>
                <a:latin typeface="Arial"/>
              </a:rPr>
              <a:t>🤝  Партнёр</a:t>
            </a:r>
          </a:p>
          <a:p>
            <a:pPr algn="l"/>
            <a:r>
              <a:rPr sz="1050" b="0">
                <a:solidFill>
                  <a:srgbClr val="6E7582"/>
                </a:solidFill>
                <a:latin typeface="Arial"/>
              </a:rPr>
              <a:t>Внешний агент · рефералы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46520" y="4572000"/>
            <a:ext cx="49377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050" b="1">
                <a:solidFill>
                  <a:srgbClr val="6366F1"/>
                </a:solidFill>
                <a:latin typeface="Arial"/>
              </a:rPr>
              <a:t>•  </a:t>
            </a:r>
            <a:r>
              <a:rPr sz="1050" b="0">
                <a:solidFill>
                  <a:srgbClr val="9AA1AE"/>
                </a:solidFill>
                <a:latin typeface="Arial"/>
              </a:rPr>
              <a:t>Только создаёт лидов</a:t>
            </a:r>
          </a:p>
          <a:p>
            <a:pPr>
              <a:spcAft>
                <a:spcPts val="400"/>
              </a:spcAft>
            </a:pPr>
            <a:r>
              <a:rPr sz="1050" b="1">
                <a:solidFill>
                  <a:srgbClr val="6366F1"/>
                </a:solidFill>
                <a:latin typeface="Arial"/>
              </a:rPr>
              <a:t>•  </a:t>
            </a:r>
            <a:r>
              <a:rPr sz="1050" b="0">
                <a:solidFill>
                  <a:srgbClr val="9AA1AE"/>
                </a:solidFill>
                <a:latin typeface="Arial"/>
              </a:rPr>
              <a:t>Видит только тех, кого привёл сам</a:t>
            </a:r>
          </a:p>
          <a:p>
            <a:pPr>
              <a:spcAft>
                <a:spcPts val="400"/>
              </a:spcAft>
            </a:pPr>
            <a:r>
              <a:rPr sz="1050" b="1">
                <a:solidFill>
                  <a:srgbClr val="6366F1"/>
                </a:solidFill>
                <a:latin typeface="Arial"/>
              </a:rPr>
              <a:t>•  </a:t>
            </a:r>
            <a:r>
              <a:rPr sz="1050" b="0">
                <a:solidFill>
                  <a:srgbClr val="9AA1AE"/>
                </a:solidFill>
                <a:latin typeface="Arial"/>
              </a:rPr>
              <a:t>Отслеживает свою комиссию</a:t>
            </a:r>
          </a:p>
          <a:p>
            <a:pPr>
              <a:spcAft>
                <a:spcPts val="400"/>
              </a:spcAft>
            </a:pPr>
            <a:r>
              <a:rPr sz="1050" b="1">
                <a:solidFill>
                  <a:srgbClr val="6366F1"/>
                </a:solidFill>
                <a:latin typeface="Arial"/>
              </a:rPr>
              <a:t>•  </a:t>
            </a:r>
            <a:r>
              <a:rPr sz="1050" b="0">
                <a:solidFill>
                  <a:srgbClr val="9AA1AE"/>
                </a:solidFill>
                <a:latin typeface="Arial"/>
              </a:rPr>
              <a:t>Нет доступа к чужой базе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6E7582"/>
                </a:solidFill>
                <a:latin typeface="Arial"/>
              </a:rPr>
              <a:t>GoGlobal · база знаний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79615" y="6473952"/>
            <a:ext cx="4572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>
                <a:solidFill>
                  <a:srgbClr val="6E7582"/>
                </a:solidFill>
                <a:latin typeface="Arial"/>
              </a:rPr>
              <a:t>IV · Роли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C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080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11535" y="164592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E7582"/>
                </a:solidFill>
                <a:latin typeface="Arial"/>
              </a:rPr>
              <a:t>09 / 36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84048"/>
            <a:ext cx="82296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6366F1"/>
                </a:solidFill>
                <a:latin typeface="Arial"/>
              </a:rPr>
              <a:t>IV · РОЛИ И ПРАВА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58368"/>
            <a:ext cx="10911535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E7E9EE"/>
                </a:solidFill>
                <a:latin typeface="Arial"/>
              </a:rPr>
              <a:t>Матрица прав — кто что может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417320"/>
          <a:ext cx="10881358" cy="396240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3264408"/>
                <a:gridCol w="1741017"/>
                <a:gridCol w="1741017"/>
                <a:gridCol w="2176272"/>
                <a:gridCol w="1958644"/>
              </a:tblGrid>
              <a:tr h="304800">
                <a:tc>
                  <a:txBody>
                    <a:bodyPr wrap="square" lIns="76200" rIns="76200" tIns="38100" bIns="38100"/>
                    <a:lstStyle/>
                    <a:p>
                      <a:pPr algn="l"/>
                      <a:r>
                        <a:rPr sz="950" b="1">
                          <a:solidFill>
                            <a:srgbClr val="9AA1AE"/>
                          </a:solidFill>
                          <a:latin typeface="Arial"/>
                        </a:rPr>
                        <a:t>Действие</a:t>
                      </a:r>
                    </a:p>
                  </a:txBody>
                  <a:tcPr>
                    <a:solidFill>
                      <a:srgbClr val="121419"/>
                    </a:solidFill>
                  </a:tcPr>
                </a:tc>
                <a:tc>
                  <a:txBody>
                    <a:bodyPr wrap="square" lIns="76200" rIns="76200" tIns="38100" bIns="38100"/>
                    <a:lstStyle/>
                    <a:p>
                      <a:pPr algn="l"/>
                      <a:r>
                        <a:rPr sz="950" b="1">
                          <a:solidFill>
                            <a:srgbClr val="9AA1AE"/>
                          </a:solidFill>
                          <a:latin typeface="Arial"/>
                        </a:rPr>
                        <a:t>Админ</a:t>
                      </a:r>
                    </a:p>
                  </a:txBody>
                  <a:tcPr>
                    <a:solidFill>
                      <a:srgbClr val="121419"/>
                    </a:solidFill>
                  </a:tcPr>
                </a:tc>
                <a:tc>
                  <a:txBody>
                    <a:bodyPr wrap="square" lIns="76200" rIns="76200" tIns="38100" bIns="38100"/>
                    <a:lstStyle/>
                    <a:p>
                      <a:pPr algn="l"/>
                      <a:r>
                        <a:rPr sz="950" b="1">
                          <a:solidFill>
                            <a:srgbClr val="9AA1AE"/>
                          </a:solidFill>
                          <a:latin typeface="Arial"/>
                        </a:rPr>
                        <a:t>РОП</a:t>
                      </a:r>
                    </a:p>
                  </a:txBody>
                  <a:tcPr>
                    <a:solidFill>
                      <a:srgbClr val="121419"/>
                    </a:solidFill>
                  </a:tcPr>
                </a:tc>
                <a:tc>
                  <a:txBody>
                    <a:bodyPr wrap="square" lIns="76200" rIns="76200" tIns="38100" bIns="38100"/>
                    <a:lstStyle/>
                    <a:p>
                      <a:pPr algn="l"/>
                      <a:r>
                        <a:rPr sz="950" b="1">
                          <a:solidFill>
                            <a:srgbClr val="9AA1AE"/>
                          </a:solidFill>
                          <a:latin typeface="Arial"/>
                        </a:rPr>
                        <a:t>Менеджер</a:t>
                      </a:r>
                    </a:p>
                  </a:txBody>
                  <a:tcPr>
                    <a:solidFill>
                      <a:srgbClr val="121419"/>
                    </a:solidFill>
                  </a:tcPr>
                </a:tc>
                <a:tc>
                  <a:txBody>
                    <a:bodyPr wrap="square" lIns="76200" rIns="76200" tIns="38100" bIns="38100"/>
                    <a:lstStyle/>
                    <a:p>
                      <a:pPr algn="l"/>
                      <a:r>
                        <a:rPr sz="950" b="1">
                          <a:solidFill>
                            <a:srgbClr val="9AA1AE"/>
                          </a:solidFill>
                          <a:latin typeface="Arial"/>
                        </a:rPr>
                        <a:t>Партнёр</a:t>
                      </a:r>
                    </a:p>
                  </a:txBody>
                  <a:tcPr>
                    <a:solidFill>
                      <a:srgbClr val="121419"/>
                    </a:solidFill>
                  </a:tcPr>
                </a:tc>
              </a:tr>
              <a:tr h="304800">
                <a:tc>
                  <a:txBody>
                    <a:bodyPr wrap="square" lIns="76200" rIns="76200" tIns="38100" bIns="38100"/>
                    <a:lstStyle/>
                    <a:p>
                      <a:pPr algn="l"/>
                      <a:r>
                        <a:rPr sz="1050" b="0">
                          <a:solidFill>
                            <a:srgbClr val="E7E9EE"/>
                          </a:solidFill>
                          <a:latin typeface="Arial"/>
                        </a:rPr>
                        <a:t>Вход в админ-панель</a:t>
                      </a:r>
                    </a:p>
                  </a:txBody>
                  <a:tcPr>
                    <a:solidFill>
                      <a:srgbClr val="0B0C0F"/>
                    </a:solidFill>
                  </a:tcPr>
                </a:tc>
                <a:tc>
                  <a:txBody>
                    <a:bodyPr wrap="square" lIns="76200" rIns="76200" tIns="38100" bIns="38100"/>
                    <a:lstStyle/>
                    <a:p>
                      <a:pPr algn="l"/>
                      <a:r>
                        <a:rPr sz="1050" b="1">
                          <a:solidFill>
                            <a:srgbClr val="86EFAC"/>
                          </a:solidFill>
                          <a:latin typeface="Arial"/>
                        </a:rPr>
                        <a:t>✓</a:t>
                      </a:r>
                    </a:p>
                  </a:txBody>
                  <a:tcPr>
                    <a:solidFill>
                      <a:srgbClr val="0B0C0F"/>
                    </a:solidFill>
                  </a:tcPr>
                </a:tc>
                <a:tc>
                  <a:txBody>
                    <a:bodyPr wrap="square" lIns="76200" rIns="76200" tIns="38100" bIns="38100"/>
                    <a:lstStyle/>
                    <a:p>
                      <a:pPr algn="l"/>
                      <a:r>
                        <a:rPr sz="1050" b="1">
                          <a:solidFill>
                            <a:srgbClr val="86EFAC"/>
                          </a:solidFill>
                          <a:latin typeface="Arial"/>
                        </a:rPr>
                        <a:t>✓</a:t>
                      </a:r>
                    </a:p>
                  </a:txBody>
                  <a:tcPr>
                    <a:solidFill>
                      <a:srgbClr val="0B0C0F"/>
                    </a:solidFill>
                  </a:tcPr>
                </a:tc>
                <a:tc>
                  <a:txBody>
                    <a:bodyPr wrap="square" lIns="76200" rIns="76200" tIns="38100" bIns="38100"/>
                    <a:lstStyle/>
                    <a:p>
                      <a:pPr algn="l"/>
                      <a:r>
                        <a:rPr sz="1050" b="0">
                          <a:solidFill>
                            <a:srgbClr val="6E7582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>
                    <a:solidFill>
                      <a:srgbClr val="0B0C0F"/>
                    </a:solidFill>
                  </a:tcPr>
                </a:tc>
                <a:tc>
                  <a:txBody>
                    <a:bodyPr wrap="square" lIns="76200" rIns="76200" tIns="38100" bIns="38100"/>
                    <a:lstStyle/>
                    <a:p>
                      <a:pPr algn="l"/>
                      <a:r>
                        <a:rPr sz="1050" b="0">
                          <a:solidFill>
                            <a:srgbClr val="6E7582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>
                    <a:solidFill>
                      <a:srgbClr val="0B0C0F"/>
                    </a:solidFill>
                  </a:tcPr>
                </a:tc>
              </a:tr>
              <a:tr h="304800">
                <a:tc>
                  <a:txBody>
                    <a:bodyPr wrap="square" lIns="76200" rIns="76200" tIns="38100" bIns="38100"/>
                    <a:lstStyle/>
                    <a:p>
                      <a:pPr algn="l"/>
                      <a:r>
                        <a:rPr sz="1050" b="0">
                          <a:solidFill>
                            <a:srgbClr val="E7E9EE"/>
                          </a:solidFill>
                          <a:latin typeface="Arial"/>
                        </a:rPr>
                        <a:t>Вход в CRM</a:t>
                      </a:r>
                    </a:p>
                  </a:txBody>
                  <a:tcPr>
                    <a:solidFill>
                      <a:srgbClr val="0D1628"/>
                    </a:solidFill>
                  </a:tcPr>
                </a:tc>
                <a:tc>
                  <a:txBody>
                    <a:bodyPr wrap="square" lIns="76200" rIns="76200" tIns="38100" bIns="38100"/>
                    <a:lstStyle/>
                    <a:p>
                      <a:pPr algn="l"/>
                      <a:r>
                        <a:rPr sz="1050" b="0">
                          <a:solidFill>
                            <a:srgbClr val="6E7582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>
                    <a:solidFill>
                      <a:srgbClr val="0D1628"/>
                    </a:solidFill>
                  </a:tcPr>
                </a:tc>
                <a:tc>
                  <a:txBody>
                    <a:bodyPr wrap="square" lIns="76200" rIns="76200" tIns="38100" bIns="38100"/>
                    <a:lstStyle/>
                    <a:p>
                      <a:pPr algn="l"/>
                      <a:r>
                        <a:rPr sz="1050" b="1">
                          <a:solidFill>
                            <a:srgbClr val="86EFAC"/>
                          </a:solidFill>
                          <a:latin typeface="Arial"/>
                        </a:rPr>
                        <a:t>✓</a:t>
                      </a:r>
                    </a:p>
                  </a:txBody>
                  <a:tcPr>
                    <a:solidFill>
                      <a:srgbClr val="0D1628"/>
                    </a:solidFill>
                  </a:tcPr>
                </a:tc>
                <a:tc>
                  <a:txBody>
                    <a:bodyPr wrap="square" lIns="76200" rIns="76200" tIns="38100" bIns="38100"/>
                    <a:lstStyle/>
                    <a:p>
                      <a:pPr algn="l"/>
                      <a:r>
                        <a:rPr sz="1050" b="1">
                          <a:solidFill>
                            <a:srgbClr val="86EFAC"/>
                          </a:solidFill>
                          <a:latin typeface="Arial"/>
                        </a:rPr>
                        <a:t>✓</a:t>
                      </a:r>
                    </a:p>
                  </a:txBody>
                  <a:tcPr>
                    <a:solidFill>
                      <a:srgbClr val="0D1628"/>
                    </a:solidFill>
                  </a:tcPr>
                </a:tc>
                <a:tc>
                  <a:txBody>
                    <a:bodyPr wrap="square" lIns="76200" rIns="76200" tIns="38100" bIns="38100"/>
                    <a:lstStyle/>
                    <a:p>
                      <a:pPr algn="l"/>
                      <a:r>
                        <a:rPr sz="1050" b="1">
                          <a:solidFill>
                            <a:srgbClr val="86EFAC"/>
                          </a:solidFill>
                          <a:latin typeface="Arial"/>
                        </a:rPr>
                        <a:t>✓</a:t>
                      </a:r>
                    </a:p>
                  </a:txBody>
                  <a:tcPr>
                    <a:solidFill>
                      <a:srgbClr val="0D1628"/>
                    </a:solidFill>
                  </a:tcPr>
                </a:tc>
              </a:tr>
              <a:tr h="304800">
                <a:tc>
                  <a:txBody>
                    <a:bodyPr wrap="square" lIns="76200" rIns="76200" tIns="38100" bIns="38100"/>
                    <a:lstStyle/>
                    <a:p>
                      <a:pPr algn="l"/>
                      <a:r>
                        <a:rPr sz="1050" b="0">
                          <a:solidFill>
                            <a:srgbClr val="E7E9EE"/>
                          </a:solidFill>
                          <a:latin typeface="Arial"/>
                        </a:rPr>
                        <a:t>Видеть все лиды</a:t>
                      </a:r>
                    </a:p>
                  </a:txBody>
                  <a:tcPr>
                    <a:solidFill>
                      <a:srgbClr val="0B0C0F"/>
                    </a:solidFill>
                  </a:tcPr>
                </a:tc>
                <a:tc>
                  <a:txBody>
                    <a:bodyPr wrap="square" lIns="76200" rIns="76200" tIns="38100" bIns="38100"/>
                    <a:lstStyle/>
                    <a:p>
                      <a:pPr algn="l"/>
                      <a:r>
                        <a:rPr sz="1050" b="0">
                          <a:solidFill>
                            <a:srgbClr val="FDE68A"/>
                          </a:solidFill>
                          <a:latin typeface="Arial"/>
                        </a:rPr>
                        <a:t>через админку</a:t>
                      </a:r>
                    </a:p>
                  </a:txBody>
                  <a:tcPr>
                    <a:solidFill>
                      <a:srgbClr val="0B0C0F"/>
                    </a:solidFill>
                  </a:tcPr>
                </a:tc>
                <a:tc>
                  <a:txBody>
                    <a:bodyPr wrap="square" lIns="76200" rIns="76200" tIns="38100" bIns="38100"/>
                    <a:lstStyle/>
                    <a:p>
                      <a:pPr algn="l"/>
                      <a:r>
                        <a:rPr sz="1050" b="1">
                          <a:solidFill>
                            <a:srgbClr val="86EFAC"/>
                          </a:solidFill>
                          <a:latin typeface="Arial"/>
                        </a:rPr>
                        <a:t>✓</a:t>
                      </a:r>
                    </a:p>
                  </a:txBody>
                  <a:tcPr>
                    <a:solidFill>
                      <a:srgbClr val="0B0C0F"/>
                    </a:solidFill>
                  </a:tcPr>
                </a:tc>
                <a:tc>
                  <a:txBody>
                    <a:bodyPr wrap="square" lIns="76200" rIns="76200" tIns="38100" bIns="38100"/>
                    <a:lstStyle/>
                    <a:p>
                      <a:pPr algn="l"/>
                      <a:r>
                        <a:rPr sz="1050" b="0">
                          <a:solidFill>
                            <a:srgbClr val="6E7582"/>
                          </a:solidFill>
                          <a:latin typeface="Arial"/>
                        </a:rPr>
                        <a:t>только свои</a:t>
                      </a:r>
                    </a:p>
                  </a:txBody>
                  <a:tcPr>
                    <a:solidFill>
                      <a:srgbClr val="0B0C0F"/>
                    </a:solidFill>
                  </a:tcPr>
                </a:tc>
                <a:tc>
                  <a:txBody>
                    <a:bodyPr wrap="square" lIns="76200" rIns="76200" tIns="38100" bIns="38100"/>
                    <a:lstStyle/>
                    <a:p>
                      <a:pPr algn="l"/>
                      <a:r>
                        <a:rPr sz="1050" b="0">
                          <a:solidFill>
                            <a:srgbClr val="6E7582"/>
                          </a:solidFill>
                          <a:latin typeface="Arial"/>
                        </a:rPr>
                        <a:t>только свои</a:t>
                      </a:r>
                    </a:p>
                  </a:txBody>
                  <a:tcPr>
                    <a:solidFill>
                      <a:srgbClr val="0B0C0F"/>
                    </a:solidFill>
                  </a:tcPr>
                </a:tc>
              </a:tr>
              <a:tr h="304800">
                <a:tc>
                  <a:txBody>
                    <a:bodyPr wrap="square" lIns="76200" rIns="76200" tIns="38100" bIns="38100"/>
                    <a:lstStyle/>
                    <a:p>
                      <a:pPr algn="l"/>
                      <a:r>
                        <a:rPr sz="1050" b="0">
                          <a:solidFill>
                            <a:srgbClr val="E7E9EE"/>
                          </a:solidFill>
                          <a:latin typeface="Arial"/>
                        </a:rPr>
                        <a:t>Создавать лидов вручную</a:t>
                      </a:r>
                    </a:p>
                  </a:txBody>
                  <a:tcPr>
                    <a:solidFill>
                      <a:srgbClr val="0D1628"/>
                    </a:solidFill>
                  </a:tcPr>
                </a:tc>
                <a:tc>
                  <a:txBody>
                    <a:bodyPr wrap="square" lIns="76200" rIns="76200" tIns="38100" bIns="38100"/>
                    <a:lstStyle/>
                    <a:p>
                      <a:pPr algn="l"/>
                      <a:r>
                        <a:rPr sz="1050" b="0">
                          <a:solidFill>
                            <a:srgbClr val="6E7582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>
                    <a:solidFill>
                      <a:srgbClr val="0D1628"/>
                    </a:solidFill>
                  </a:tcPr>
                </a:tc>
                <a:tc>
                  <a:txBody>
                    <a:bodyPr wrap="square" lIns="76200" rIns="76200" tIns="38100" bIns="38100"/>
                    <a:lstStyle/>
                    <a:p>
                      <a:pPr algn="l"/>
                      <a:r>
                        <a:rPr sz="1050" b="1">
                          <a:solidFill>
                            <a:srgbClr val="86EFAC"/>
                          </a:solidFill>
                          <a:latin typeface="Arial"/>
                        </a:rPr>
                        <a:t>✓</a:t>
                      </a:r>
                    </a:p>
                  </a:txBody>
                  <a:tcPr>
                    <a:solidFill>
                      <a:srgbClr val="0D1628"/>
                    </a:solidFill>
                  </a:tcPr>
                </a:tc>
                <a:tc>
                  <a:txBody>
                    <a:bodyPr wrap="square" lIns="76200" rIns="76200" tIns="38100" bIns="38100"/>
                    <a:lstStyle/>
                    <a:p>
                      <a:pPr algn="l"/>
                      <a:r>
                        <a:rPr sz="1050" b="1">
                          <a:solidFill>
                            <a:srgbClr val="86EFAC"/>
                          </a:solidFill>
                          <a:latin typeface="Arial"/>
                        </a:rPr>
                        <a:t>✓</a:t>
                      </a:r>
                    </a:p>
                  </a:txBody>
                  <a:tcPr>
                    <a:solidFill>
                      <a:srgbClr val="0D1628"/>
                    </a:solidFill>
                  </a:tcPr>
                </a:tc>
                <a:tc>
                  <a:txBody>
                    <a:bodyPr wrap="square" lIns="76200" rIns="76200" tIns="38100" bIns="38100"/>
                    <a:lstStyle/>
                    <a:p>
                      <a:pPr algn="l"/>
                      <a:r>
                        <a:rPr sz="1050" b="1">
                          <a:solidFill>
                            <a:srgbClr val="86EFAC"/>
                          </a:solidFill>
                          <a:latin typeface="Arial"/>
                        </a:rPr>
                        <a:t>✓</a:t>
                      </a:r>
                    </a:p>
                  </a:txBody>
                  <a:tcPr>
                    <a:solidFill>
                      <a:srgbClr val="0D1628"/>
                    </a:solidFill>
                  </a:tcPr>
                </a:tc>
              </a:tr>
              <a:tr h="304800">
                <a:tc>
                  <a:txBody>
                    <a:bodyPr wrap="square" lIns="76200" rIns="76200" tIns="38100" bIns="38100"/>
                    <a:lstStyle/>
                    <a:p>
                      <a:pPr algn="l"/>
                      <a:r>
                        <a:rPr sz="1050" b="0">
                          <a:solidFill>
                            <a:srgbClr val="E7E9EE"/>
                          </a:solidFill>
                          <a:latin typeface="Arial"/>
                        </a:rPr>
                        <a:t>Менять статус лида</a:t>
                      </a:r>
                    </a:p>
                  </a:txBody>
                  <a:tcPr>
                    <a:solidFill>
                      <a:srgbClr val="0B0C0F"/>
                    </a:solidFill>
                  </a:tcPr>
                </a:tc>
                <a:tc>
                  <a:txBody>
                    <a:bodyPr wrap="square" lIns="76200" rIns="76200" tIns="38100" bIns="38100"/>
                    <a:lstStyle/>
                    <a:p>
                      <a:pPr algn="l"/>
                      <a:r>
                        <a:rPr sz="1050" b="0">
                          <a:solidFill>
                            <a:srgbClr val="6E7582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>
                    <a:solidFill>
                      <a:srgbClr val="0B0C0F"/>
                    </a:solidFill>
                  </a:tcPr>
                </a:tc>
                <a:tc>
                  <a:txBody>
                    <a:bodyPr wrap="square" lIns="76200" rIns="76200" tIns="38100" bIns="38100"/>
                    <a:lstStyle/>
                    <a:p>
                      <a:pPr algn="l"/>
                      <a:r>
                        <a:rPr sz="1050" b="1">
                          <a:solidFill>
                            <a:srgbClr val="86EFAC"/>
                          </a:solidFill>
                          <a:latin typeface="Arial"/>
                        </a:rPr>
                        <a:t>✓ любого</a:t>
                      </a:r>
                    </a:p>
                  </a:txBody>
                  <a:tcPr>
                    <a:solidFill>
                      <a:srgbClr val="0B0C0F"/>
                    </a:solidFill>
                  </a:tcPr>
                </a:tc>
                <a:tc>
                  <a:txBody>
                    <a:bodyPr wrap="square" lIns="76200" rIns="76200" tIns="38100" bIns="38100"/>
                    <a:lstStyle/>
                    <a:p>
                      <a:pPr algn="l"/>
                      <a:r>
                        <a:rPr sz="1050" b="1">
                          <a:solidFill>
                            <a:srgbClr val="86EFAC"/>
                          </a:solidFill>
                          <a:latin typeface="Arial"/>
                        </a:rPr>
                        <a:t>✓ своего</a:t>
                      </a:r>
                    </a:p>
                  </a:txBody>
                  <a:tcPr>
                    <a:solidFill>
                      <a:srgbClr val="0B0C0F"/>
                    </a:solidFill>
                  </a:tcPr>
                </a:tc>
                <a:tc>
                  <a:txBody>
                    <a:bodyPr wrap="square" lIns="76200" rIns="76200" tIns="38100" bIns="38100"/>
                    <a:lstStyle/>
                    <a:p>
                      <a:pPr algn="l"/>
                      <a:r>
                        <a:rPr sz="1050" b="0">
                          <a:solidFill>
                            <a:srgbClr val="6E7582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>
                    <a:solidFill>
                      <a:srgbClr val="0B0C0F"/>
                    </a:solidFill>
                  </a:tcPr>
                </a:tc>
              </a:tr>
              <a:tr h="304800">
                <a:tc>
                  <a:txBody>
                    <a:bodyPr wrap="square" lIns="76200" rIns="76200" tIns="38100" bIns="38100"/>
                    <a:lstStyle/>
                    <a:p>
                      <a:pPr algn="l"/>
                      <a:r>
                        <a:rPr sz="1050" b="0">
                          <a:solidFill>
                            <a:srgbClr val="E7E9EE"/>
                          </a:solidFill>
                          <a:latin typeface="Arial"/>
                        </a:rPr>
                        <a:t>Переназначать лиды</a:t>
                      </a:r>
                    </a:p>
                  </a:txBody>
                  <a:tcPr>
                    <a:solidFill>
                      <a:srgbClr val="0D1628"/>
                    </a:solidFill>
                  </a:tcPr>
                </a:tc>
                <a:tc>
                  <a:txBody>
                    <a:bodyPr wrap="square" lIns="76200" rIns="76200" tIns="38100" bIns="38100"/>
                    <a:lstStyle/>
                    <a:p>
                      <a:pPr algn="l"/>
                      <a:r>
                        <a:rPr sz="1050" b="0">
                          <a:solidFill>
                            <a:srgbClr val="6E7582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>
                    <a:solidFill>
                      <a:srgbClr val="0D1628"/>
                    </a:solidFill>
                  </a:tcPr>
                </a:tc>
                <a:tc>
                  <a:txBody>
                    <a:bodyPr wrap="square" lIns="76200" rIns="76200" tIns="38100" bIns="38100"/>
                    <a:lstStyle/>
                    <a:p>
                      <a:pPr algn="l"/>
                      <a:r>
                        <a:rPr sz="1050" b="1">
                          <a:solidFill>
                            <a:srgbClr val="86EFAC"/>
                          </a:solidFill>
                          <a:latin typeface="Arial"/>
                        </a:rPr>
                        <a:t>✓</a:t>
                      </a:r>
                    </a:p>
                  </a:txBody>
                  <a:tcPr>
                    <a:solidFill>
                      <a:srgbClr val="0D1628"/>
                    </a:solidFill>
                  </a:tcPr>
                </a:tc>
                <a:tc>
                  <a:txBody>
                    <a:bodyPr wrap="square" lIns="76200" rIns="76200" tIns="38100" bIns="38100"/>
                    <a:lstStyle/>
                    <a:p>
                      <a:pPr algn="l"/>
                      <a:r>
                        <a:rPr sz="1050" b="0">
                          <a:solidFill>
                            <a:srgbClr val="FDE68A"/>
                          </a:solidFill>
                          <a:latin typeface="Arial"/>
                        </a:rPr>
                        <a:t>передача с согласием</a:t>
                      </a:r>
                    </a:p>
                  </a:txBody>
                  <a:tcPr>
                    <a:solidFill>
                      <a:srgbClr val="0D1628"/>
                    </a:solidFill>
                  </a:tcPr>
                </a:tc>
                <a:tc>
                  <a:txBody>
                    <a:bodyPr wrap="square" lIns="76200" rIns="76200" tIns="38100" bIns="38100"/>
                    <a:lstStyle/>
                    <a:p>
                      <a:pPr algn="l"/>
                      <a:r>
                        <a:rPr sz="1050" b="0">
                          <a:solidFill>
                            <a:srgbClr val="6E7582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>
                    <a:solidFill>
                      <a:srgbClr val="0D1628"/>
                    </a:solidFill>
                  </a:tcPr>
                </a:tc>
              </a:tr>
              <a:tr h="304800">
                <a:tc>
                  <a:txBody>
                    <a:bodyPr wrap="square" lIns="76200" rIns="76200" tIns="38100" bIns="38100"/>
                    <a:lstStyle/>
                    <a:p>
                      <a:pPr algn="l"/>
                      <a:r>
                        <a:rPr sz="1050" b="0">
                          <a:solidFill>
                            <a:srgbClr val="E7E9EE"/>
                          </a:solidFill>
                          <a:latin typeface="Arial"/>
                        </a:rPr>
                        <a:t>Удалять лиды</a:t>
                      </a:r>
                    </a:p>
                  </a:txBody>
                  <a:tcPr>
                    <a:solidFill>
                      <a:srgbClr val="0B0C0F"/>
                    </a:solidFill>
                  </a:tcPr>
                </a:tc>
                <a:tc>
                  <a:txBody>
                    <a:bodyPr wrap="square" lIns="76200" rIns="76200" tIns="38100" bIns="38100"/>
                    <a:lstStyle/>
                    <a:p>
                      <a:pPr algn="l"/>
                      <a:r>
                        <a:rPr sz="1050" b="0">
                          <a:solidFill>
                            <a:srgbClr val="6E7582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>
                    <a:solidFill>
                      <a:srgbClr val="0B0C0F"/>
                    </a:solidFill>
                  </a:tcPr>
                </a:tc>
                <a:tc>
                  <a:txBody>
                    <a:bodyPr wrap="square" lIns="76200" rIns="76200" tIns="38100" bIns="38100"/>
                    <a:lstStyle/>
                    <a:p>
                      <a:pPr algn="l"/>
                      <a:r>
                        <a:rPr sz="1050" b="1">
                          <a:solidFill>
                            <a:srgbClr val="86EFAC"/>
                          </a:solidFill>
                          <a:latin typeface="Arial"/>
                        </a:rPr>
                        <a:t>✓</a:t>
                      </a:r>
                    </a:p>
                  </a:txBody>
                  <a:tcPr>
                    <a:solidFill>
                      <a:srgbClr val="0B0C0F"/>
                    </a:solidFill>
                  </a:tcPr>
                </a:tc>
                <a:tc>
                  <a:txBody>
                    <a:bodyPr wrap="square" lIns="76200" rIns="76200" tIns="38100" bIns="38100"/>
                    <a:lstStyle/>
                    <a:p>
                      <a:pPr algn="l"/>
                      <a:r>
                        <a:rPr sz="1050" b="0">
                          <a:solidFill>
                            <a:srgbClr val="6E7582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>
                    <a:solidFill>
                      <a:srgbClr val="0B0C0F"/>
                    </a:solidFill>
                  </a:tcPr>
                </a:tc>
                <a:tc>
                  <a:txBody>
                    <a:bodyPr wrap="square" lIns="76200" rIns="76200" tIns="38100" bIns="38100"/>
                    <a:lstStyle/>
                    <a:p>
                      <a:pPr algn="l"/>
                      <a:r>
                        <a:rPr sz="1050" b="0">
                          <a:solidFill>
                            <a:srgbClr val="6E7582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>
                    <a:solidFill>
                      <a:srgbClr val="0B0C0F"/>
                    </a:solidFill>
                  </a:tcPr>
                </a:tc>
              </a:tr>
              <a:tr h="304800">
                <a:tc>
                  <a:txBody>
                    <a:bodyPr wrap="square" lIns="76200" rIns="76200" tIns="38100" bIns="38100"/>
                    <a:lstStyle/>
                    <a:p>
                      <a:pPr algn="l"/>
                      <a:r>
                        <a:rPr sz="1050" b="0">
                          <a:solidFill>
                            <a:srgbClr val="E7E9EE"/>
                          </a:solidFill>
                          <a:latin typeface="Arial"/>
                        </a:rPr>
                        <a:t>Создавать сотрудников</a:t>
                      </a:r>
                    </a:p>
                  </a:txBody>
                  <a:tcPr>
                    <a:solidFill>
                      <a:srgbClr val="0D1628"/>
                    </a:solidFill>
                  </a:tcPr>
                </a:tc>
                <a:tc>
                  <a:txBody>
                    <a:bodyPr wrap="square" lIns="76200" rIns="76200" tIns="38100" bIns="38100"/>
                    <a:lstStyle/>
                    <a:p>
                      <a:pPr algn="l"/>
                      <a:r>
                        <a:rPr sz="1050" b="1">
                          <a:solidFill>
                            <a:srgbClr val="86EFAC"/>
                          </a:solidFill>
                          <a:latin typeface="Arial"/>
                        </a:rPr>
                        <a:t>✓</a:t>
                      </a:r>
                    </a:p>
                  </a:txBody>
                  <a:tcPr>
                    <a:solidFill>
                      <a:srgbClr val="0D1628"/>
                    </a:solidFill>
                  </a:tcPr>
                </a:tc>
                <a:tc>
                  <a:txBody>
                    <a:bodyPr wrap="square" lIns="76200" rIns="76200" tIns="38100" bIns="38100"/>
                    <a:lstStyle/>
                    <a:p>
                      <a:pPr algn="l"/>
                      <a:r>
                        <a:rPr sz="1050" b="0">
                          <a:solidFill>
                            <a:srgbClr val="6E7582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>
                    <a:solidFill>
                      <a:srgbClr val="0D1628"/>
                    </a:solidFill>
                  </a:tcPr>
                </a:tc>
                <a:tc>
                  <a:txBody>
                    <a:bodyPr wrap="square" lIns="76200" rIns="76200" tIns="38100" bIns="38100"/>
                    <a:lstStyle/>
                    <a:p>
                      <a:pPr algn="l"/>
                      <a:r>
                        <a:rPr sz="1050" b="0">
                          <a:solidFill>
                            <a:srgbClr val="6E7582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>
                    <a:solidFill>
                      <a:srgbClr val="0D1628"/>
                    </a:solidFill>
                  </a:tcPr>
                </a:tc>
                <a:tc>
                  <a:txBody>
                    <a:bodyPr wrap="square" lIns="76200" rIns="76200" tIns="38100" bIns="38100"/>
                    <a:lstStyle/>
                    <a:p>
                      <a:pPr algn="l"/>
                      <a:r>
                        <a:rPr sz="1050" b="0">
                          <a:solidFill>
                            <a:srgbClr val="6E7582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>
                    <a:solidFill>
                      <a:srgbClr val="0D1628"/>
                    </a:solidFill>
                  </a:tcPr>
                </a:tc>
              </a:tr>
              <a:tr h="304800">
                <a:tc>
                  <a:txBody>
                    <a:bodyPr wrap="square" lIns="76200" rIns="76200" tIns="38100" bIns="38100"/>
                    <a:lstStyle/>
                    <a:p>
                      <a:pPr algn="l"/>
                      <a:r>
                        <a:rPr sz="1050" b="0">
                          <a:solidFill>
                            <a:srgbClr val="E7E9EE"/>
                          </a:solidFill>
                          <a:latin typeface="Arial"/>
                        </a:rPr>
                        <a:t>Менять контент сайта</a:t>
                      </a:r>
                    </a:p>
                  </a:txBody>
                  <a:tcPr>
                    <a:solidFill>
                      <a:srgbClr val="0B0C0F"/>
                    </a:solidFill>
                  </a:tcPr>
                </a:tc>
                <a:tc>
                  <a:txBody>
                    <a:bodyPr wrap="square" lIns="76200" rIns="76200" tIns="38100" bIns="38100"/>
                    <a:lstStyle/>
                    <a:p>
                      <a:pPr algn="l"/>
                      <a:r>
                        <a:rPr sz="1050" b="1">
                          <a:solidFill>
                            <a:srgbClr val="86EFAC"/>
                          </a:solidFill>
                          <a:latin typeface="Arial"/>
                        </a:rPr>
                        <a:t>✓</a:t>
                      </a:r>
                    </a:p>
                  </a:txBody>
                  <a:tcPr>
                    <a:solidFill>
                      <a:srgbClr val="0B0C0F"/>
                    </a:solidFill>
                  </a:tcPr>
                </a:tc>
                <a:tc>
                  <a:txBody>
                    <a:bodyPr wrap="square" lIns="76200" rIns="76200" tIns="38100" bIns="38100"/>
                    <a:lstStyle/>
                    <a:p>
                      <a:pPr algn="l"/>
                      <a:r>
                        <a:rPr sz="1050" b="0">
                          <a:solidFill>
                            <a:srgbClr val="6E7582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>
                    <a:solidFill>
                      <a:srgbClr val="0B0C0F"/>
                    </a:solidFill>
                  </a:tcPr>
                </a:tc>
                <a:tc>
                  <a:txBody>
                    <a:bodyPr wrap="square" lIns="76200" rIns="76200" tIns="38100" bIns="38100"/>
                    <a:lstStyle/>
                    <a:p>
                      <a:pPr algn="l"/>
                      <a:r>
                        <a:rPr sz="1050" b="0">
                          <a:solidFill>
                            <a:srgbClr val="6E7582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>
                    <a:solidFill>
                      <a:srgbClr val="0B0C0F"/>
                    </a:solidFill>
                  </a:tcPr>
                </a:tc>
                <a:tc>
                  <a:txBody>
                    <a:bodyPr wrap="square" lIns="76200" rIns="76200" tIns="38100" bIns="38100"/>
                    <a:lstStyle/>
                    <a:p>
                      <a:pPr algn="l"/>
                      <a:r>
                        <a:rPr sz="1050" b="0">
                          <a:solidFill>
                            <a:srgbClr val="6E7582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>
                    <a:solidFill>
                      <a:srgbClr val="0B0C0F"/>
                    </a:solidFill>
                  </a:tcPr>
                </a:tc>
              </a:tr>
              <a:tr h="304800">
                <a:tc>
                  <a:txBody>
                    <a:bodyPr wrap="square" lIns="76200" rIns="76200" tIns="38100" bIns="38100"/>
                    <a:lstStyle/>
                    <a:p>
                      <a:pPr algn="l"/>
                      <a:r>
                        <a:rPr sz="1050" b="0">
                          <a:solidFill>
                            <a:srgbClr val="E7E9EE"/>
                          </a:solidFill>
                          <a:latin typeface="Arial"/>
                        </a:rPr>
                        <a:t>Воронка и шаблоны</a:t>
                      </a:r>
                    </a:p>
                  </a:txBody>
                  <a:tcPr>
                    <a:solidFill>
                      <a:srgbClr val="0D1628"/>
                    </a:solidFill>
                  </a:tcPr>
                </a:tc>
                <a:tc>
                  <a:txBody>
                    <a:bodyPr wrap="square" lIns="76200" rIns="76200" tIns="38100" bIns="38100"/>
                    <a:lstStyle/>
                    <a:p>
                      <a:pPr algn="l"/>
                      <a:r>
                        <a:rPr sz="1050" b="1">
                          <a:solidFill>
                            <a:srgbClr val="86EFAC"/>
                          </a:solidFill>
                          <a:latin typeface="Arial"/>
                        </a:rPr>
                        <a:t>✓</a:t>
                      </a:r>
                    </a:p>
                  </a:txBody>
                  <a:tcPr>
                    <a:solidFill>
                      <a:srgbClr val="0D1628"/>
                    </a:solidFill>
                  </a:tcPr>
                </a:tc>
                <a:tc>
                  <a:txBody>
                    <a:bodyPr wrap="square" lIns="76200" rIns="76200" tIns="38100" bIns="38100"/>
                    <a:lstStyle/>
                    <a:p>
                      <a:pPr algn="l"/>
                      <a:r>
                        <a:rPr sz="1050" b="0">
                          <a:solidFill>
                            <a:srgbClr val="6E7582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>
                    <a:solidFill>
                      <a:srgbClr val="0D1628"/>
                    </a:solidFill>
                  </a:tcPr>
                </a:tc>
                <a:tc>
                  <a:txBody>
                    <a:bodyPr wrap="square" lIns="76200" rIns="76200" tIns="38100" bIns="38100"/>
                    <a:lstStyle/>
                    <a:p>
                      <a:pPr algn="l"/>
                      <a:r>
                        <a:rPr sz="1050" b="0">
                          <a:solidFill>
                            <a:srgbClr val="6E7582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>
                    <a:solidFill>
                      <a:srgbClr val="0D1628"/>
                    </a:solidFill>
                  </a:tcPr>
                </a:tc>
                <a:tc>
                  <a:txBody>
                    <a:bodyPr wrap="square" lIns="76200" rIns="76200" tIns="38100" bIns="38100"/>
                    <a:lstStyle/>
                    <a:p>
                      <a:pPr algn="l"/>
                      <a:r>
                        <a:rPr sz="1050" b="0">
                          <a:solidFill>
                            <a:srgbClr val="6E7582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>
                    <a:solidFill>
                      <a:srgbClr val="0D1628"/>
                    </a:solidFill>
                  </a:tcPr>
                </a:tc>
              </a:tr>
              <a:tr h="304800">
                <a:tc>
                  <a:txBody>
                    <a:bodyPr wrap="square" lIns="76200" rIns="76200" tIns="38100" bIns="38100"/>
                    <a:lstStyle/>
                    <a:p>
                      <a:pPr algn="l"/>
                      <a:r>
                        <a:rPr sz="1050" b="0">
                          <a:solidFill>
                            <a:srgbClr val="E7E9EE"/>
                          </a:solidFill>
                          <a:latin typeface="Arial"/>
                        </a:rPr>
                        <a:t>Смотреть аналитику</a:t>
                      </a:r>
                    </a:p>
                  </a:txBody>
                  <a:tcPr>
                    <a:solidFill>
                      <a:srgbClr val="0B0C0F"/>
                    </a:solidFill>
                  </a:tcPr>
                </a:tc>
                <a:tc>
                  <a:txBody>
                    <a:bodyPr wrap="square" lIns="76200" rIns="76200" tIns="38100" bIns="38100"/>
                    <a:lstStyle/>
                    <a:p>
                      <a:pPr algn="l"/>
                      <a:r>
                        <a:rPr sz="1050" b="1">
                          <a:solidFill>
                            <a:srgbClr val="86EFAC"/>
                          </a:solidFill>
                          <a:latin typeface="Arial"/>
                        </a:rPr>
                        <a:t>✓ вся</a:t>
                      </a:r>
                    </a:p>
                  </a:txBody>
                  <a:tcPr>
                    <a:solidFill>
                      <a:srgbClr val="0B0C0F"/>
                    </a:solidFill>
                  </a:tcPr>
                </a:tc>
                <a:tc>
                  <a:txBody>
                    <a:bodyPr wrap="square" lIns="76200" rIns="76200" tIns="38100" bIns="38100"/>
                    <a:lstStyle/>
                    <a:p>
                      <a:pPr algn="l"/>
                      <a:r>
                        <a:rPr sz="1050" b="1">
                          <a:solidFill>
                            <a:srgbClr val="86EFAC"/>
                          </a:solidFill>
                          <a:latin typeface="Arial"/>
                        </a:rPr>
                        <a:t>✓ вся</a:t>
                      </a:r>
                    </a:p>
                  </a:txBody>
                  <a:tcPr>
                    <a:solidFill>
                      <a:srgbClr val="0B0C0F"/>
                    </a:solidFill>
                  </a:tcPr>
                </a:tc>
                <a:tc>
                  <a:txBody>
                    <a:bodyPr wrap="square" lIns="76200" rIns="76200" tIns="38100" bIns="38100"/>
                    <a:lstStyle/>
                    <a:p>
                      <a:pPr algn="l"/>
                      <a:r>
                        <a:rPr sz="1050" b="0">
                          <a:solidFill>
                            <a:srgbClr val="FDE68A"/>
                          </a:solidFill>
                          <a:latin typeface="Arial"/>
                        </a:rPr>
                        <a:t>свой «Мой день»</a:t>
                      </a:r>
                    </a:p>
                  </a:txBody>
                  <a:tcPr>
                    <a:solidFill>
                      <a:srgbClr val="0B0C0F"/>
                    </a:solidFill>
                  </a:tcPr>
                </a:tc>
                <a:tc>
                  <a:txBody>
                    <a:bodyPr wrap="square" lIns="76200" rIns="76200" tIns="38100" bIns="38100"/>
                    <a:lstStyle/>
                    <a:p>
                      <a:pPr algn="l"/>
                      <a:r>
                        <a:rPr sz="1050" b="0">
                          <a:solidFill>
                            <a:srgbClr val="FDE68A"/>
                          </a:solidFill>
                          <a:latin typeface="Arial"/>
                        </a:rPr>
                        <a:t>своя комиссия</a:t>
                      </a:r>
                    </a:p>
                  </a:txBody>
                  <a:tcPr>
                    <a:solidFill>
                      <a:srgbClr val="0B0C0F"/>
                    </a:solidFill>
                  </a:tcPr>
                </a:tc>
              </a:tr>
              <a:tr h="304800">
                <a:tc>
                  <a:txBody>
                    <a:bodyPr wrap="square" lIns="76200" rIns="76200" tIns="38100" bIns="38100"/>
                    <a:lstStyle/>
                    <a:p>
                      <a:pPr algn="l"/>
                      <a:r>
                        <a:rPr sz="1050" b="0">
                          <a:solidFill>
                            <a:srgbClr val="E7E9EE"/>
                          </a:solidFill>
                          <a:latin typeface="Arial"/>
                        </a:rPr>
                        <a:t>Резервные копии</a:t>
                      </a:r>
                    </a:p>
                  </a:txBody>
                  <a:tcPr>
                    <a:solidFill>
                      <a:srgbClr val="0D1628"/>
                    </a:solidFill>
                  </a:tcPr>
                </a:tc>
                <a:tc>
                  <a:txBody>
                    <a:bodyPr wrap="square" lIns="76200" rIns="76200" tIns="38100" bIns="38100"/>
                    <a:lstStyle/>
                    <a:p>
                      <a:pPr algn="l"/>
                      <a:r>
                        <a:rPr sz="1050" b="1">
                          <a:solidFill>
                            <a:srgbClr val="86EFAC"/>
                          </a:solidFill>
                          <a:latin typeface="Arial"/>
                        </a:rPr>
                        <a:t>✓</a:t>
                      </a:r>
                    </a:p>
                  </a:txBody>
                  <a:tcPr>
                    <a:solidFill>
                      <a:srgbClr val="0D1628"/>
                    </a:solidFill>
                  </a:tcPr>
                </a:tc>
                <a:tc>
                  <a:txBody>
                    <a:bodyPr wrap="square" lIns="76200" rIns="76200" tIns="38100" bIns="38100"/>
                    <a:lstStyle/>
                    <a:p>
                      <a:pPr algn="l"/>
                      <a:r>
                        <a:rPr sz="1050" b="0">
                          <a:solidFill>
                            <a:srgbClr val="6E7582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>
                    <a:solidFill>
                      <a:srgbClr val="0D1628"/>
                    </a:solidFill>
                  </a:tcPr>
                </a:tc>
                <a:tc>
                  <a:txBody>
                    <a:bodyPr wrap="square" lIns="76200" rIns="76200" tIns="38100" bIns="38100"/>
                    <a:lstStyle/>
                    <a:p>
                      <a:pPr algn="l"/>
                      <a:r>
                        <a:rPr sz="1050" b="0">
                          <a:solidFill>
                            <a:srgbClr val="6E7582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>
                    <a:solidFill>
                      <a:srgbClr val="0D1628"/>
                    </a:solidFill>
                  </a:tcPr>
                </a:tc>
                <a:tc>
                  <a:txBody>
                    <a:bodyPr wrap="square" lIns="76200" rIns="76200" tIns="38100" bIns="38100"/>
                    <a:lstStyle/>
                    <a:p>
                      <a:pPr algn="l"/>
                      <a:r>
                        <a:rPr sz="1050" b="0">
                          <a:solidFill>
                            <a:srgbClr val="6E7582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>
                    <a:solidFill>
                      <a:srgbClr val="0D1628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6E7582"/>
                </a:solidFill>
                <a:latin typeface="Arial"/>
              </a:rPr>
              <a:t>GoGlobal · база знаний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79615" y="6473952"/>
            <a:ext cx="4572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>
                <a:solidFill>
                  <a:srgbClr val="6E7582"/>
                </a:solidFill>
                <a:latin typeface="Arial"/>
              </a:rPr>
              <a:t>IV · Матрица прав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C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080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11535" y="164592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E7582"/>
                </a:solidFill>
                <a:latin typeface="Arial"/>
              </a:rPr>
              <a:t>10 / 36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84048"/>
            <a:ext cx="82296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6366F1"/>
                </a:solidFill>
                <a:latin typeface="Arial"/>
              </a:rPr>
              <a:t>V · САЙТ ПО ЭКРАНАМ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58368"/>
            <a:ext cx="10911535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E7E9EE"/>
                </a:solidFill>
                <a:latin typeface="Arial"/>
              </a:rPr>
              <a:t>Семь секций сверху вниз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417320"/>
          <a:ext cx="10881358" cy="254000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597876"/>
                <a:gridCol w="2391507"/>
                <a:gridCol w="4783015"/>
                <a:gridCol w="3108960"/>
              </a:tblGrid>
              <a:tr h="317500">
                <a:tc>
                  <a:txBody>
                    <a:bodyPr wrap="square" lIns="76200" rIns="76200" tIns="38100" bIns="38100"/>
                    <a:lstStyle/>
                    <a:p>
                      <a:pPr algn="l"/>
                      <a:r>
                        <a:rPr sz="1000" b="1">
                          <a:solidFill>
                            <a:srgbClr val="9AA1AE"/>
                          </a:solidFill>
                          <a:latin typeface="Arial"/>
                        </a:rPr>
                        <a:t>#</a:t>
                      </a:r>
                    </a:p>
                  </a:txBody>
                  <a:tcPr>
                    <a:solidFill>
                      <a:srgbClr val="121419"/>
                    </a:solidFill>
                  </a:tcPr>
                </a:tc>
                <a:tc>
                  <a:txBody>
                    <a:bodyPr wrap="square" lIns="76200" rIns="76200" tIns="38100" bIns="38100"/>
                    <a:lstStyle/>
                    <a:p>
                      <a:pPr algn="l"/>
                      <a:r>
                        <a:rPr sz="1000" b="1">
                          <a:solidFill>
                            <a:srgbClr val="9AA1AE"/>
                          </a:solidFill>
                          <a:latin typeface="Arial"/>
                        </a:rPr>
                        <a:t>Секция</a:t>
                      </a:r>
                    </a:p>
                  </a:txBody>
                  <a:tcPr>
                    <a:solidFill>
                      <a:srgbClr val="121419"/>
                    </a:solidFill>
                  </a:tcPr>
                </a:tc>
                <a:tc>
                  <a:txBody>
                    <a:bodyPr wrap="square" lIns="76200" rIns="76200" tIns="38100" bIns="38100"/>
                    <a:lstStyle/>
                    <a:p>
                      <a:pPr algn="l"/>
                      <a:r>
                        <a:rPr sz="1000" b="1">
                          <a:solidFill>
                            <a:srgbClr val="9AA1AE"/>
                          </a:solidFill>
                          <a:latin typeface="Arial"/>
                        </a:rPr>
                        <a:t>Что в ней</a:t>
                      </a:r>
                    </a:p>
                  </a:txBody>
                  <a:tcPr>
                    <a:solidFill>
                      <a:srgbClr val="121419"/>
                    </a:solidFill>
                  </a:tcPr>
                </a:tc>
                <a:tc>
                  <a:txBody>
                    <a:bodyPr wrap="square" lIns="76200" rIns="76200" tIns="38100" bIns="38100"/>
                    <a:lstStyle/>
                    <a:p>
                      <a:pPr algn="l"/>
                      <a:r>
                        <a:rPr sz="1000" b="1">
                          <a:solidFill>
                            <a:srgbClr val="9AA1AE"/>
                          </a:solidFill>
                          <a:latin typeface="Arial"/>
                        </a:rPr>
                        <a:t>Зачем</a:t>
                      </a:r>
                    </a:p>
                  </a:txBody>
                  <a:tcPr>
                    <a:solidFill>
                      <a:srgbClr val="121419"/>
                    </a:solidFill>
                  </a:tcPr>
                </a:tc>
              </a:tr>
              <a:tr h="317500">
                <a:tc>
                  <a:txBody>
                    <a:bodyPr wrap="square" lIns="76200" rIns="76200" tIns="38100" bIns="38100"/>
                    <a:lstStyle/>
                    <a:p>
                      <a:pPr algn="l"/>
                      <a:r>
                        <a:rPr sz="1100" b="0">
                          <a:solidFill>
                            <a:srgbClr val="E7E9EE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>
                    <a:solidFill>
                      <a:srgbClr val="0B0C0F"/>
                    </a:solidFill>
                  </a:tcPr>
                </a:tc>
                <a:tc>
                  <a:txBody>
                    <a:bodyPr wrap="square" lIns="76200" rIns="76200" tIns="38100" bIns="38100"/>
                    <a:lstStyle/>
                    <a:p>
                      <a:pPr algn="l"/>
                      <a:r>
                        <a:rPr sz="1100" b="1">
                          <a:solidFill>
                            <a:srgbClr val="E7E9EE"/>
                          </a:solidFill>
                          <a:latin typeface="Arial"/>
                        </a:rPr>
                        <a:t>Главный экран</a:t>
                      </a:r>
                    </a:p>
                  </a:txBody>
                  <a:tcPr>
                    <a:solidFill>
                      <a:srgbClr val="0B0C0F"/>
                    </a:solidFill>
                  </a:tcPr>
                </a:tc>
                <a:tc>
                  <a:txBody>
                    <a:bodyPr wrap="square" lIns="76200" rIns="76200" tIns="38100" bIns="38100"/>
                    <a:lstStyle/>
                    <a:p>
                      <a:pPr algn="l"/>
                      <a:r>
                        <a:rPr sz="1100" b="0">
                          <a:solidFill>
                            <a:srgbClr val="E7E9EE"/>
                          </a:solidFill>
                          <a:latin typeface="Arial"/>
                        </a:rPr>
                        <a:t>Заголовок, бейдж, 2 кнопки, фото</a:t>
                      </a:r>
                    </a:p>
                  </a:txBody>
                  <a:tcPr>
                    <a:solidFill>
                      <a:srgbClr val="0B0C0F"/>
                    </a:solidFill>
                  </a:tcPr>
                </a:tc>
                <a:tc>
                  <a:txBody>
                    <a:bodyPr wrap="square" lIns="76200" rIns="76200" tIns="38100" bIns="38100"/>
                    <a:lstStyle/>
                    <a:p>
                      <a:pPr algn="l"/>
                      <a:r>
                        <a:rPr sz="1100" b="0">
                          <a:solidFill>
                            <a:srgbClr val="E7E9EE"/>
                          </a:solidFill>
                          <a:latin typeface="Arial"/>
                        </a:rPr>
                        <a:t>Зацепить за 5 секунд</a:t>
                      </a:r>
                    </a:p>
                  </a:txBody>
                  <a:tcPr>
                    <a:solidFill>
                      <a:srgbClr val="0B0C0F"/>
                    </a:solidFill>
                  </a:tcPr>
                </a:tc>
              </a:tr>
              <a:tr h="317500">
                <a:tc>
                  <a:txBody>
                    <a:bodyPr wrap="square" lIns="76200" rIns="76200" tIns="38100" bIns="38100"/>
                    <a:lstStyle/>
                    <a:p>
                      <a:pPr algn="l"/>
                      <a:r>
                        <a:rPr sz="1100" b="0">
                          <a:solidFill>
                            <a:srgbClr val="E7E9EE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>
                    <a:solidFill>
                      <a:srgbClr val="0D1628"/>
                    </a:solidFill>
                  </a:tcPr>
                </a:tc>
                <a:tc>
                  <a:txBody>
                    <a:bodyPr wrap="square" lIns="76200" rIns="76200" tIns="38100" bIns="38100"/>
                    <a:lstStyle/>
                    <a:p>
                      <a:pPr algn="l"/>
                      <a:r>
                        <a:rPr sz="1100" b="1">
                          <a:solidFill>
                            <a:srgbClr val="E7E9EE"/>
                          </a:solidFill>
                          <a:latin typeface="Arial"/>
                        </a:rPr>
                        <a:t>О компании</a:t>
                      </a:r>
                    </a:p>
                  </a:txBody>
                  <a:tcPr>
                    <a:solidFill>
                      <a:srgbClr val="0D1628"/>
                    </a:solidFill>
                  </a:tcPr>
                </a:tc>
                <a:tc>
                  <a:txBody>
                    <a:bodyPr wrap="square" lIns="76200" rIns="76200" tIns="38100" bIns="38100"/>
                    <a:lstStyle/>
                    <a:p>
                      <a:pPr algn="l"/>
                      <a:r>
                        <a:rPr sz="1100" b="0">
                          <a:solidFill>
                            <a:srgbClr val="E7E9EE"/>
                          </a:solidFill>
                          <a:latin typeface="Arial"/>
                        </a:rPr>
                        <a:t>Миссия, цифры (10+ лет, 500+ вузов), 4 услуги</a:t>
                      </a:r>
                    </a:p>
                  </a:txBody>
                  <a:tcPr>
                    <a:solidFill>
                      <a:srgbClr val="0D1628"/>
                    </a:solidFill>
                  </a:tcPr>
                </a:tc>
                <a:tc>
                  <a:txBody>
                    <a:bodyPr wrap="square" lIns="76200" rIns="76200" tIns="38100" bIns="38100"/>
                    <a:lstStyle/>
                    <a:p>
                      <a:pPr algn="l"/>
                      <a:r>
                        <a:rPr sz="1100" b="0">
                          <a:solidFill>
                            <a:srgbClr val="E7E9EE"/>
                          </a:solidFill>
                          <a:latin typeface="Arial"/>
                        </a:rPr>
                        <a:t>Доверие</a:t>
                      </a:r>
                    </a:p>
                  </a:txBody>
                  <a:tcPr>
                    <a:solidFill>
                      <a:srgbClr val="0D1628"/>
                    </a:solidFill>
                  </a:tcPr>
                </a:tc>
              </a:tr>
              <a:tr h="317500">
                <a:tc>
                  <a:txBody>
                    <a:bodyPr wrap="square" lIns="76200" rIns="76200" tIns="38100" bIns="38100"/>
                    <a:lstStyle/>
                    <a:p>
                      <a:pPr algn="l"/>
                      <a:r>
                        <a:rPr sz="1100" b="0">
                          <a:solidFill>
                            <a:srgbClr val="E7E9EE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>
                    <a:solidFill>
                      <a:srgbClr val="0B0C0F"/>
                    </a:solidFill>
                  </a:tcPr>
                </a:tc>
                <a:tc>
                  <a:txBody>
                    <a:bodyPr wrap="square" lIns="76200" rIns="76200" tIns="38100" bIns="38100"/>
                    <a:lstStyle/>
                    <a:p>
                      <a:pPr algn="l"/>
                      <a:r>
                        <a:rPr sz="1100" b="1">
                          <a:solidFill>
                            <a:srgbClr val="E7E9EE"/>
                          </a:solidFill>
                          <a:latin typeface="Arial"/>
                        </a:rPr>
                        <a:t>Партнёры</a:t>
                      </a:r>
                    </a:p>
                  </a:txBody>
                  <a:tcPr>
                    <a:solidFill>
                      <a:srgbClr val="0B0C0F"/>
                    </a:solidFill>
                  </a:tcPr>
                </a:tc>
                <a:tc>
                  <a:txBody>
                    <a:bodyPr wrap="square" lIns="76200" rIns="76200" tIns="38100" bIns="38100"/>
                    <a:lstStyle/>
                    <a:p>
                      <a:pPr algn="l"/>
                      <a:r>
                        <a:rPr sz="1100" b="0">
                          <a:solidFill>
                            <a:srgbClr val="E7E9EE"/>
                          </a:solidFill>
                          <a:latin typeface="Arial"/>
                        </a:rPr>
                        <a:t>Тёмный блок с логотипами вузов</a:t>
                      </a:r>
                    </a:p>
                  </a:txBody>
                  <a:tcPr>
                    <a:solidFill>
                      <a:srgbClr val="0B0C0F"/>
                    </a:solidFill>
                  </a:tcPr>
                </a:tc>
                <a:tc>
                  <a:txBody>
                    <a:bodyPr wrap="square" lIns="76200" rIns="76200" tIns="38100" bIns="38100"/>
                    <a:lstStyle/>
                    <a:p>
                      <a:pPr algn="l"/>
                      <a:r>
                        <a:rPr sz="1100" b="0">
                          <a:solidFill>
                            <a:srgbClr val="E7E9EE"/>
                          </a:solidFill>
                          <a:latin typeface="Arial"/>
                        </a:rPr>
                        <a:t>Статус и престиж</a:t>
                      </a:r>
                    </a:p>
                  </a:txBody>
                  <a:tcPr>
                    <a:solidFill>
                      <a:srgbClr val="0B0C0F"/>
                    </a:solidFill>
                  </a:tcPr>
                </a:tc>
              </a:tr>
              <a:tr h="317500">
                <a:tc>
                  <a:txBody>
                    <a:bodyPr wrap="square" lIns="76200" rIns="76200" tIns="38100" bIns="38100"/>
                    <a:lstStyle/>
                    <a:p>
                      <a:pPr algn="l"/>
                      <a:r>
                        <a:rPr sz="1100" b="0">
                          <a:solidFill>
                            <a:srgbClr val="E7E9EE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>
                    <a:solidFill>
                      <a:srgbClr val="0D1628"/>
                    </a:solidFill>
                  </a:tcPr>
                </a:tc>
                <a:tc>
                  <a:txBody>
                    <a:bodyPr wrap="square" lIns="76200" rIns="76200" tIns="38100" bIns="38100"/>
                    <a:lstStyle/>
                    <a:p>
                      <a:pPr algn="l"/>
                      <a:r>
                        <a:rPr sz="1100" b="1">
                          <a:solidFill>
                            <a:srgbClr val="E7E9EE"/>
                          </a:solidFill>
                          <a:latin typeface="Arial"/>
                        </a:rPr>
                        <a:t>Направления</a:t>
                      </a:r>
                    </a:p>
                  </a:txBody>
                  <a:tcPr>
                    <a:solidFill>
                      <a:srgbClr val="0D1628"/>
                    </a:solidFill>
                  </a:tcPr>
                </a:tc>
                <a:tc>
                  <a:txBody>
                    <a:bodyPr wrap="square" lIns="76200" rIns="76200" tIns="38100" bIns="38100"/>
                    <a:lstStyle/>
                    <a:p>
                      <a:pPr algn="l"/>
                      <a:r>
                        <a:rPr sz="1100" b="0">
                          <a:solidFill>
                            <a:srgbClr val="E7E9EE"/>
                          </a:solidFill>
                          <a:latin typeface="Arial"/>
                        </a:rPr>
                        <a:t>Страны с фото-каруселями вузов</a:t>
                      </a:r>
                    </a:p>
                  </a:txBody>
                  <a:tcPr>
                    <a:solidFill>
                      <a:srgbClr val="0D1628"/>
                    </a:solidFill>
                  </a:tcPr>
                </a:tc>
                <a:tc>
                  <a:txBody>
                    <a:bodyPr wrap="square" lIns="76200" rIns="76200" tIns="38100" bIns="38100"/>
                    <a:lstStyle/>
                    <a:p>
                      <a:pPr algn="l"/>
                      <a:r>
                        <a:rPr sz="1100" b="0">
                          <a:solidFill>
                            <a:srgbClr val="E7E9EE"/>
                          </a:solidFill>
                          <a:latin typeface="Arial"/>
                        </a:rPr>
                        <a:t>Выбор страны мечты</a:t>
                      </a:r>
                    </a:p>
                  </a:txBody>
                  <a:tcPr>
                    <a:solidFill>
                      <a:srgbClr val="0D1628"/>
                    </a:solidFill>
                  </a:tcPr>
                </a:tc>
              </a:tr>
              <a:tr h="317500">
                <a:tc>
                  <a:txBody>
                    <a:bodyPr wrap="square" lIns="76200" rIns="76200" tIns="38100" bIns="38100"/>
                    <a:lstStyle/>
                    <a:p>
                      <a:pPr algn="l"/>
                      <a:r>
                        <a:rPr sz="1100" b="0">
                          <a:solidFill>
                            <a:srgbClr val="E7E9EE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>
                    <a:solidFill>
                      <a:srgbClr val="0B0C0F"/>
                    </a:solidFill>
                  </a:tcPr>
                </a:tc>
                <a:tc>
                  <a:txBody>
                    <a:bodyPr wrap="square" lIns="76200" rIns="76200" tIns="38100" bIns="38100"/>
                    <a:lstStyle/>
                    <a:p>
                      <a:pPr algn="l"/>
                      <a:r>
                        <a:rPr sz="1100" b="1">
                          <a:solidFill>
                            <a:srgbClr val="E7E9EE"/>
                          </a:solidFill>
                          <a:latin typeface="Arial"/>
                        </a:rPr>
                        <a:t>Калькулятор</a:t>
                      </a:r>
                    </a:p>
                  </a:txBody>
                  <a:tcPr>
                    <a:solidFill>
                      <a:srgbClr val="0B0C0F"/>
                    </a:solidFill>
                  </a:tcPr>
                </a:tc>
                <a:tc>
                  <a:txBody>
                    <a:bodyPr wrap="square" lIns="76200" rIns="76200" tIns="38100" bIns="38100"/>
                    <a:lstStyle/>
                    <a:p>
                      <a:pPr algn="l"/>
                      <a:r>
                        <a:rPr sz="1100" b="0">
                          <a:solidFill>
                            <a:srgbClr val="E7E9EE"/>
                          </a:solidFill>
                          <a:latin typeface="Arial"/>
                        </a:rPr>
                        <a:t>Страна → ориентир стоимости/год</a:t>
                      </a:r>
                    </a:p>
                  </a:txBody>
                  <a:tcPr>
                    <a:solidFill>
                      <a:srgbClr val="0B0C0F"/>
                    </a:solidFill>
                  </a:tcPr>
                </a:tc>
                <a:tc>
                  <a:txBody>
                    <a:bodyPr wrap="square" lIns="76200" rIns="76200" tIns="38100" bIns="38100"/>
                    <a:lstStyle/>
                    <a:p>
                      <a:pPr algn="l"/>
                      <a:r>
                        <a:rPr sz="1100" b="0">
                          <a:solidFill>
                            <a:srgbClr val="E7E9EE"/>
                          </a:solidFill>
                          <a:latin typeface="Arial"/>
                        </a:rPr>
                        <a:t>Прозрачность цен</a:t>
                      </a:r>
                    </a:p>
                  </a:txBody>
                  <a:tcPr>
                    <a:solidFill>
                      <a:srgbClr val="0B0C0F"/>
                    </a:solidFill>
                  </a:tcPr>
                </a:tc>
              </a:tr>
              <a:tr h="317500">
                <a:tc>
                  <a:txBody>
                    <a:bodyPr wrap="square" lIns="76200" rIns="76200" tIns="38100" bIns="38100"/>
                    <a:lstStyle/>
                    <a:p>
                      <a:pPr algn="l"/>
                      <a:r>
                        <a:rPr sz="1100" b="0">
                          <a:solidFill>
                            <a:srgbClr val="E7E9EE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>
                    <a:solidFill>
                      <a:srgbClr val="0D1628"/>
                    </a:solidFill>
                  </a:tcPr>
                </a:tc>
                <a:tc>
                  <a:txBody>
                    <a:bodyPr wrap="square" lIns="76200" rIns="76200" tIns="38100" bIns="38100"/>
                    <a:lstStyle/>
                    <a:p>
                      <a:pPr algn="l"/>
                      <a:r>
                        <a:rPr sz="1100" b="1">
                          <a:solidFill>
                            <a:srgbClr val="E7E9EE"/>
                          </a:solidFill>
                          <a:latin typeface="Arial"/>
                        </a:rPr>
                        <a:t>Отзывы</a:t>
                      </a:r>
                    </a:p>
                  </a:txBody>
                  <a:tcPr>
                    <a:solidFill>
                      <a:srgbClr val="0D1628"/>
                    </a:solidFill>
                  </a:tcPr>
                </a:tc>
                <a:tc>
                  <a:txBody>
                    <a:bodyPr wrap="square" lIns="76200" rIns="76200" tIns="38100" bIns="38100"/>
                    <a:lstStyle/>
                    <a:p>
                      <a:pPr algn="l"/>
                      <a:r>
                        <a:rPr sz="1100" b="0">
                          <a:solidFill>
                            <a:srgbClr val="E7E9EE"/>
                          </a:solidFill>
                          <a:latin typeface="Arial"/>
                        </a:rPr>
                        <a:t>Бегущая лента историй студентов</a:t>
                      </a:r>
                    </a:p>
                  </a:txBody>
                  <a:tcPr>
                    <a:solidFill>
                      <a:srgbClr val="0D1628"/>
                    </a:solidFill>
                  </a:tcPr>
                </a:tc>
                <a:tc>
                  <a:txBody>
                    <a:bodyPr wrap="square" lIns="76200" rIns="76200" tIns="38100" bIns="38100"/>
                    <a:lstStyle/>
                    <a:p>
                      <a:pPr algn="l"/>
                      <a:r>
                        <a:rPr sz="1100" b="0">
                          <a:solidFill>
                            <a:srgbClr val="E7E9EE"/>
                          </a:solidFill>
                          <a:latin typeface="Arial"/>
                        </a:rPr>
                        <a:t>Социальное доказательство</a:t>
                      </a:r>
                    </a:p>
                  </a:txBody>
                  <a:tcPr>
                    <a:solidFill>
                      <a:srgbClr val="0D1628"/>
                    </a:solidFill>
                  </a:tcPr>
                </a:tc>
              </a:tr>
              <a:tr h="317500">
                <a:tc>
                  <a:txBody>
                    <a:bodyPr wrap="square" lIns="76200" rIns="76200" tIns="38100" bIns="38100"/>
                    <a:lstStyle/>
                    <a:p>
                      <a:pPr algn="l"/>
                      <a:r>
                        <a:rPr sz="1100" b="0">
                          <a:solidFill>
                            <a:srgbClr val="E7E9EE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>
                    <a:solidFill>
                      <a:srgbClr val="0B0C0F"/>
                    </a:solidFill>
                  </a:tcPr>
                </a:tc>
                <a:tc>
                  <a:txBody>
                    <a:bodyPr wrap="square" lIns="76200" rIns="76200" tIns="38100" bIns="38100"/>
                    <a:lstStyle/>
                    <a:p>
                      <a:pPr algn="l"/>
                      <a:r>
                        <a:rPr sz="1100" b="1">
                          <a:solidFill>
                            <a:srgbClr val="E7E9EE"/>
                          </a:solidFill>
                          <a:latin typeface="Arial"/>
                        </a:rPr>
                        <a:t>FAQ + Заявка</a:t>
                      </a:r>
                    </a:p>
                  </a:txBody>
                  <a:tcPr>
                    <a:solidFill>
                      <a:srgbClr val="0B0C0F"/>
                    </a:solidFill>
                  </a:tcPr>
                </a:tc>
                <a:tc>
                  <a:txBody>
                    <a:bodyPr wrap="square" lIns="76200" rIns="76200" tIns="38100" bIns="38100"/>
                    <a:lstStyle/>
                    <a:p>
                      <a:pPr algn="l"/>
                      <a:r>
                        <a:rPr sz="1100" b="0">
                          <a:solidFill>
                            <a:srgbClr val="E7E9EE"/>
                          </a:solidFill>
                          <a:latin typeface="Arial"/>
                        </a:rPr>
                        <a:t>Вопросы-ответы + форма с контактами</a:t>
                      </a:r>
                    </a:p>
                  </a:txBody>
                  <a:tcPr>
                    <a:solidFill>
                      <a:srgbClr val="0B0C0F"/>
                    </a:solidFill>
                  </a:tcPr>
                </a:tc>
                <a:tc>
                  <a:txBody>
                    <a:bodyPr wrap="square" lIns="76200" rIns="76200" tIns="38100" bIns="38100"/>
                    <a:lstStyle/>
                    <a:p>
                      <a:pPr algn="l"/>
                      <a:r>
                        <a:rPr sz="1100" b="0">
                          <a:solidFill>
                            <a:srgbClr val="E7E9EE"/>
                          </a:solidFill>
                          <a:latin typeface="Arial"/>
                        </a:rPr>
                        <a:t>Снять сомнения → лид</a:t>
                      </a:r>
                    </a:p>
                  </a:txBody>
                  <a:tcPr>
                    <a:solidFill>
                      <a:srgbClr val="0B0C0F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640080" y="4526280"/>
            <a:ext cx="5349240" cy="1737360"/>
          </a:xfrm>
          <a:prstGeom prst="roundRect">
            <a:avLst>
              <a:gd name="adj" fmla="val 6000"/>
            </a:avLst>
          </a:prstGeom>
          <a:solidFill>
            <a:srgbClr val="121419"/>
          </a:solidFill>
          <a:ln w="9525">
            <a:solidFill>
              <a:srgbClr val="2326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4663440"/>
            <a:ext cx="49377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6366F1"/>
                </a:solidFill>
                <a:latin typeface="Arial"/>
              </a:rPr>
              <a:t>КОНВЕРСИОННЫЕ ТОЧКИ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4983480"/>
            <a:ext cx="49377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050" b="1">
                <a:solidFill>
                  <a:srgbClr val="6366F1"/>
                </a:solidFill>
                <a:latin typeface="Arial"/>
              </a:rPr>
              <a:t>•  </a:t>
            </a:r>
            <a:r>
              <a:rPr sz="1050" b="0">
                <a:solidFill>
                  <a:srgbClr val="9AA1AE"/>
                </a:solidFill>
                <a:latin typeface="Arial"/>
              </a:rPr>
              <a:t>Кнопка «Заявка» в шапке — всегда на виду</a:t>
            </a:r>
          </a:p>
          <a:p>
            <a:pPr>
              <a:spcAft>
                <a:spcPts val="400"/>
              </a:spcAft>
            </a:pPr>
            <a:r>
              <a:rPr sz="1050" b="1">
                <a:solidFill>
                  <a:srgbClr val="6366F1"/>
                </a:solidFill>
                <a:latin typeface="Arial"/>
              </a:rPr>
              <a:t>•  </a:t>
            </a:r>
            <a:r>
              <a:rPr sz="1050" b="0">
                <a:solidFill>
                  <a:srgbClr val="9AA1AE"/>
                </a:solidFill>
                <a:latin typeface="Arial"/>
              </a:rPr>
              <a:t>«Выбрать ВУЗ» на главном экране</a:t>
            </a:r>
          </a:p>
          <a:p>
            <a:pPr>
              <a:spcAft>
                <a:spcPts val="400"/>
              </a:spcAft>
            </a:pPr>
            <a:r>
              <a:rPr sz="1050" b="1">
                <a:solidFill>
                  <a:srgbClr val="6366F1"/>
                </a:solidFill>
                <a:latin typeface="Arial"/>
              </a:rPr>
              <a:t>•  </a:t>
            </a:r>
            <a:r>
              <a:rPr sz="1050" b="0">
                <a:solidFill>
                  <a:srgbClr val="9AA1AE"/>
                </a:solidFill>
                <a:latin typeface="Arial"/>
              </a:rPr>
              <a:t>«Подробнее» у каждой страны</a:t>
            </a:r>
          </a:p>
          <a:p>
            <a:pPr>
              <a:spcAft>
                <a:spcPts val="400"/>
              </a:spcAft>
            </a:pPr>
            <a:r>
              <a:rPr sz="1050" b="1">
                <a:solidFill>
                  <a:srgbClr val="6366F1"/>
                </a:solidFill>
                <a:latin typeface="Arial"/>
              </a:rPr>
              <a:t>•  </a:t>
            </a:r>
            <a:r>
              <a:rPr sz="1050" b="0">
                <a:solidFill>
                  <a:srgbClr val="9AA1AE"/>
                </a:solidFill>
                <a:latin typeface="Arial"/>
              </a:rPr>
              <a:t>Плавающая кнопка WhatsApp — всегда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72200" y="4526280"/>
            <a:ext cx="5349240" cy="1737360"/>
          </a:xfrm>
          <a:prstGeom prst="roundRect">
            <a:avLst>
              <a:gd name="adj" fmla="val 6000"/>
            </a:avLst>
          </a:prstGeom>
          <a:solidFill>
            <a:srgbClr val="121419"/>
          </a:solidFill>
          <a:ln w="9525">
            <a:solidFill>
              <a:srgbClr val="2326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0" y="4663440"/>
            <a:ext cx="49377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6366F1"/>
                </a:solidFill>
                <a:latin typeface="Arial"/>
              </a:rPr>
              <a:t>МОБИЛЬНАЯ ВЕРСИЯ</a:t>
            </a:r>
          </a:p>
          <a:p>
            <a:pPr algn="l"/>
            <a:r>
              <a:rPr sz="1100" b="0">
                <a:solidFill>
                  <a:srgbClr val="9AA1AE"/>
                </a:solidFill>
                <a:latin typeface="Arial"/>
              </a:rPr>
              <a:t>Сайт полностью адаптивен: «бургер»-меню, карточки в столбик, кнопки на всю ширину.</a:t>
            </a:r>
          </a:p>
          <a:p>
            <a:pPr algn="l"/>
            <a:r>
              <a:rPr sz="1100" b="0">
                <a:solidFill>
                  <a:srgbClr val="9AA1AE"/>
                </a:solidFill>
                <a:latin typeface="Arial"/>
              </a:rPr>
              <a:t>Большинство клиентов приходят с телефона — это учтено.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6E7582"/>
                </a:solidFill>
                <a:latin typeface="Arial"/>
              </a:rPr>
              <a:t>GoGlobal · база знаний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79615" y="6473952"/>
            <a:ext cx="4572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>
                <a:solidFill>
                  <a:srgbClr val="6E7582"/>
                </a:solidFill>
                <a:latin typeface="Arial"/>
              </a:rPr>
              <a:t>V · Сайт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C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080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11535" y="164592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E7582"/>
                </a:solidFill>
                <a:latin typeface="Arial"/>
              </a:rPr>
              <a:t>11 / 36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84048"/>
            <a:ext cx="82296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6366F1"/>
                </a:solidFill>
                <a:latin typeface="Arial"/>
              </a:rPr>
              <a:t>V · САЙТ ПО ЭКРАНАМ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58368"/>
            <a:ext cx="10911535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E7E9EE"/>
                </a:solidFill>
                <a:latin typeface="Arial"/>
              </a:rPr>
              <a:t>Калькулятор стоимости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54864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E7E9EE"/>
                </a:solidFill>
                <a:latin typeface="Arial"/>
              </a:rPr>
              <a:t>Клиент выбирает страну — мгновенно видит ориентир «от $X в год».</a:t>
            </a:r>
          </a:p>
          <a:p>
            <a:pPr algn="l"/>
            <a:r>
              <a:rPr sz="1200" b="0">
                <a:solidFill>
                  <a:srgbClr val="6E7582"/>
                </a:solidFill>
                <a:latin typeface="Arial"/>
              </a:rPr>
              <a:t>Проверено в живом тесте (июнь 2026):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2240280"/>
          <a:ext cx="5303519" cy="137160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2892829"/>
                <a:gridCol w="2410690"/>
              </a:tblGrid>
              <a:tr h="342900">
                <a:tc>
                  <a:txBody>
                    <a:bodyPr wrap="square" lIns="76200" rIns="76200" tIns="38100" bIns="38100"/>
                    <a:lstStyle/>
                    <a:p>
                      <a:pPr algn="l"/>
                      <a:r>
                        <a:rPr sz="1100" b="1">
                          <a:solidFill>
                            <a:srgbClr val="9AA1AE"/>
                          </a:solidFill>
                          <a:latin typeface="Arial"/>
                        </a:rPr>
                        <a:t>Страна</a:t>
                      </a:r>
                    </a:p>
                  </a:txBody>
                  <a:tcPr>
                    <a:solidFill>
                      <a:srgbClr val="121419"/>
                    </a:solidFill>
                  </a:tcPr>
                </a:tc>
                <a:tc>
                  <a:txBody>
                    <a:bodyPr wrap="square" lIns="76200" rIns="76200" tIns="38100" bIns="38100"/>
                    <a:lstStyle/>
                    <a:p>
                      <a:pPr algn="l"/>
                      <a:r>
                        <a:rPr sz="1100" b="1">
                          <a:solidFill>
                            <a:srgbClr val="9AA1AE"/>
                          </a:solidFill>
                          <a:latin typeface="Arial"/>
                        </a:rPr>
                        <a:t>Ориентир / год</a:t>
                      </a:r>
                    </a:p>
                  </a:txBody>
                  <a:tcPr>
                    <a:solidFill>
                      <a:srgbClr val="121419"/>
                    </a:solidFill>
                  </a:tcPr>
                </a:tc>
              </a:tr>
              <a:tr h="342900">
                <a:tc>
                  <a:txBody>
                    <a:bodyPr wrap="square" lIns="76200" rIns="76200" tIns="38100" bIns="38100"/>
                    <a:lstStyle/>
                    <a:p>
                      <a:pPr algn="l"/>
                      <a:r>
                        <a:rPr sz="1200" b="0">
                          <a:solidFill>
                            <a:srgbClr val="E7E9EE"/>
                          </a:solidFill>
                          <a:latin typeface="Arial"/>
                        </a:rPr>
                        <a:t>США</a:t>
                      </a:r>
                    </a:p>
                  </a:txBody>
                  <a:tcPr>
                    <a:solidFill>
                      <a:srgbClr val="0B0C0F"/>
                    </a:solidFill>
                  </a:tcPr>
                </a:tc>
                <a:tc>
                  <a:txBody>
                    <a:bodyPr wrap="square" lIns="76200" rIns="76200" tIns="38100" bIns="38100"/>
                    <a:lstStyle/>
                    <a:p>
                      <a:pPr algn="l"/>
                      <a:r>
                        <a:rPr sz="1200" b="1">
                          <a:solidFill>
                            <a:srgbClr val="E7E9EE"/>
                          </a:solidFill>
                          <a:latin typeface="Arial"/>
                        </a:rPr>
                        <a:t>$35 000</a:t>
                      </a:r>
                    </a:p>
                  </a:txBody>
                  <a:tcPr>
                    <a:solidFill>
                      <a:srgbClr val="0B0C0F"/>
                    </a:solidFill>
                  </a:tcPr>
                </a:tc>
              </a:tr>
              <a:tr h="342900">
                <a:tc>
                  <a:txBody>
                    <a:bodyPr wrap="square" lIns="76200" rIns="76200" tIns="38100" bIns="38100"/>
                    <a:lstStyle/>
                    <a:p>
                      <a:pPr algn="l"/>
                      <a:r>
                        <a:rPr sz="1200" b="0">
                          <a:solidFill>
                            <a:srgbClr val="E7E9EE"/>
                          </a:solidFill>
                          <a:latin typeface="Arial"/>
                        </a:rPr>
                        <a:t>Япония</a:t>
                      </a:r>
                    </a:p>
                  </a:txBody>
                  <a:tcPr>
                    <a:solidFill>
                      <a:srgbClr val="0D1628"/>
                    </a:solidFill>
                  </a:tcPr>
                </a:tc>
                <a:tc>
                  <a:txBody>
                    <a:bodyPr wrap="square" lIns="76200" rIns="76200" tIns="38100" bIns="38100"/>
                    <a:lstStyle/>
                    <a:p>
                      <a:pPr algn="l"/>
                      <a:r>
                        <a:rPr sz="1200" b="1">
                          <a:solidFill>
                            <a:srgbClr val="E7E9EE"/>
                          </a:solidFill>
                          <a:latin typeface="Arial"/>
                        </a:rPr>
                        <a:t>$15 000</a:t>
                      </a:r>
                    </a:p>
                  </a:txBody>
                  <a:tcPr>
                    <a:solidFill>
                      <a:srgbClr val="0D1628"/>
                    </a:solidFill>
                  </a:tcPr>
                </a:tc>
              </a:tr>
              <a:tr h="342900">
                <a:tc>
                  <a:txBody>
                    <a:bodyPr wrap="square" lIns="76200" rIns="76200" tIns="38100" bIns="38100"/>
                    <a:lstStyle/>
                    <a:p>
                      <a:pPr algn="l"/>
                      <a:r>
                        <a:rPr sz="1200" b="0">
                          <a:solidFill>
                            <a:srgbClr val="E7E9EE"/>
                          </a:solidFill>
                          <a:latin typeface="Arial"/>
                        </a:rPr>
                        <a:t>Китай, Германия, Испания…</a:t>
                      </a:r>
                    </a:p>
                  </a:txBody>
                  <a:tcPr>
                    <a:solidFill>
                      <a:srgbClr val="0B0C0F"/>
                    </a:solidFill>
                  </a:tcPr>
                </a:tc>
                <a:tc>
                  <a:txBody>
                    <a:bodyPr wrap="square" lIns="76200" rIns="76200" tIns="38100" bIns="38100"/>
                    <a:lstStyle/>
                    <a:p>
                      <a:pPr algn="l"/>
                      <a:r>
                        <a:rPr sz="1200" b="0">
                          <a:solidFill>
                            <a:srgbClr val="6E7582"/>
                          </a:solidFill>
                          <a:latin typeface="Arial"/>
                        </a:rPr>
                        <a:t>свои цифры</a:t>
                      </a:r>
                    </a:p>
                  </a:txBody>
                  <a:tcPr>
                    <a:solidFill>
                      <a:srgbClr val="0B0C0F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640080" y="4160520"/>
            <a:ext cx="5303520" cy="1920240"/>
          </a:xfrm>
          <a:prstGeom prst="roundRect">
            <a:avLst>
              <a:gd name="adj" fmla="val 6000"/>
            </a:avLst>
          </a:prstGeom>
          <a:solidFill>
            <a:srgbClr val="121419"/>
          </a:solidFill>
          <a:ln w="9525">
            <a:solidFill>
              <a:srgbClr val="2326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4297680"/>
            <a:ext cx="48463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6366F1"/>
                </a:solidFill>
                <a:latin typeface="Arial"/>
              </a:rPr>
              <a:t>ИЗ ЧЕГО СКЛАДЫВАЕТСЯ СУММА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4617720"/>
            <a:ext cx="48463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1">
                <a:solidFill>
                  <a:srgbClr val="6366F1"/>
                </a:solidFill>
                <a:latin typeface="Arial"/>
              </a:rPr>
              <a:t>•  </a:t>
            </a:r>
            <a:r>
              <a:rPr sz="1100" b="1">
                <a:solidFill>
                  <a:srgbClr val="E7E9EE"/>
                </a:solidFill>
                <a:latin typeface="Arial"/>
              </a:rPr>
              <a:t>Обучение</a:t>
            </a:r>
            <a:r>
              <a:rPr sz="1100" b="0">
                <a:solidFill>
                  <a:srgbClr val="9AA1AE"/>
                </a:solidFill>
                <a:latin typeface="Arial"/>
              </a:rPr>
              <a:t> — самый доступный вуз страны</a:t>
            </a:r>
          </a:p>
          <a:p>
            <a:pPr>
              <a:spcAft>
                <a:spcPts val="400"/>
              </a:spcAft>
            </a:pPr>
            <a:r>
              <a:rPr sz="1100" b="1">
                <a:solidFill>
                  <a:srgbClr val="6366F1"/>
                </a:solidFill>
                <a:latin typeface="Arial"/>
              </a:rPr>
              <a:t>•  </a:t>
            </a:r>
            <a:r>
              <a:rPr sz="1100" b="1">
                <a:solidFill>
                  <a:srgbClr val="E7E9EE"/>
                </a:solidFill>
                <a:latin typeface="Arial"/>
              </a:rPr>
              <a:t>Проживание</a:t>
            </a:r>
            <a:r>
              <a:rPr sz="1100" b="0">
                <a:solidFill>
                  <a:srgbClr val="9AA1AE"/>
                </a:solidFill>
                <a:latin typeface="Arial"/>
              </a:rPr>
              <a:t> — минимальная оценка за год</a:t>
            </a:r>
          </a:p>
          <a:p>
            <a:pPr>
              <a:spcAft>
                <a:spcPts val="400"/>
              </a:spcAft>
            </a:pPr>
            <a:r>
              <a:rPr sz="1100" b="1">
                <a:solidFill>
                  <a:srgbClr val="6366F1"/>
                </a:solidFill>
                <a:latin typeface="Arial"/>
              </a:rPr>
              <a:t>•  </a:t>
            </a:r>
            <a:r>
              <a:rPr sz="1100" b="1">
                <a:solidFill>
                  <a:srgbClr val="E7E9EE"/>
                </a:solidFill>
                <a:latin typeface="Arial"/>
              </a:rPr>
              <a:t>Услуги агентства</a:t>
            </a:r>
            <a:r>
              <a:rPr sz="1100" b="0">
                <a:solidFill>
                  <a:srgbClr val="9AA1AE"/>
                </a:solidFill>
                <a:latin typeface="Arial"/>
              </a:rPr>
              <a:t> — если настроены</a:t>
            </a:r>
          </a:p>
          <a:p>
            <a:pPr>
              <a:spcAft>
                <a:spcPts val="400"/>
              </a:spcAft>
            </a:pPr>
            <a:r>
              <a:rPr sz="1100" b="1">
                <a:solidFill>
                  <a:srgbClr val="6366F1"/>
                </a:solidFill>
                <a:latin typeface="Arial"/>
              </a:rPr>
              <a:t>•  </a:t>
            </a:r>
            <a:r>
              <a:rPr sz="1100" b="1">
                <a:solidFill>
                  <a:srgbClr val="E7E9EE"/>
                </a:solidFill>
                <a:latin typeface="Arial"/>
              </a:rPr>
              <a:t>Галочка «грант»</a:t>
            </a:r>
            <a:r>
              <a:rPr sz="1100" b="0">
                <a:solidFill>
                  <a:srgbClr val="9AA1AE"/>
                </a:solidFill>
                <a:latin typeface="Arial"/>
              </a:rPr>
              <a:t> — обучение вычитается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675120" y="1737360"/>
            <a:ext cx="4572000" cy="2743200"/>
          </a:xfrm>
          <a:prstGeom prst="roundRect">
            <a:avLst>
              <a:gd name="adj" fmla="val 6000"/>
            </a:avLst>
          </a:prstGeom>
          <a:solidFill>
            <a:srgbClr val="102A52"/>
          </a:solidFill>
          <a:ln w="9525">
            <a:solidFill>
              <a:srgbClr val="1E3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75120" y="2194560"/>
            <a:ext cx="457200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1">
                <a:solidFill>
                  <a:srgbClr val="93C5FD"/>
                </a:solidFill>
                <a:latin typeface="Arial"/>
              </a:rPr>
              <a:t>ОРИЕНТИРОВОЧНО ОТ</a:t>
            </a:r>
          </a:p>
          <a:p>
            <a:pPr algn="ctr"/>
            <a:r>
              <a:rPr sz="4800" b="1">
                <a:solidFill>
                  <a:srgbClr val="FFFFFF"/>
                </a:solidFill>
                <a:latin typeface="Arial"/>
              </a:rPr>
              <a:t>$15 000</a:t>
            </a:r>
          </a:p>
          <a:p>
            <a:pPr algn="ctr"/>
            <a:r>
              <a:rPr sz="1300" b="0">
                <a:solidFill>
                  <a:srgbClr val="9AA1AE"/>
                </a:solidFill>
                <a:latin typeface="Arial"/>
              </a:rPr>
              <a:t>/ год · Япония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75120" y="4709160"/>
            <a:ext cx="45720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0">
                <a:solidFill>
                  <a:srgbClr val="6E7582"/>
                </a:solidFill>
                <a:latin typeface="Arial"/>
              </a:rPr>
              <a:t>Цифры берутся из админки («Страны и Университеты» + «Калькулятор стоимости обучения»)</a:t>
            </a:r>
          </a:p>
          <a:p>
            <a:pPr algn="ctr"/>
            <a:r>
              <a:rPr sz="1100" b="0">
                <a:solidFill>
                  <a:srgbClr val="6E7582"/>
                </a:solidFill>
                <a:latin typeface="Arial"/>
              </a:rPr>
              <a:t>и обновляются без программиста.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6E7582"/>
                </a:solidFill>
                <a:latin typeface="Arial"/>
              </a:rPr>
              <a:t>GoGlobal · база знаний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79615" y="6473952"/>
            <a:ext cx="4572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>
                <a:solidFill>
                  <a:srgbClr val="6E7582"/>
                </a:solidFill>
                <a:latin typeface="Arial"/>
              </a:rPr>
              <a:t>V · Калькулятор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C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080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11535" y="164592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E7582"/>
                </a:solidFill>
                <a:latin typeface="Arial"/>
              </a:rPr>
              <a:t>12 / 36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84048"/>
            <a:ext cx="82296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6366F1"/>
                </a:solidFill>
                <a:latin typeface="Arial"/>
              </a:rPr>
              <a:t>V · САЙТ ПО ЭКРАНАМ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58368"/>
            <a:ext cx="10911535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E7E9EE"/>
                </a:solidFill>
                <a:latin typeface="Arial"/>
              </a:rPr>
              <a:t>Форма заявки — главный механизм лидов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463040"/>
          <a:ext cx="5120640" cy="243840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2987040"/>
                <a:gridCol w="2133600"/>
              </a:tblGrid>
              <a:tr h="304800">
                <a:tc>
                  <a:txBody>
                    <a:bodyPr wrap="square" lIns="76200" rIns="76200" tIns="38100" bIns="38100"/>
                    <a:lstStyle/>
                    <a:p>
                      <a:pPr algn="l"/>
                      <a:r>
                        <a:rPr sz="1000" b="1">
                          <a:solidFill>
                            <a:srgbClr val="9AA1AE"/>
                          </a:solidFill>
                          <a:latin typeface="Arial"/>
                        </a:rPr>
                        <a:t>Поле</a:t>
                      </a:r>
                    </a:p>
                  </a:txBody>
                  <a:tcPr>
                    <a:solidFill>
                      <a:srgbClr val="121419"/>
                    </a:solidFill>
                  </a:tcPr>
                </a:tc>
                <a:tc>
                  <a:txBody>
                    <a:bodyPr wrap="square" lIns="76200" rIns="76200" tIns="38100" bIns="38100"/>
                    <a:lstStyle/>
                    <a:p>
                      <a:pPr algn="l"/>
                      <a:r>
                        <a:rPr sz="1000" b="1">
                          <a:solidFill>
                            <a:srgbClr val="9AA1AE"/>
                          </a:solidFill>
                          <a:latin typeface="Arial"/>
                        </a:rPr>
                        <a:t>Обязательное</a:t>
                      </a:r>
                    </a:p>
                  </a:txBody>
                  <a:tcPr>
                    <a:solidFill>
                      <a:srgbClr val="121419"/>
                    </a:solidFill>
                  </a:tcPr>
                </a:tc>
              </a:tr>
              <a:tr h="304800">
                <a:tc>
                  <a:txBody>
                    <a:bodyPr wrap="square" lIns="76200" rIns="76200" tIns="38100" bIns="38100"/>
                    <a:lstStyle/>
                    <a:p>
                      <a:pPr algn="l"/>
                      <a:r>
                        <a:rPr sz="1100" b="0">
                          <a:solidFill>
                            <a:srgbClr val="E7E9EE"/>
                          </a:solidFill>
                          <a:latin typeface="Arial"/>
                        </a:rPr>
                        <a:t>Имя</a:t>
                      </a:r>
                    </a:p>
                  </a:txBody>
                  <a:tcPr>
                    <a:solidFill>
                      <a:srgbClr val="0B0C0F"/>
                    </a:solidFill>
                  </a:tcPr>
                </a:tc>
                <a:tc>
                  <a:txBody>
                    <a:bodyPr wrap="square" lIns="76200" rIns="76200" tIns="38100" bIns="38100"/>
                    <a:lstStyle/>
                    <a:p>
                      <a:pPr algn="l"/>
                      <a:r>
                        <a:rPr sz="1100" b="0">
                          <a:solidFill>
                            <a:srgbClr val="FDA4AF"/>
                          </a:solidFill>
                          <a:latin typeface="Arial"/>
                        </a:rPr>
                        <a:t>да</a:t>
                      </a:r>
                    </a:p>
                  </a:txBody>
                  <a:tcPr>
                    <a:solidFill>
                      <a:srgbClr val="0B0C0F"/>
                    </a:solidFill>
                  </a:tcPr>
                </a:tc>
              </a:tr>
              <a:tr h="304800">
                <a:tc>
                  <a:txBody>
                    <a:bodyPr wrap="square" lIns="76200" rIns="76200" tIns="38100" bIns="38100"/>
                    <a:lstStyle/>
                    <a:p>
                      <a:pPr algn="l"/>
                      <a:r>
                        <a:rPr sz="1100" b="0">
                          <a:solidFill>
                            <a:srgbClr val="E7E9EE"/>
                          </a:solidFill>
                          <a:latin typeface="Arial"/>
                        </a:rPr>
                        <a:t>Телефон</a:t>
                      </a:r>
                    </a:p>
                  </a:txBody>
                  <a:tcPr>
                    <a:solidFill>
                      <a:srgbClr val="0D1628"/>
                    </a:solidFill>
                  </a:tcPr>
                </a:tc>
                <a:tc>
                  <a:txBody>
                    <a:bodyPr wrap="square" lIns="76200" rIns="76200" tIns="38100" bIns="38100"/>
                    <a:lstStyle/>
                    <a:p>
                      <a:pPr algn="l"/>
                      <a:r>
                        <a:rPr sz="1100" b="0">
                          <a:solidFill>
                            <a:srgbClr val="FDA4AF"/>
                          </a:solidFill>
                          <a:latin typeface="Arial"/>
                        </a:rPr>
                        <a:t>да</a:t>
                      </a:r>
                    </a:p>
                  </a:txBody>
                  <a:tcPr>
                    <a:solidFill>
                      <a:srgbClr val="0D1628"/>
                    </a:solidFill>
                  </a:tcPr>
                </a:tc>
              </a:tr>
              <a:tr h="304800">
                <a:tc>
                  <a:txBody>
                    <a:bodyPr wrap="square" lIns="76200" rIns="76200" tIns="38100" bIns="38100"/>
                    <a:lstStyle/>
                    <a:p>
                      <a:pPr algn="l"/>
                      <a:r>
                        <a:rPr sz="1100" b="0">
                          <a:solidFill>
                            <a:srgbClr val="E7E9EE"/>
                          </a:solidFill>
                          <a:latin typeface="Arial"/>
                        </a:rPr>
                        <a:t>Откуда узнали о нас</a:t>
                      </a:r>
                    </a:p>
                  </a:txBody>
                  <a:tcPr>
                    <a:solidFill>
                      <a:srgbClr val="0B0C0F"/>
                    </a:solidFill>
                  </a:tcPr>
                </a:tc>
                <a:tc>
                  <a:txBody>
                    <a:bodyPr wrap="square" lIns="76200" rIns="76200" tIns="38100" bIns="38100"/>
                    <a:lstStyle/>
                    <a:p>
                      <a:pPr algn="l"/>
                      <a:r>
                        <a:rPr sz="1100" b="0">
                          <a:solidFill>
                            <a:srgbClr val="FDA4AF"/>
                          </a:solidFill>
                          <a:latin typeface="Arial"/>
                        </a:rPr>
                        <a:t>да</a:t>
                      </a:r>
                    </a:p>
                  </a:txBody>
                  <a:tcPr>
                    <a:solidFill>
                      <a:srgbClr val="0B0C0F"/>
                    </a:solidFill>
                  </a:tcPr>
                </a:tc>
              </a:tr>
              <a:tr h="304800">
                <a:tc>
                  <a:txBody>
                    <a:bodyPr wrap="square" lIns="76200" rIns="76200" tIns="38100" bIns="38100"/>
                    <a:lstStyle/>
                    <a:p>
                      <a:pPr algn="l"/>
                      <a:r>
                        <a:rPr sz="1100" b="0">
                          <a:solidFill>
                            <a:srgbClr val="E7E9EE"/>
                          </a:solidFill>
                          <a:latin typeface="Arial"/>
                        </a:rPr>
                        <a:t>Email</a:t>
                      </a:r>
                    </a:p>
                  </a:txBody>
                  <a:tcPr>
                    <a:solidFill>
                      <a:srgbClr val="0D1628"/>
                    </a:solidFill>
                  </a:tcPr>
                </a:tc>
                <a:tc>
                  <a:txBody>
                    <a:bodyPr wrap="square" lIns="76200" rIns="76200" tIns="38100" bIns="38100"/>
                    <a:lstStyle/>
                    <a:p>
                      <a:pPr algn="l"/>
                      <a:r>
                        <a:rPr sz="1100" b="0">
                          <a:solidFill>
                            <a:srgbClr val="6E7582"/>
                          </a:solidFill>
                          <a:latin typeface="Arial"/>
                        </a:rPr>
                        <a:t>нет</a:t>
                      </a:r>
                    </a:p>
                  </a:txBody>
                  <a:tcPr>
                    <a:solidFill>
                      <a:srgbClr val="0D1628"/>
                    </a:solidFill>
                  </a:tcPr>
                </a:tc>
              </a:tr>
              <a:tr h="304800">
                <a:tc>
                  <a:txBody>
                    <a:bodyPr wrap="square" lIns="76200" rIns="76200" tIns="38100" bIns="38100"/>
                    <a:lstStyle/>
                    <a:p>
                      <a:pPr algn="l"/>
                      <a:r>
                        <a:rPr sz="1100" b="0">
                          <a:solidFill>
                            <a:srgbClr val="E7E9EE"/>
                          </a:solidFill>
                          <a:latin typeface="Arial"/>
                        </a:rPr>
                        <a:t>Страна обучения</a:t>
                      </a:r>
                    </a:p>
                  </a:txBody>
                  <a:tcPr>
                    <a:solidFill>
                      <a:srgbClr val="0B0C0F"/>
                    </a:solidFill>
                  </a:tcPr>
                </a:tc>
                <a:tc>
                  <a:txBody>
                    <a:bodyPr wrap="square" lIns="76200" rIns="76200" tIns="38100" bIns="38100"/>
                    <a:lstStyle/>
                    <a:p>
                      <a:pPr algn="l"/>
                      <a:r>
                        <a:rPr sz="1100" b="0">
                          <a:solidFill>
                            <a:srgbClr val="6E7582"/>
                          </a:solidFill>
                          <a:latin typeface="Arial"/>
                        </a:rPr>
                        <a:t>нет</a:t>
                      </a:r>
                    </a:p>
                  </a:txBody>
                  <a:tcPr>
                    <a:solidFill>
                      <a:srgbClr val="0B0C0F"/>
                    </a:solidFill>
                  </a:tcPr>
                </a:tc>
              </a:tr>
              <a:tr h="304800">
                <a:tc>
                  <a:txBody>
                    <a:bodyPr wrap="square" lIns="76200" rIns="76200" tIns="38100" bIns="38100"/>
                    <a:lstStyle/>
                    <a:p>
                      <a:pPr algn="l"/>
                      <a:r>
                        <a:rPr sz="1100" b="0">
                          <a:solidFill>
                            <a:srgbClr val="E7E9EE"/>
                          </a:solidFill>
                          <a:latin typeface="Arial"/>
                        </a:rPr>
                        <a:t>Желаемый вуз (с поиском)</a:t>
                      </a:r>
                    </a:p>
                  </a:txBody>
                  <a:tcPr>
                    <a:solidFill>
                      <a:srgbClr val="0D1628"/>
                    </a:solidFill>
                  </a:tcPr>
                </a:tc>
                <a:tc>
                  <a:txBody>
                    <a:bodyPr wrap="square" lIns="76200" rIns="76200" tIns="38100" bIns="38100"/>
                    <a:lstStyle/>
                    <a:p>
                      <a:pPr algn="l"/>
                      <a:r>
                        <a:rPr sz="1100" b="0">
                          <a:solidFill>
                            <a:srgbClr val="6E7582"/>
                          </a:solidFill>
                          <a:latin typeface="Arial"/>
                        </a:rPr>
                        <a:t>нет</a:t>
                      </a:r>
                    </a:p>
                  </a:txBody>
                  <a:tcPr>
                    <a:solidFill>
                      <a:srgbClr val="0D1628"/>
                    </a:solidFill>
                  </a:tcPr>
                </a:tc>
              </a:tr>
              <a:tr h="304800">
                <a:tc>
                  <a:txBody>
                    <a:bodyPr wrap="square" lIns="76200" rIns="76200" tIns="38100" bIns="38100"/>
                    <a:lstStyle/>
                    <a:p>
                      <a:pPr algn="l"/>
                      <a:r>
                        <a:rPr sz="1100" b="0">
                          <a:solidFill>
                            <a:srgbClr val="E7E9EE"/>
                          </a:solidFill>
                          <a:latin typeface="Arial"/>
                        </a:rPr>
                        <a:t>Уровень, год, бюджет, язык</a:t>
                      </a:r>
                    </a:p>
                  </a:txBody>
                  <a:tcPr>
                    <a:solidFill>
                      <a:srgbClr val="0B0C0F"/>
                    </a:solidFill>
                  </a:tcPr>
                </a:tc>
                <a:tc>
                  <a:txBody>
                    <a:bodyPr wrap="square" lIns="76200" rIns="76200" tIns="38100" bIns="38100"/>
                    <a:lstStyle/>
                    <a:p>
                      <a:pPr algn="l"/>
                      <a:r>
                        <a:rPr sz="1100" b="0">
                          <a:solidFill>
                            <a:srgbClr val="6E7582"/>
                          </a:solidFill>
                          <a:latin typeface="Arial"/>
                        </a:rPr>
                        <a:t>нет, раскрывается</a:t>
                      </a:r>
                    </a:p>
                  </a:txBody>
                  <a:tcPr>
                    <a:solidFill>
                      <a:srgbClr val="0B0C0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4526280"/>
            <a:ext cx="51206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6E7582"/>
                </a:solidFill>
                <a:latin typeface="Arial"/>
              </a:rPr>
              <a:t>Минимум обязательных полей = больше отправленных заявок.</a:t>
            </a:r>
          </a:p>
          <a:p>
            <a:pPr algn="l"/>
            <a:r>
              <a:rPr sz="1100" b="0">
                <a:solidFill>
                  <a:srgbClr val="6E7582"/>
                </a:solidFill>
                <a:latin typeface="Arial"/>
              </a:rPr>
              <a:t>Остальное менеджер уточнит в разговоре.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17920" y="1371600"/>
            <a:ext cx="5303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E7E9EE"/>
                </a:solidFill>
                <a:latin typeface="Arial"/>
              </a:rPr>
              <a:t>Что после нажатия «Отправить»</a:t>
            </a:r>
          </a:p>
        </p:txBody>
      </p:sp>
      <p:sp>
        <p:nvSpPr>
          <p:cNvPr id="10" name="Oval 9"/>
          <p:cNvSpPr/>
          <p:nvPr/>
        </p:nvSpPr>
        <p:spPr>
          <a:xfrm>
            <a:off x="6217920" y="1874519"/>
            <a:ext cx="292608" cy="292608"/>
          </a:xfrm>
          <a:prstGeom prst="ellipse">
            <a:avLst/>
          </a:prstGeom>
          <a:solidFill>
            <a:srgbClr val="121419"/>
          </a:solidFill>
          <a:ln w="12700">
            <a:solidFill>
              <a:srgbClr val="6366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6366F1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56832" y="1837943"/>
            <a:ext cx="4846320" cy="6217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E7E9EE"/>
                </a:solidFill>
                <a:latin typeface="Arial"/>
              </a:rPr>
              <a:t>Экран «Спасибо»</a:t>
            </a:r>
          </a:p>
          <a:p>
            <a:pPr algn="l"/>
            <a:r>
              <a:rPr sz="1050" b="0">
                <a:solidFill>
                  <a:srgbClr val="9AA1AE"/>
                </a:solidFill>
                <a:latin typeface="Arial"/>
              </a:rPr>
              <a:t>«Менеджер свяжется в течение 15 минут»</a:t>
            </a:r>
          </a:p>
        </p:txBody>
      </p:sp>
      <p:sp>
        <p:nvSpPr>
          <p:cNvPr id="12" name="Oval 11"/>
          <p:cNvSpPr/>
          <p:nvPr/>
        </p:nvSpPr>
        <p:spPr>
          <a:xfrm>
            <a:off x="6217920" y="2496311"/>
            <a:ext cx="292608" cy="292608"/>
          </a:xfrm>
          <a:prstGeom prst="ellipse">
            <a:avLst/>
          </a:prstGeom>
          <a:solidFill>
            <a:srgbClr val="121419"/>
          </a:solidFill>
          <a:ln w="12700">
            <a:solidFill>
              <a:srgbClr val="6366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6366F1"/>
                </a:solidFill>
                <a:latin typeface="Arial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56832" y="2459735"/>
            <a:ext cx="4846320" cy="6217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E7E9EE"/>
                </a:solidFill>
                <a:latin typeface="Arial"/>
              </a:rPr>
              <a:t>Проверка на дубль</a:t>
            </a:r>
          </a:p>
          <a:p>
            <a:pPr algn="l"/>
            <a:r>
              <a:rPr sz="1050" b="0">
                <a:solidFill>
                  <a:srgbClr val="9AA1AE"/>
                </a:solidFill>
                <a:latin typeface="Arial"/>
              </a:rPr>
              <a:t>Старый клиент? → комментарий к его карточке</a:t>
            </a:r>
          </a:p>
        </p:txBody>
      </p:sp>
      <p:sp>
        <p:nvSpPr>
          <p:cNvPr id="14" name="Oval 13"/>
          <p:cNvSpPr/>
          <p:nvPr/>
        </p:nvSpPr>
        <p:spPr>
          <a:xfrm>
            <a:off x="6217920" y="3118103"/>
            <a:ext cx="292608" cy="292608"/>
          </a:xfrm>
          <a:prstGeom prst="ellipse">
            <a:avLst/>
          </a:prstGeom>
          <a:solidFill>
            <a:srgbClr val="121419"/>
          </a:solidFill>
          <a:ln w="12700">
            <a:solidFill>
              <a:srgbClr val="6366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6366F1"/>
                </a:solidFill>
                <a:latin typeface="Arial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56832" y="3081527"/>
            <a:ext cx="4846320" cy="6217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E7E9EE"/>
                </a:solidFill>
                <a:latin typeface="Arial"/>
              </a:rPr>
              <a:t>Назначение менеджера</a:t>
            </a:r>
          </a:p>
          <a:p>
            <a:pPr algn="l"/>
            <a:r>
              <a:rPr sz="1050" b="0">
                <a:solidFill>
                  <a:srgbClr val="9AA1AE"/>
                </a:solidFill>
                <a:latin typeface="Arial"/>
              </a:rPr>
              <a:t>По правилам или очереди</a:t>
            </a:r>
          </a:p>
        </p:txBody>
      </p:sp>
      <p:sp>
        <p:nvSpPr>
          <p:cNvPr id="16" name="Oval 15"/>
          <p:cNvSpPr/>
          <p:nvPr/>
        </p:nvSpPr>
        <p:spPr>
          <a:xfrm>
            <a:off x="6217920" y="3739895"/>
            <a:ext cx="292608" cy="292608"/>
          </a:xfrm>
          <a:prstGeom prst="ellipse">
            <a:avLst/>
          </a:prstGeom>
          <a:solidFill>
            <a:srgbClr val="121419"/>
          </a:solidFill>
          <a:ln w="12700">
            <a:solidFill>
              <a:srgbClr val="6366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6366F1"/>
                </a:solidFill>
                <a:latin typeface="Arial"/>
              </a:rP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56832" y="3703319"/>
            <a:ext cx="4846320" cy="6217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E7E9EE"/>
                </a:solidFill>
                <a:latin typeface="Arial"/>
              </a:rPr>
              <a:t>Push + Telegram</a:t>
            </a:r>
          </a:p>
          <a:p>
            <a:pPr algn="l"/>
            <a:r>
              <a:rPr sz="1050" b="0">
                <a:solidFill>
                  <a:srgbClr val="9AA1AE"/>
                </a:solidFill>
                <a:latin typeface="Arial"/>
              </a:rPr>
              <a:t>Менеджер и РОП уведомлены</a:t>
            </a:r>
          </a:p>
        </p:txBody>
      </p:sp>
      <p:sp>
        <p:nvSpPr>
          <p:cNvPr id="18" name="Oval 17"/>
          <p:cNvSpPr/>
          <p:nvPr/>
        </p:nvSpPr>
        <p:spPr>
          <a:xfrm>
            <a:off x="6217920" y="4361687"/>
            <a:ext cx="292608" cy="292608"/>
          </a:xfrm>
          <a:prstGeom prst="ellipse">
            <a:avLst/>
          </a:prstGeom>
          <a:solidFill>
            <a:srgbClr val="121419"/>
          </a:solidFill>
          <a:ln w="12700">
            <a:solidFill>
              <a:srgbClr val="6366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6366F1"/>
                </a:solidFill>
                <a:latin typeface="Arial"/>
              </a:rPr>
              <a:t>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56832" y="4325111"/>
            <a:ext cx="4846320" cy="6217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E7E9EE"/>
                </a:solidFill>
                <a:latin typeface="Arial"/>
              </a:rPr>
              <a:t>Старт SLA-таймера</a:t>
            </a:r>
          </a:p>
          <a:p>
            <a:pPr algn="l"/>
            <a:r>
              <a:rPr sz="1050" b="0">
                <a:solidFill>
                  <a:srgbClr val="9AA1AE"/>
                </a:solidFill>
                <a:latin typeface="Arial"/>
              </a:rPr>
              <a:t>3 часа на первый ответ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0080" y="5303520"/>
            <a:ext cx="10881360" cy="960120"/>
          </a:xfrm>
          <a:prstGeom prst="roundRect">
            <a:avLst>
              <a:gd name="adj" fmla="val 6000"/>
            </a:avLst>
          </a:prstGeom>
          <a:solidFill>
            <a:srgbClr val="121419"/>
          </a:solidFill>
          <a:ln w="9525">
            <a:solidFill>
              <a:srgbClr val="2326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68680" y="5440680"/>
            <a:ext cx="104241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1">
                <a:solidFill>
                  <a:srgbClr val="86EFAC"/>
                </a:solidFill>
                <a:latin typeface="Arial"/>
              </a:rPr>
              <a:t>ГДЕ ЕЩЁ РОЖДАЮТСЯ ЛИДЫ</a:t>
            </a:r>
          </a:p>
          <a:p>
            <a:pPr algn="l"/>
            <a:r>
              <a:rPr sz="1100" b="0">
                <a:solidFill>
                  <a:srgbClr val="9AA1AE"/>
                </a:solidFill>
                <a:latin typeface="Arial"/>
              </a:rPr>
              <a:t>1) Менеджер создал вручную («+ Лид» — звонок или визит в офис)  ·  2) Партнёр привёл реферала  ·  3) Событийная страница — лид с меткой события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6E7582"/>
                </a:solidFill>
                <a:latin typeface="Arial"/>
              </a:rPr>
              <a:t>GoGlobal · база знаний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79615" y="6473952"/>
            <a:ext cx="4572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>
                <a:solidFill>
                  <a:srgbClr val="6E7582"/>
                </a:solidFill>
                <a:latin typeface="Arial"/>
              </a:rPr>
              <a:t>V · Форма заявки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C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080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11535" y="164592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E7582"/>
                </a:solidFill>
                <a:latin typeface="Arial"/>
              </a:rPr>
              <a:t>13 / 36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84048"/>
            <a:ext cx="82296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6366F1"/>
                </a:solidFill>
                <a:latin typeface="Arial"/>
              </a:rPr>
              <a:t>V · САЙТ ПО ЭКРАНАМ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58368"/>
            <a:ext cx="10911535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E7E9EE"/>
                </a:solidFill>
                <a:latin typeface="Arial"/>
              </a:rPr>
              <a:t>Пример: как админ меняет сайт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71600"/>
            <a:ext cx="5303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E7E9EE"/>
                </a:solidFill>
                <a:latin typeface="Arial"/>
              </a:rPr>
              <a:t>Задача: поднять цену услуг с $500 до $700</a:t>
            </a:r>
          </a:p>
        </p:txBody>
      </p:sp>
      <p:sp>
        <p:nvSpPr>
          <p:cNvPr id="8" name="Oval 7"/>
          <p:cNvSpPr/>
          <p:nvPr/>
        </p:nvSpPr>
        <p:spPr>
          <a:xfrm>
            <a:off x="640080" y="1874519"/>
            <a:ext cx="292608" cy="292608"/>
          </a:xfrm>
          <a:prstGeom prst="ellipse">
            <a:avLst/>
          </a:prstGeom>
          <a:solidFill>
            <a:srgbClr val="121419"/>
          </a:solidFill>
          <a:ln w="12700">
            <a:solidFill>
              <a:srgbClr val="6366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6366F1"/>
                </a:solidFill>
                <a:latin typeface="Arial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" y="1837943"/>
            <a:ext cx="4846320" cy="6217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E7E9EE"/>
                </a:solidFill>
                <a:latin typeface="Arial"/>
              </a:rPr>
              <a:t>Открыть админку</a:t>
            </a:r>
          </a:p>
          <a:p>
            <a:pPr algn="l"/>
            <a:r>
              <a:rPr sz="1050" b="0">
                <a:solidFill>
                  <a:srgbClr val="9AA1AE"/>
                </a:solidFill>
                <a:latin typeface="Arial"/>
              </a:rPr>
              <a:t>goglobal.kg/admin → пароль → главная</a:t>
            </a:r>
          </a:p>
        </p:txBody>
      </p:sp>
      <p:sp>
        <p:nvSpPr>
          <p:cNvPr id="10" name="Oval 9"/>
          <p:cNvSpPr/>
          <p:nvPr/>
        </p:nvSpPr>
        <p:spPr>
          <a:xfrm>
            <a:off x="640080" y="2496311"/>
            <a:ext cx="292608" cy="292608"/>
          </a:xfrm>
          <a:prstGeom prst="ellipse">
            <a:avLst/>
          </a:prstGeom>
          <a:solidFill>
            <a:srgbClr val="121419"/>
          </a:solidFill>
          <a:ln w="12700">
            <a:solidFill>
              <a:srgbClr val="6366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6366F1"/>
                </a:solidFill>
                <a:latin typeface="Arial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8992" y="2459735"/>
            <a:ext cx="4846320" cy="6217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E7E9EE"/>
                </a:solidFill>
                <a:latin typeface="Arial"/>
              </a:rPr>
              <a:t>«Калькулятор стоимости обучения»</a:t>
            </a:r>
          </a:p>
          <a:p>
            <a:pPr algn="l"/>
            <a:r>
              <a:rPr sz="1050" b="0">
                <a:solidFill>
                  <a:srgbClr val="9AA1AE"/>
                </a:solidFill>
                <a:latin typeface="Arial"/>
              </a:rPr>
              <a:t>Кликнуть на заголовок секции</a:t>
            </a:r>
          </a:p>
        </p:txBody>
      </p:sp>
      <p:sp>
        <p:nvSpPr>
          <p:cNvPr id="12" name="Oval 11"/>
          <p:cNvSpPr/>
          <p:nvPr/>
        </p:nvSpPr>
        <p:spPr>
          <a:xfrm>
            <a:off x="640080" y="3118103"/>
            <a:ext cx="292608" cy="292608"/>
          </a:xfrm>
          <a:prstGeom prst="ellipse">
            <a:avLst/>
          </a:prstGeom>
          <a:solidFill>
            <a:srgbClr val="121419"/>
          </a:solidFill>
          <a:ln w="12700">
            <a:solidFill>
              <a:srgbClr val="6366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6366F1"/>
                </a:solidFill>
                <a:latin typeface="Arial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78992" y="3081527"/>
            <a:ext cx="4846320" cy="6217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E7E9EE"/>
                </a:solidFill>
                <a:latin typeface="Arial"/>
              </a:rPr>
              <a:t>Изменить число</a:t>
            </a:r>
          </a:p>
          <a:p>
            <a:pPr algn="l"/>
            <a:r>
              <a:rPr sz="1050" b="0">
                <a:solidFill>
                  <a:srgbClr val="9AA1AE"/>
                </a:solidFill>
                <a:latin typeface="Arial"/>
              </a:rPr>
              <a:t>Поле «Стоимость услуг»: 500 → 700</a:t>
            </a:r>
          </a:p>
        </p:txBody>
      </p:sp>
      <p:sp>
        <p:nvSpPr>
          <p:cNvPr id="14" name="Oval 13"/>
          <p:cNvSpPr/>
          <p:nvPr/>
        </p:nvSpPr>
        <p:spPr>
          <a:xfrm>
            <a:off x="640080" y="3739895"/>
            <a:ext cx="292608" cy="292608"/>
          </a:xfrm>
          <a:prstGeom prst="ellipse">
            <a:avLst/>
          </a:prstGeom>
          <a:solidFill>
            <a:srgbClr val="121419"/>
          </a:solidFill>
          <a:ln w="12700">
            <a:solidFill>
              <a:srgbClr val="6366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6366F1"/>
                </a:solidFill>
                <a:latin typeface="Arial"/>
              </a:rPr>
              <a:t>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78992" y="3703319"/>
            <a:ext cx="4846320" cy="6217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E7E9EE"/>
                </a:solidFill>
                <a:latin typeface="Arial"/>
              </a:rPr>
              <a:t>Нажать «Сохранить» сверху</a:t>
            </a:r>
          </a:p>
          <a:p>
            <a:pPr algn="l"/>
            <a:r>
              <a:rPr sz="1050" b="0">
                <a:solidFill>
                  <a:srgbClr val="9AA1AE"/>
                </a:solidFill>
                <a:latin typeface="Arial"/>
              </a:rPr>
              <a:t>Появится «✓ сохранено»</a:t>
            </a:r>
          </a:p>
        </p:txBody>
      </p:sp>
      <p:sp>
        <p:nvSpPr>
          <p:cNvPr id="16" name="Oval 15"/>
          <p:cNvSpPr/>
          <p:nvPr/>
        </p:nvSpPr>
        <p:spPr>
          <a:xfrm>
            <a:off x="640080" y="4361687"/>
            <a:ext cx="292608" cy="292608"/>
          </a:xfrm>
          <a:prstGeom prst="ellipse">
            <a:avLst/>
          </a:prstGeom>
          <a:solidFill>
            <a:srgbClr val="121419"/>
          </a:solidFill>
          <a:ln w="12700">
            <a:solidFill>
              <a:srgbClr val="6366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6366F1"/>
                </a:solidFill>
                <a:latin typeface="Arial"/>
              </a:rPr>
              <a:t>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78992" y="4325111"/>
            <a:ext cx="4846320" cy="6217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E7E9EE"/>
                </a:solidFill>
                <a:latin typeface="Arial"/>
              </a:rPr>
              <a:t>Проверить сайт</a:t>
            </a:r>
          </a:p>
          <a:p>
            <a:pPr algn="l"/>
            <a:r>
              <a:rPr sz="1050" b="0">
                <a:solidFill>
                  <a:srgbClr val="9AA1AE"/>
                </a:solidFill>
                <a:latin typeface="Arial"/>
              </a:rPr>
              <a:t>goglobal.kg/#calculator — цифра обновилась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5212080"/>
            <a:ext cx="5303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86EFAC"/>
                </a:solidFill>
                <a:latin typeface="Arial"/>
              </a:rPr>
              <a:t>Итого: 5 минут, без программиста, без перезагрузок.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6217920" y="1463040"/>
          <a:ext cx="5303520" cy="243840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4242816"/>
                <a:gridCol w="1060704"/>
              </a:tblGrid>
              <a:tr h="304800">
                <a:tc>
                  <a:txBody>
                    <a:bodyPr wrap="square" lIns="76200" rIns="76200" tIns="38100" bIns="38100"/>
                    <a:lstStyle/>
                    <a:p>
                      <a:pPr algn="l"/>
                      <a:r>
                        <a:rPr sz="1000" b="1">
                          <a:solidFill>
                            <a:srgbClr val="9AA1AE"/>
                          </a:solidFill>
                          <a:latin typeface="Arial"/>
                        </a:rPr>
                        <a:t>Задача</a:t>
                      </a:r>
                    </a:p>
                  </a:txBody>
                  <a:tcPr>
                    <a:solidFill>
                      <a:srgbClr val="121419"/>
                    </a:solidFill>
                  </a:tcPr>
                </a:tc>
                <a:tc>
                  <a:txBody>
                    <a:bodyPr wrap="square" lIns="76200" rIns="76200" tIns="38100" bIns="38100"/>
                    <a:lstStyle/>
                    <a:p>
                      <a:pPr algn="l"/>
                      <a:r>
                        <a:rPr sz="1000" b="1">
                          <a:solidFill>
                            <a:srgbClr val="9AA1AE"/>
                          </a:solidFill>
                          <a:latin typeface="Arial"/>
                        </a:rPr>
                        <a:t>Время</a:t>
                      </a:r>
                    </a:p>
                  </a:txBody>
                  <a:tcPr>
                    <a:solidFill>
                      <a:srgbClr val="121419"/>
                    </a:solidFill>
                  </a:tcPr>
                </a:tc>
              </a:tr>
              <a:tr h="304800">
                <a:tc>
                  <a:txBody>
                    <a:bodyPr wrap="square" lIns="76200" rIns="76200" tIns="38100" bIns="38100"/>
                    <a:lstStyle/>
                    <a:p>
                      <a:pPr algn="l"/>
                      <a:r>
                        <a:rPr sz="1100" b="0">
                          <a:solidFill>
                            <a:srgbClr val="E7E9EE"/>
                          </a:solidFill>
                          <a:latin typeface="Arial"/>
                        </a:rPr>
                        <a:t>Заменить главное фото сайта</a:t>
                      </a:r>
                    </a:p>
                  </a:txBody>
                  <a:tcPr>
                    <a:solidFill>
                      <a:srgbClr val="0B0C0F"/>
                    </a:solidFill>
                  </a:tcPr>
                </a:tc>
                <a:tc>
                  <a:txBody>
                    <a:bodyPr wrap="square" lIns="76200" rIns="76200" tIns="38100" bIns="38100"/>
                    <a:lstStyle/>
                    <a:p>
                      <a:pPr algn="l"/>
                      <a:r>
                        <a:rPr sz="1100" b="0">
                          <a:solidFill>
                            <a:srgbClr val="E7E9EE"/>
                          </a:solidFill>
                          <a:latin typeface="Arial"/>
                        </a:rPr>
                        <a:t>3 мин</a:t>
                      </a:r>
                    </a:p>
                  </a:txBody>
                  <a:tcPr>
                    <a:solidFill>
                      <a:srgbClr val="0B0C0F"/>
                    </a:solidFill>
                  </a:tcPr>
                </a:tc>
              </a:tr>
              <a:tr h="304800">
                <a:tc>
                  <a:txBody>
                    <a:bodyPr wrap="square" lIns="76200" rIns="76200" tIns="38100" bIns="38100"/>
                    <a:lstStyle/>
                    <a:p>
                      <a:pPr algn="l"/>
                      <a:r>
                        <a:rPr sz="1100" b="0">
                          <a:solidFill>
                            <a:srgbClr val="E7E9EE"/>
                          </a:solidFill>
                          <a:latin typeface="Arial"/>
                        </a:rPr>
                        <a:t>Добавить отзыв выпускника</a:t>
                      </a:r>
                    </a:p>
                  </a:txBody>
                  <a:tcPr>
                    <a:solidFill>
                      <a:srgbClr val="0D1628"/>
                    </a:solidFill>
                  </a:tcPr>
                </a:tc>
                <a:tc>
                  <a:txBody>
                    <a:bodyPr wrap="square" lIns="76200" rIns="76200" tIns="38100" bIns="38100"/>
                    <a:lstStyle/>
                    <a:p>
                      <a:pPr algn="l"/>
                      <a:r>
                        <a:rPr sz="1100" b="0">
                          <a:solidFill>
                            <a:srgbClr val="E7E9EE"/>
                          </a:solidFill>
                          <a:latin typeface="Arial"/>
                        </a:rPr>
                        <a:t>5 мин</a:t>
                      </a:r>
                    </a:p>
                  </a:txBody>
                  <a:tcPr>
                    <a:solidFill>
                      <a:srgbClr val="0D1628"/>
                    </a:solidFill>
                  </a:tcPr>
                </a:tc>
              </a:tr>
              <a:tr h="304800">
                <a:tc>
                  <a:txBody>
                    <a:bodyPr wrap="square" lIns="76200" rIns="76200" tIns="38100" bIns="38100"/>
                    <a:lstStyle/>
                    <a:p>
                      <a:pPr algn="l"/>
                      <a:r>
                        <a:rPr sz="1100" b="0">
                          <a:solidFill>
                            <a:srgbClr val="E7E9EE"/>
                          </a:solidFill>
                          <a:latin typeface="Arial"/>
                        </a:rPr>
                        <a:t>Добавить вуз в страну</a:t>
                      </a:r>
                    </a:p>
                  </a:txBody>
                  <a:tcPr>
                    <a:solidFill>
                      <a:srgbClr val="0B0C0F"/>
                    </a:solidFill>
                  </a:tcPr>
                </a:tc>
                <a:tc>
                  <a:txBody>
                    <a:bodyPr wrap="square" lIns="76200" rIns="76200" tIns="38100" bIns="38100"/>
                    <a:lstStyle/>
                    <a:p>
                      <a:pPr algn="l"/>
                      <a:r>
                        <a:rPr sz="1100" b="0">
                          <a:solidFill>
                            <a:srgbClr val="E7E9EE"/>
                          </a:solidFill>
                          <a:latin typeface="Arial"/>
                        </a:rPr>
                        <a:t>7 мин</a:t>
                      </a:r>
                    </a:p>
                  </a:txBody>
                  <a:tcPr>
                    <a:solidFill>
                      <a:srgbClr val="0B0C0F"/>
                    </a:solidFill>
                  </a:tcPr>
                </a:tc>
              </a:tr>
              <a:tr h="304800">
                <a:tc>
                  <a:txBody>
                    <a:bodyPr wrap="square" lIns="76200" rIns="76200" tIns="38100" bIns="38100"/>
                    <a:lstStyle/>
                    <a:p>
                      <a:pPr algn="l"/>
                      <a:r>
                        <a:rPr sz="1100" b="0">
                          <a:solidFill>
                            <a:srgbClr val="E7E9EE"/>
                          </a:solidFill>
                          <a:latin typeface="Arial"/>
                        </a:rPr>
                        <a:t>Создать страницу события</a:t>
                      </a:r>
                    </a:p>
                  </a:txBody>
                  <a:tcPr>
                    <a:solidFill>
                      <a:srgbClr val="0D1628"/>
                    </a:solidFill>
                  </a:tcPr>
                </a:tc>
                <a:tc>
                  <a:txBody>
                    <a:bodyPr wrap="square" lIns="76200" rIns="76200" tIns="38100" bIns="38100"/>
                    <a:lstStyle/>
                    <a:p>
                      <a:pPr algn="l"/>
                      <a:r>
                        <a:rPr sz="1100" b="0">
                          <a:solidFill>
                            <a:srgbClr val="E7E9EE"/>
                          </a:solidFill>
                          <a:latin typeface="Arial"/>
                        </a:rPr>
                        <a:t>10 мин</a:t>
                      </a:r>
                    </a:p>
                  </a:txBody>
                  <a:tcPr>
                    <a:solidFill>
                      <a:srgbClr val="0D1628"/>
                    </a:solidFill>
                  </a:tcPr>
                </a:tc>
              </a:tr>
              <a:tr h="304800">
                <a:tc>
                  <a:txBody>
                    <a:bodyPr wrap="square" lIns="76200" rIns="76200" tIns="38100" bIns="38100"/>
                    <a:lstStyle/>
                    <a:p>
                      <a:pPr algn="l"/>
                      <a:r>
                        <a:rPr sz="1100" b="0">
                          <a:solidFill>
                            <a:srgbClr val="E7E9EE"/>
                          </a:solidFill>
                          <a:latin typeface="Arial"/>
                        </a:rPr>
                        <a:t>Скрыть секцию сайта</a:t>
                      </a:r>
                    </a:p>
                  </a:txBody>
                  <a:tcPr>
                    <a:solidFill>
                      <a:srgbClr val="0B0C0F"/>
                    </a:solidFill>
                  </a:tcPr>
                </a:tc>
                <a:tc>
                  <a:txBody>
                    <a:bodyPr wrap="square" lIns="76200" rIns="76200" tIns="38100" bIns="38100"/>
                    <a:lstStyle/>
                    <a:p>
                      <a:pPr algn="l"/>
                      <a:r>
                        <a:rPr sz="1100" b="0">
                          <a:solidFill>
                            <a:srgbClr val="E7E9EE"/>
                          </a:solidFill>
                          <a:latin typeface="Arial"/>
                        </a:rPr>
                        <a:t>1 мин</a:t>
                      </a:r>
                    </a:p>
                  </a:txBody>
                  <a:tcPr>
                    <a:solidFill>
                      <a:srgbClr val="0B0C0F"/>
                    </a:solidFill>
                  </a:tcPr>
                </a:tc>
              </a:tr>
              <a:tr h="304800">
                <a:tc>
                  <a:txBody>
                    <a:bodyPr wrap="square" lIns="76200" rIns="76200" tIns="38100" bIns="38100"/>
                    <a:lstStyle/>
                    <a:p>
                      <a:pPr algn="l"/>
                      <a:r>
                        <a:rPr sz="1100" b="0">
                          <a:solidFill>
                            <a:srgbClr val="E7E9EE"/>
                          </a:solidFill>
                          <a:latin typeface="Arial"/>
                        </a:rPr>
                        <a:t>Обновить телефон в подвале</a:t>
                      </a:r>
                    </a:p>
                  </a:txBody>
                  <a:tcPr>
                    <a:solidFill>
                      <a:srgbClr val="0D1628"/>
                    </a:solidFill>
                  </a:tcPr>
                </a:tc>
                <a:tc>
                  <a:txBody>
                    <a:bodyPr wrap="square" lIns="76200" rIns="76200" tIns="38100" bIns="38100"/>
                    <a:lstStyle/>
                    <a:p>
                      <a:pPr algn="l"/>
                      <a:r>
                        <a:rPr sz="1100" b="0">
                          <a:solidFill>
                            <a:srgbClr val="E7E9EE"/>
                          </a:solidFill>
                          <a:latin typeface="Arial"/>
                        </a:rPr>
                        <a:t>2 мин</a:t>
                      </a:r>
                    </a:p>
                  </a:txBody>
                  <a:tcPr>
                    <a:solidFill>
                      <a:srgbClr val="0D1628"/>
                    </a:solidFill>
                  </a:tcPr>
                </a:tc>
              </a:tr>
              <a:tr h="304800">
                <a:tc>
                  <a:txBody>
                    <a:bodyPr wrap="square" lIns="76200" rIns="76200" tIns="38100" bIns="38100"/>
                    <a:lstStyle/>
                    <a:p>
                      <a:pPr algn="l"/>
                      <a:r>
                        <a:rPr sz="1100" b="0">
                          <a:solidFill>
                            <a:srgbClr val="E7E9EE"/>
                          </a:solidFill>
                          <a:latin typeface="Arial"/>
                        </a:rPr>
                        <a:t>Новый вопрос в FAQ</a:t>
                      </a:r>
                    </a:p>
                  </a:txBody>
                  <a:tcPr>
                    <a:solidFill>
                      <a:srgbClr val="0B0C0F"/>
                    </a:solidFill>
                  </a:tcPr>
                </a:tc>
                <a:tc>
                  <a:txBody>
                    <a:bodyPr wrap="square" lIns="76200" rIns="76200" tIns="38100" bIns="38100"/>
                    <a:lstStyle/>
                    <a:p>
                      <a:pPr algn="l"/>
                      <a:r>
                        <a:rPr sz="1100" b="0">
                          <a:solidFill>
                            <a:srgbClr val="E7E9EE"/>
                          </a:solidFill>
                          <a:latin typeface="Arial"/>
                        </a:rPr>
                        <a:t>3 мин</a:t>
                      </a:r>
                    </a:p>
                  </a:txBody>
                  <a:tcPr>
                    <a:solidFill>
                      <a:srgbClr val="0B0C0F"/>
                    </a:solidFill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6217920" y="4572000"/>
            <a:ext cx="53035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FDE68A"/>
                </a:solidFill>
                <a:latin typeface="Arial"/>
              </a:rPr>
              <a:t>⚠ Не забывать кнопку «Сохранить» в шапке — без неё правки контента не применятся.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6E7582"/>
                </a:solidFill>
                <a:latin typeface="Arial"/>
              </a:rPr>
              <a:t>GoGlobal · база знаний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79615" y="6473952"/>
            <a:ext cx="4572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>
                <a:solidFill>
                  <a:srgbClr val="6E7582"/>
                </a:solidFill>
                <a:latin typeface="Arial"/>
              </a:rPr>
              <a:t>V · Правки сайта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C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080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11535" y="164592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E7582"/>
                </a:solidFill>
                <a:latin typeface="Arial"/>
              </a:rPr>
              <a:t>14 / 36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84048"/>
            <a:ext cx="82296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6366F1"/>
                </a:solidFill>
                <a:latin typeface="Arial"/>
              </a:rPr>
              <a:t>VI · CRM ПРОДАВЦА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58368"/>
            <a:ext cx="10911535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E7E9EE"/>
                </a:solidFill>
                <a:latin typeface="Arial"/>
              </a:rPr>
              <a:t>Рабочее место менеджера</a:t>
            </a:r>
          </a:p>
        </p:txBody>
      </p:sp>
      <p:sp>
        <p:nvSpPr>
          <p:cNvPr id="7" name="Oval 6"/>
          <p:cNvSpPr/>
          <p:nvPr/>
        </p:nvSpPr>
        <p:spPr>
          <a:xfrm>
            <a:off x="640080" y="1554480"/>
            <a:ext cx="292608" cy="292608"/>
          </a:xfrm>
          <a:prstGeom prst="ellipse">
            <a:avLst/>
          </a:prstGeom>
          <a:solidFill>
            <a:srgbClr val="121419"/>
          </a:solidFill>
          <a:ln w="12700">
            <a:solidFill>
              <a:srgbClr val="6366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6366F1"/>
                </a:solidFill>
                <a:latin typeface="Arial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" y="1517904"/>
            <a:ext cx="484632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1">
                <a:solidFill>
                  <a:srgbClr val="E7E9EE"/>
                </a:solidFill>
                <a:latin typeface="Arial"/>
              </a:rPr>
              <a:t>Шапка</a:t>
            </a:r>
          </a:p>
          <a:p>
            <a:pPr algn="l"/>
            <a:r>
              <a:rPr sz="1100" b="0">
                <a:solidFill>
                  <a:srgbClr val="9AA1AE"/>
                </a:solidFill>
                <a:latin typeface="Arial"/>
              </a:rPr>
              <a:t>Поиск · тумблер «в сети» · база знаний · «+ Лид»</a:t>
            </a:r>
          </a:p>
        </p:txBody>
      </p:sp>
      <p:sp>
        <p:nvSpPr>
          <p:cNvPr id="9" name="Oval 8"/>
          <p:cNvSpPr/>
          <p:nvPr/>
        </p:nvSpPr>
        <p:spPr>
          <a:xfrm>
            <a:off x="640080" y="2212848"/>
            <a:ext cx="292608" cy="292608"/>
          </a:xfrm>
          <a:prstGeom prst="ellipse">
            <a:avLst/>
          </a:prstGeom>
          <a:solidFill>
            <a:srgbClr val="121419"/>
          </a:solidFill>
          <a:ln w="12700">
            <a:solidFill>
              <a:srgbClr val="6366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6366F1"/>
                </a:solidFill>
                <a:latin typeface="Arial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8992" y="2176272"/>
            <a:ext cx="484632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1">
                <a:solidFill>
                  <a:srgbClr val="E7E9EE"/>
                </a:solidFill>
                <a:latin typeface="Arial"/>
              </a:rPr>
              <a:t>Сайдбар фильтров</a:t>
            </a:r>
          </a:p>
          <a:p>
            <a:pPr algn="l"/>
            <a:r>
              <a:rPr sz="1100" b="0">
                <a:solidFill>
                  <a:srgbClr val="9AA1AE"/>
                </a:solidFill>
                <a:latin typeface="Arial"/>
              </a:rPr>
              <a:t>Статус, источник, страна, дата + пресеты</a:t>
            </a:r>
          </a:p>
        </p:txBody>
      </p:sp>
      <p:sp>
        <p:nvSpPr>
          <p:cNvPr id="11" name="Oval 10"/>
          <p:cNvSpPr/>
          <p:nvPr/>
        </p:nvSpPr>
        <p:spPr>
          <a:xfrm>
            <a:off x="640080" y="2871216"/>
            <a:ext cx="292608" cy="292608"/>
          </a:xfrm>
          <a:prstGeom prst="ellipse">
            <a:avLst/>
          </a:prstGeom>
          <a:solidFill>
            <a:srgbClr val="121419"/>
          </a:solidFill>
          <a:ln w="12700">
            <a:solidFill>
              <a:srgbClr val="6366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6366F1"/>
                </a:solidFill>
                <a:latin typeface="Arial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78992" y="2834640"/>
            <a:ext cx="484632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1">
                <a:solidFill>
                  <a:srgbClr val="E7E9EE"/>
                </a:solidFill>
                <a:latin typeface="Arial"/>
              </a:rPr>
              <a:t>«Мой день»</a:t>
            </a:r>
          </a:p>
          <a:p>
            <a:pPr algn="l"/>
            <a:r>
              <a:rPr sz="1100" b="0">
                <a:solidFill>
                  <a:srgbClr val="9AA1AE"/>
                </a:solidFill>
                <a:latin typeface="Arial"/>
              </a:rPr>
              <a:t>Личный дашборд: встречи, горячие, задачи, суммы</a:t>
            </a:r>
          </a:p>
        </p:txBody>
      </p:sp>
      <p:sp>
        <p:nvSpPr>
          <p:cNvPr id="13" name="Oval 12"/>
          <p:cNvSpPr/>
          <p:nvPr/>
        </p:nvSpPr>
        <p:spPr>
          <a:xfrm>
            <a:off x="640080" y="3529584"/>
            <a:ext cx="292608" cy="292608"/>
          </a:xfrm>
          <a:prstGeom prst="ellipse">
            <a:avLst/>
          </a:prstGeom>
          <a:solidFill>
            <a:srgbClr val="121419"/>
          </a:solidFill>
          <a:ln w="12700">
            <a:solidFill>
              <a:srgbClr val="6366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6366F1"/>
                </a:solidFill>
                <a:latin typeface="Arial"/>
              </a:rPr>
              <a:t>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992" y="3493008"/>
            <a:ext cx="484632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1">
                <a:solidFill>
                  <a:srgbClr val="E7E9EE"/>
                </a:solidFill>
                <a:latin typeface="Arial"/>
              </a:rPr>
              <a:t>Список лидов</a:t>
            </a:r>
          </a:p>
          <a:p>
            <a:pPr algn="l"/>
            <a:r>
              <a:rPr sz="1100" b="0">
                <a:solidFill>
                  <a:srgbClr val="9AA1AE"/>
                </a:solidFill>
                <a:latin typeface="Arial"/>
              </a:rPr>
              <a:t>5 видов отображения на выбор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4434840"/>
            <a:ext cx="5303520" cy="1463040"/>
          </a:xfrm>
          <a:prstGeom prst="roundRect">
            <a:avLst>
              <a:gd name="adj" fmla="val 6000"/>
            </a:avLst>
          </a:prstGeom>
          <a:solidFill>
            <a:srgbClr val="2A1E0A"/>
          </a:solidFill>
          <a:ln w="9525">
            <a:solidFill>
              <a:srgbClr val="7850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4572000"/>
            <a:ext cx="484632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FDE68A"/>
                </a:solidFill>
                <a:latin typeface="Arial"/>
              </a:rPr>
              <a:t>КРИТИЧНАЯ ПРИВЫЧКА</a:t>
            </a:r>
          </a:p>
          <a:p>
            <a:pPr algn="l"/>
            <a:r>
              <a:rPr sz="1150" b="0">
                <a:solidFill>
                  <a:srgbClr val="E7E9EE"/>
                </a:solidFill>
                <a:latin typeface="Arial"/>
              </a:rPr>
              <a:t>Тумблер «🟢 В сети». Выключен — новые лиды НЕ приходят вам.</a:t>
            </a:r>
          </a:p>
          <a:p>
            <a:pPr algn="l"/>
            <a:r>
              <a:rPr sz="1150" b="1">
                <a:solidFill>
                  <a:srgbClr val="FDE68A"/>
                </a:solidFill>
                <a:latin typeface="Arial"/>
              </a:rPr>
              <a:t>Утром включить · на обед выключить · вечером выключить.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17920" y="1371600"/>
            <a:ext cx="5303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E7E9EE"/>
                </a:solidFill>
                <a:latin typeface="Arial"/>
              </a:rPr>
              <a:t>Виджет «Мой день»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17920" y="1828800"/>
            <a:ext cx="1691640" cy="868680"/>
          </a:xfrm>
          <a:prstGeom prst="roundRect">
            <a:avLst>
              <a:gd name="adj" fmla="val 6000"/>
            </a:avLst>
          </a:prstGeom>
          <a:solidFill>
            <a:srgbClr val="121419"/>
          </a:solidFill>
          <a:ln w="9525">
            <a:solidFill>
              <a:srgbClr val="2326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55080" y="1920240"/>
            <a:ext cx="141732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1">
                <a:solidFill>
                  <a:srgbClr val="6E7582"/>
                </a:solidFill>
                <a:latin typeface="Arial"/>
              </a:rPr>
              <a:t>ВСТРЕЧИ</a:t>
            </a:r>
          </a:p>
          <a:p>
            <a:pPr algn="l"/>
            <a:r>
              <a:rPr sz="2200" b="1">
                <a:solidFill>
                  <a:srgbClr val="E7E9EE"/>
                </a:solidFill>
                <a:latin typeface="Arial"/>
              </a:rPr>
              <a:t>3</a:t>
            </a:r>
          </a:p>
          <a:p>
            <a:pPr algn="l"/>
            <a:r>
              <a:rPr sz="900" b="0">
                <a:solidFill>
                  <a:srgbClr val="6E7582"/>
                </a:solidFill>
                <a:latin typeface="Arial"/>
              </a:rPr>
              <a:t>назначено на сегодня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046720" y="1828800"/>
            <a:ext cx="1691640" cy="868680"/>
          </a:xfrm>
          <a:prstGeom prst="roundRect">
            <a:avLst>
              <a:gd name="adj" fmla="val 6000"/>
            </a:avLst>
          </a:prstGeom>
          <a:solidFill>
            <a:srgbClr val="121419"/>
          </a:solidFill>
          <a:ln w="9525">
            <a:solidFill>
              <a:srgbClr val="2326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183880" y="1920240"/>
            <a:ext cx="141732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1">
                <a:solidFill>
                  <a:srgbClr val="6E7582"/>
                </a:solidFill>
                <a:latin typeface="Arial"/>
              </a:rPr>
              <a:t>ГОРЯЧИХ</a:t>
            </a:r>
          </a:p>
          <a:p>
            <a:pPr algn="l"/>
            <a:r>
              <a:rPr sz="2200" b="1">
                <a:solidFill>
                  <a:srgbClr val="E7E9EE"/>
                </a:solidFill>
                <a:latin typeface="Arial"/>
              </a:rPr>
              <a:t>5</a:t>
            </a:r>
          </a:p>
          <a:p>
            <a:pPr algn="l"/>
            <a:r>
              <a:rPr sz="900" b="0">
                <a:solidFill>
                  <a:srgbClr val="6E7582"/>
                </a:solidFill>
                <a:latin typeface="Arial"/>
              </a:rPr>
              <a:t>скоринг 60+ — приоритет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875520" y="1828800"/>
            <a:ext cx="1691640" cy="868680"/>
          </a:xfrm>
          <a:prstGeom prst="roundRect">
            <a:avLst>
              <a:gd name="adj" fmla="val 6000"/>
            </a:avLst>
          </a:prstGeom>
          <a:solidFill>
            <a:srgbClr val="121419"/>
          </a:solidFill>
          <a:ln w="9525">
            <a:solidFill>
              <a:srgbClr val="2326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012680" y="1920240"/>
            <a:ext cx="141732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1">
                <a:solidFill>
                  <a:srgbClr val="6E7582"/>
                </a:solidFill>
                <a:latin typeface="Arial"/>
              </a:rPr>
              <a:t>ЗАДАЧ</a:t>
            </a:r>
          </a:p>
          <a:p>
            <a:pPr algn="l"/>
            <a:r>
              <a:rPr sz="2200" b="1">
                <a:solidFill>
                  <a:srgbClr val="E7E9EE"/>
                </a:solidFill>
                <a:latin typeface="Arial"/>
              </a:rPr>
              <a:t>11 (2⚠)</a:t>
            </a:r>
          </a:p>
          <a:p>
            <a:pPr algn="l"/>
            <a:r>
              <a:rPr sz="900" b="0">
                <a:solidFill>
                  <a:srgbClr val="6E7582"/>
                </a:solidFill>
                <a:latin typeface="Arial"/>
              </a:rPr>
              <a:t>открытые (просрочены)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17920" y="2834640"/>
            <a:ext cx="1691640" cy="868680"/>
          </a:xfrm>
          <a:prstGeom prst="roundRect">
            <a:avLst>
              <a:gd name="adj" fmla="val 6000"/>
            </a:avLst>
          </a:prstGeom>
          <a:solidFill>
            <a:srgbClr val="121419"/>
          </a:solidFill>
          <a:ln w="9525">
            <a:solidFill>
              <a:srgbClr val="2326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55080" y="2926080"/>
            <a:ext cx="141732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1">
                <a:solidFill>
                  <a:srgbClr val="6E7582"/>
                </a:solidFill>
                <a:latin typeface="Arial"/>
              </a:rPr>
              <a:t>В РАБОТЕ</a:t>
            </a:r>
          </a:p>
          <a:p>
            <a:pPr algn="l"/>
            <a:r>
              <a:rPr sz="2200" b="1">
                <a:solidFill>
                  <a:srgbClr val="E7E9EE"/>
                </a:solidFill>
                <a:latin typeface="Arial"/>
              </a:rPr>
              <a:t>$67k</a:t>
            </a:r>
          </a:p>
          <a:p>
            <a:pPr algn="l"/>
            <a:r>
              <a:rPr sz="900" b="0">
                <a:solidFill>
                  <a:srgbClr val="6E7582"/>
                </a:solidFill>
                <a:latin typeface="Arial"/>
              </a:rPr>
              <a:t>сумма открытых сделок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046720" y="2834640"/>
            <a:ext cx="1691640" cy="868680"/>
          </a:xfrm>
          <a:prstGeom prst="roundRect">
            <a:avLst>
              <a:gd name="adj" fmla="val 6000"/>
            </a:avLst>
          </a:prstGeom>
          <a:solidFill>
            <a:srgbClr val="121419"/>
          </a:solidFill>
          <a:ln w="9525">
            <a:solidFill>
              <a:srgbClr val="2326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183880" y="2926080"/>
            <a:ext cx="141732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1">
                <a:solidFill>
                  <a:srgbClr val="6E7582"/>
                </a:solidFill>
                <a:latin typeface="Arial"/>
              </a:rPr>
              <a:t>ПРОГНОЗ</a:t>
            </a:r>
          </a:p>
          <a:p>
            <a:pPr algn="l"/>
            <a:r>
              <a:rPr sz="2200" b="1">
                <a:solidFill>
                  <a:srgbClr val="86EFAC"/>
                </a:solidFill>
                <a:latin typeface="Arial"/>
              </a:rPr>
              <a:t>$31k</a:t>
            </a:r>
          </a:p>
          <a:p>
            <a:pPr algn="l"/>
            <a:r>
              <a:rPr sz="900" b="0">
                <a:solidFill>
                  <a:srgbClr val="6E7582"/>
                </a:solidFill>
                <a:latin typeface="Arial"/>
              </a:rPr>
              <a:t>сумма × вероятность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17920" y="3977639"/>
            <a:ext cx="530352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9AA1AE"/>
                </a:solidFill>
                <a:latin typeface="Arial"/>
              </a:rPr>
              <a:t>Виджет отвечает на вопрос «что делать прямо сейчас»:</a:t>
            </a:r>
          </a:p>
          <a:p>
            <a:pPr algn="l"/>
            <a:r>
              <a:rPr sz="1150" b="0">
                <a:solidFill>
                  <a:srgbClr val="9AA1AE"/>
                </a:solidFill>
                <a:latin typeface="Arial"/>
              </a:rPr>
              <a:t>сначала просроченные задачи, потом горячие лиды, потом встречи.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6E7582"/>
                </a:solidFill>
                <a:latin typeface="Arial"/>
              </a:rPr>
              <a:t>GoGlobal · база знаний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979615" y="6473952"/>
            <a:ext cx="4572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>
                <a:solidFill>
                  <a:srgbClr val="6E7582"/>
                </a:solidFill>
                <a:latin typeface="Arial"/>
              </a:rPr>
              <a:t>VI · CRM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C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080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11535" y="164592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E7582"/>
                </a:solidFill>
                <a:latin typeface="Arial"/>
              </a:rPr>
              <a:t>15 / 36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84048"/>
            <a:ext cx="82296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6366F1"/>
                </a:solidFill>
                <a:latin typeface="Arial"/>
              </a:rPr>
              <a:t>VI · CRM ПРОДАВЦА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58368"/>
            <a:ext cx="10911535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E7E9EE"/>
                </a:solidFill>
                <a:latin typeface="Arial"/>
              </a:rPr>
              <a:t>Пять видов списка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417320"/>
          <a:ext cx="10881358" cy="205740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2365513"/>
                <a:gridCol w="2838615"/>
                <a:gridCol w="2602064"/>
                <a:gridCol w="3075166"/>
              </a:tblGrid>
              <a:tr h="342900">
                <a:tc>
                  <a:txBody>
                    <a:bodyPr wrap="square" lIns="76200" rIns="76200" tIns="38100" bIns="38100"/>
                    <a:lstStyle/>
                    <a:p>
                      <a:pPr algn="l"/>
                      <a:r>
                        <a:rPr sz="950" b="1">
                          <a:solidFill>
                            <a:srgbClr val="9AA1AE"/>
                          </a:solidFill>
                          <a:latin typeface="Arial"/>
                        </a:rPr>
                        <a:t>Вид</a:t>
                      </a:r>
                    </a:p>
                  </a:txBody>
                  <a:tcPr>
                    <a:solidFill>
                      <a:srgbClr val="121419"/>
                    </a:solidFill>
                  </a:tcPr>
                </a:tc>
                <a:tc>
                  <a:txBody>
                    <a:bodyPr wrap="square" lIns="76200" rIns="76200" tIns="38100" bIns="38100"/>
                    <a:lstStyle/>
                    <a:p>
                      <a:pPr algn="l"/>
                      <a:r>
                        <a:rPr sz="950" b="1">
                          <a:solidFill>
                            <a:srgbClr val="9AA1AE"/>
                          </a:solidFill>
                          <a:latin typeface="Arial"/>
                        </a:rPr>
                        <a:t>Что показывает</a:t>
                      </a:r>
                    </a:p>
                  </a:txBody>
                  <a:tcPr>
                    <a:solidFill>
                      <a:srgbClr val="121419"/>
                    </a:solidFill>
                  </a:tcPr>
                </a:tc>
                <a:tc>
                  <a:txBody>
                    <a:bodyPr wrap="square" lIns="76200" rIns="76200" tIns="38100" bIns="38100"/>
                    <a:lstStyle/>
                    <a:p>
                      <a:pPr algn="l"/>
                      <a:r>
                        <a:rPr sz="950" b="1">
                          <a:solidFill>
                            <a:srgbClr val="9AA1AE"/>
                          </a:solidFill>
                          <a:latin typeface="Arial"/>
                        </a:rPr>
                        <a:t>Когда удобен</a:t>
                      </a:r>
                    </a:p>
                  </a:txBody>
                  <a:tcPr>
                    <a:solidFill>
                      <a:srgbClr val="121419"/>
                    </a:solidFill>
                  </a:tcPr>
                </a:tc>
                <a:tc>
                  <a:txBody>
                    <a:bodyPr wrap="square" lIns="76200" rIns="76200" tIns="38100" bIns="38100"/>
                    <a:lstStyle/>
                    <a:p>
                      <a:pPr algn="l"/>
                      <a:r>
                        <a:rPr sz="950" b="1">
                          <a:solidFill>
                            <a:srgbClr val="9AA1AE"/>
                          </a:solidFill>
                          <a:latin typeface="Arial"/>
                        </a:rPr>
                        <a:t>Фишка</a:t>
                      </a:r>
                    </a:p>
                  </a:txBody>
                  <a:tcPr>
                    <a:solidFill>
                      <a:srgbClr val="121419"/>
                    </a:solidFill>
                  </a:tcPr>
                </a:tc>
              </a:tr>
              <a:tr h="342900">
                <a:tc>
                  <a:txBody>
                    <a:bodyPr wrap="square" lIns="76200" rIns="76200" tIns="38100" bIns="38100"/>
                    <a:lstStyle/>
                    <a:p>
                      <a:pPr algn="l"/>
                      <a:r>
                        <a:rPr sz="1050" b="1">
                          <a:solidFill>
                            <a:srgbClr val="E7E9EE"/>
                          </a:solidFill>
                          <a:latin typeface="Arial"/>
                        </a:rPr>
                        <a:t>🪟 Карточки</a:t>
                      </a:r>
                    </a:p>
                  </a:txBody>
                  <a:tcPr>
                    <a:solidFill>
                      <a:srgbClr val="0B0C0F"/>
                    </a:solidFill>
                  </a:tcPr>
                </a:tc>
                <a:tc>
                  <a:txBody>
                    <a:bodyPr wrap="square" lIns="76200" rIns="76200" tIns="38100" bIns="38100"/>
                    <a:lstStyle/>
                    <a:p>
                      <a:pPr algn="l"/>
                      <a:r>
                        <a:rPr sz="1050" b="0">
                          <a:solidFill>
                            <a:srgbClr val="E7E9EE"/>
                          </a:solidFill>
                          <a:latin typeface="Arial"/>
                        </a:rPr>
                        <a:t>Сетка крупных карточек</a:t>
                      </a:r>
                    </a:p>
                  </a:txBody>
                  <a:tcPr>
                    <a:solidFill>
                      <a:srgbClr val="0B0C0F"/>
                    </a:solidFill>
                  </a:tcPr>
                </a:tc>
                <a:tc>
                  <a:txBody>
                    <a:bodyPr wrap="square" lIns="76200" rIns="76200" tIns="38100" bIns="38100"/>
                    <a:lstStyle/>
                    <a:p>
                      <a:pPr algn="l"/>
                      <a:r>
                        <a:rPr sz="1050" b="0">
                          <a:solidFill>
                            <a:srgbClr val="E7E9EE"/>
                          </a:solidFill>
                          <a:latin typeface="Arial"/>
                        </a:rPr>
                        <a:t>Общий обзор глазами</a:t>
                      </a:r>
                    </a:p>
                  </a:txBody>
                  <a:tcPr>
                    <a:solidFill>
                      <a:srgbClr val="0B0C0F"/>
                    </a:solidFill>
                  </a:tcPr>
                </a:tc>
                <a:tc>
                  <a:txBody>
                    <a:bodyPr wrap="square" lIns="76200" rIns="76200" tIns="38100" bIns="38100"/>
                    <a:lstStyle/>
                    <a:p>
                      <a:pPr algn="l"/>
                      <a:r>
                        <a:rPr sz="1050" b="0">
                          <a:solidFill>
                            <a:srgbClr val="E7E9EE"/>
                          </a:solidFill>
                          <a:latin typeface="Arial"/>
                        </a:rPr>
                        <a:t>Метки и суммы видны сразу</a:t>
                      </a:r>
                    </a:p>
                  </a:txBody>
                  <a:tcPr>
                    <a:solidFill>
                      <a:srgbClr val="0B0C0F"/>
                    </a:solidFill>
                  </a:tcPr>
                </a:tc>
              </a:tr>
              <a:tr h="342900">
                <a:tc>
                  <a:txBody>
                    <a:bodyPr wrap="square" lIns="76200" rIns="76200" tIns="38100" bIns="38100"/>
                    <a:lstStyle/>
                    <a:p>
                      <a:pPr algn="l"/>
                      <a:r>
                        <a:rPr sz="1050" b="1">
                          <a:solidFill>
                            <a:srgbClr val="E7E9EE"/>
                          </a:solidFill>
                          <a:latin typeface="Arial"/>
                        </a:rPr>
                        <a:t>📋 Таблица</a:t>
                      </a:r>
                    </a:p>
                  </a:txBody>
                  <a:tcPr>
                    <a:solidFill>
                      <a:srgbClr val="0D1628"/>
                    </a:solidFill>
                  </a:tcPr>
                </a:tc>
                <a:tc>
                  <a:txBody>
                    <a:bodyPr wrap="square" lIns="76200" rIns="76200" tIns="38100" bIns="38100"/>
                    <a:lstStyle/>
                    <a:p>
                      <a:pPr algn="l"/>
                      <a:r>
                        <a:rPr sz="1050" b="0">
                          <a:solidFill>
                            <a:srgbClr val="E7E9EE"/>
                          </a:solidFill>
                          <a:latin typeface="Arial"/>
                        </a:rPr>
                        <a:t>Компактные строки, 9 колонок</a:t>
                      </a:r>
                    </a:p>
                  </a:txBody>
                  <a:tcPr>
                    <a:solidFill>
                      <a:srgbClr val="0D1628"/>
                    </a:solidFill>
                  </a:tcPr>
                </a:tc>
                <a:tc>
                  <a:txBody>
                    <a:bodyPr wrap="square" lIns="76200" rIns="76200" tIns="38100" bIns="38100"/>
                    <a:lstStyle/>
                    <a:p>
                      <a:pPr algn="l"/>
                      <a:r>
                        <a:rPr sz="1050" b="0">
                          <a:solidFill>
                            <a:srgbClr val="E7E9EE"/>
                          </a:solidFill>
                          <a:latin typeface="Arial"/>
                        </a:rPr>
                        <a:t>Много лидов, нужна плотность</a:t>
                      </a:r>
                    </a:p>
                  </a:txBody>
                  <a:tcPr>
                    <a:solidFill>
                      <a:srgbClr val="0D1628"/>
                    </a:solidFill>
                  </a:tcPr>
                </a:tc>
                <a:tc>
                  <a:txBody>
                    <a:bodyPr wrap="square" lIns="76200" rIns="76200" tIns="38100" bIns="38100"/>
                    <a:lstStyle/>
                    <a:p>
                      <a:pPr algn="l"/>
                      <a:r>
                        <a:rPr sz="1050" b="0">
                          <a:solidFill>
                            <a:srgbClr val="E7E9EE"/>
                          </a:solidFill>
                          <a:latin typeface="Arial"/>
                        </a:rPr>
                        <a:t>Скан + массовый выбор</a:t>
                      </a:r>
                    </a:p>
                  </a:txBody>
                  <a:tcPr>
                    <a:solidFill>
                      <a:srgbClr val="0D1628"/>
                    </a:solidFill>
                  </a:tcPr>
                </a:tc>
              </a:tr>
              <a:tr h="342900">
                <a:tc>
                  <a:txBody>
                    <a:bodyPr wrap="square" lIns="76200" rIns="76200" tIns="38100" bIns="38100"/>
                    <a:lstStyle/>
                    <a:p>
                      <a:pPr algn="l"/>
                      <a:r>
                        <a:rPr sz="1050" b="1">
                          <a:solidFill>
                            <a:srgbClr val="E7E9EE"/>
                          </a:solidFill>
                          <a:latin typeface="Arial"/>
                        </a:rPr>
                        <a:t>🎯 Воронка статусов</a:t>
                      </a:r>
                    </a:p>
                  </a:txBody>
                  <a:tcPr>
                    <a:solidFill>
                      <a:srgbClr val="0B0C0F"/>
                    </a:solidFill>
                  </a:tcPr>
                </a:tc>
                <a:tc>
                  <a:txBody>
                    <a:bodyPr wrap="square" lIns="76200" rIns="76200" tIns="38100" bIns="38100"/>
                    <a:lstStyle/>
                    <a:p>
                      <a:pPr algn="l"/>
                      <a:r>
                        <a:rPr sz="1050" b="0">
                          <a:solidFill>
                            <a:srgbClr val="E7E9EE"/>
                          </a:solidFill>
                          <a:latin typeface="Arial"/>
                        </a:rPr>
                        <a:t>Канбан-колонки по статусам</a:t>
                      </a:r>
                    </a:p>
                  </a:txBody>
                  <a:tcPr>
                    <a:solidFill>
                      <a:srgbClr val="0B0C0F"/>
                    </a:solidFill>
                  </a:tcPr>
                </a:tc>
                <a:tc>
                  <a:txBody>
                    <a:bodyPr wrap="square" lIns="76200" rIns="76200" tIns="38100" bIns="38100"/>
                    <a:lstStyle/>
                    <a:p>
                      <a:pPr algn="l"/>
                      <a:r>
                        <a:rPr sz="1050" b="0">
                          <a:solidFill>
                            <a:srgbClr val="E7E9EE"/>
                          </a:solidFill>
                          <a:latin typeface="Arial"/>
                        </a:rPr>
                        <a:t>Управление потоком</a:t>
                      </a:r>
                    </a:p>
                  </a:txBody>
                  <a:tcPr>
                    <a:solidFill>
                      <a:srgbClr val="0B0C0F"/>
                    </a:solidFill>
                  </a:tcPr>
                </a:tc>
                <a:tc>
                  <a:txBody>
                    <a:bodyPr wrap="square" lIns="76200" rIns="76200" tIns="38100" bIns="38100"/>
                    <a:lstStyle/>
                    <a:p>
                      <a:pPr algn="l"/>
                      <a:r>
                        <a:rPr sz="1050" b="1">
                          <a:solidFill>
                            <a:srgbClr val="86EFAC"/>
                          </a:solidFill>
                          <a:latin typeface="Arial"/>
                        </a:rPr>
                        <a:t>Перетаскивание = смена статуса</a:t>
                      </a:r>
                    </a:p>
                  </a:txBody>
                  <a:tcPr>
                    <a:solidFill>
                      <a:srgbClr val="0B0C0F"/>
                    </a:solidFill>
                  </a:tcPr>
                </a:tc>
              </a:tr>
              <a:tr h="342900">
                <a:tc>
                  <a:txBody>
                    <a:bodyPr wrap="square" lIns="76200" rIns="76200" tIns="38100" bIns="38100"/>
                    <a:lstStyle/>
                    <a:p>
                      <a:pPr algn="l"/>
                      <a:r>
                        <a:rPr sz="1050" b="1">
                          <a:solidFill>
                            <a:srgbClr val="E7E9EE"/>
                          </a:solidFill>
                          <a:latin typeface="Arial"/>
                        </a:rPr>
                        <a:t>🎓 Этапы клиентов</a:t>
                      </a:r>
                    </a:p>
                  </a:txBody>
                  <a:tcPr>
                    <a:solidFill>
                      <a:srgbClr val="0D1628"/>
                    </a:solidFill>
                  </a:tcPr>
                </a:tc>
                <a:tc>
                  <a:txBody>
                    <a:bodyPr wrap="square" lIns="76200" rIns="76200" tIns="38100" bIns="38100"/>
                    <a:lstStyle/>
                    <a:p>
                      <a:pPr algn="l"/>
                      <a:r>
                        <a:rPr sz="1050" b="0">
                          <a:solidFill>
                            <a:srgbClr val="E7E9EE"/>
                          </a:solidFill>
                          <a:latin typeface="Arial"/>
                        </a:rPr>
                        <a:t>Канбан только для Won</a:t>
                      </a:r>
                    </a:p>
                  </a:txBody>
                  <a:tcPr>
                    <a:solidFill>
                      <a:srgbClr val="0D1628"/>
                    </a:solidFill>
                  </a:tcPr>
                </a:tc>
                <a:tc>
                  <a:txBody>
                    <a:bodyPr wrap="square" lIns="76200" rIns="76200" tIns="38100" bIns="38100"/>
                    <a:lstStyle/>
                    <a:p>
                      <a:pPr algn="l"/>
                      <a:r>
                        <a:rPr sz="1050" b="0">
                          <a:solidFill>
                            <a:srgbClr val="E7E9EE"/>
                          </a:solidFill>
                          <a:latin typeface="Arial"/>
                        </a:rPr>
                        <a:t>Ведение после контракта</a:t>
                      </a:r>
                    </a:p>
                  </a:txBody>
                  <a:tcPr>
                    <a:solidFill>
                      <a:srgbClr val="0D1628"/>
                    </a:solidFill>
                  </a:tcPr>
                </a:tc>
                <a:tc>
                  <a:txBody>
                    <a:bodyPr wrap="square" lIns="76200" rIns="76200" tIns="38100" bIns="38100"/>
                    <a:lstStyle/>
                    <a:p>
                      <a:pPr algn="l"/>
                      <a:r>
                        <a:rPr sz="1050" b="0">
                          <a:solidFill>
                            <a:srgbClr val="E7E9EE"/>
                          </a:solidFill>
                          <a:latin typeface="Arial"/>
                        </a:rPr>
                        <a:t>Виза, оплаты, отъезд</a:t>
                      </a:r>
                    </a:p>
                  </a:txBody>
                  <a:tcPr>
                    <a:solidFill>
                      <a:srgbClr val="0D1628"/>
                    </a:solidFill>
                  </a:tcPr>
                </a:tc>
              </a:tr>
              <a:tr h="342900">
                <a:tc>
                  <a:txBody>
                    <a:bodyPr wrap="square" lIns="76200" rIns="76200" tIns="38100" bIns="38100"/>
                    <a:lstStyle/>
                    <a:p>
                      <a:pPr algn="l"/>
                      <a:r>
                        <a:rPr sz="1050" b="1">
                          <a:solidFill>
                            <a:srgbClr val="E7E9EE"/>
                          </a:solidFill>
                          <a:latin typeface="Arial"/>
                        </a:rPr>
                        <a:t>📅 Календарь</a:t>
                      </a:r>
                    </a:p>
                  </a:txBody>
                  <a:tcPr>
                    <a:solidFill>
                      <a:srgbClr val="0B0C0F"/>
                    </a:solidFill>
                  </a:tcPr>
                </a:tc>
                <a:tc>
                  <a:txBody>
                    <a:bodyPr wrap="square" lIns="76200" rIns="76200" tIns="38100" bIns="38100"/>
                    <a:lstStyle/>
                    <a:p>
                      <a:pPr algn="l"/>
                      <a:r>
                        <a:rPr sz="1050" b="0">
                          <a:solidFill>
                            <a:srgbClr val="E7E9EE"/>
                          </a:solidFill>
                          <a:latin typeface="Arial"/>
                        </a:rPr>
                        <a:t>Встречи: список/неделя/месяц</a:t>
                      </a:r>
                    </a:p>
                  </a:txBody>
                  <a:tcPr>
                    <a:solidFill>
                      <a:srgbClr val="0B0C0F"/>
                    </a:solidFill>
                  </a:tcPr>
                </a:tc>
                <a:tc>
                  <a:txBody>
                    <a:bodyPr wrap="square" lIns="76200" rIns="76200" tIns="38100" bIns="38100"/>
                    <a:lstStyle/>
                    <a:p>
                      <a:pPr algn="l"/>
                      <a:r>
                        <a:rPr sz="1050" b="0">
                          <a:solidFill>
                            <a:srgbClr val="E7E9EE"/>
                          </a:solidFill>
                          <a:latin typeface="Arial"/>
                        </a:rPr>
                        <a:t>Планирование недели</a:t>
                      </a:r>
                    </a:p>
                  </a:txBody>
                  <a:tcPr>
                    <a:solidFill>
                      <a:srgbClr val="0B0C0F"/>
                    </a:solidFill>
                  </a:tcPr>
                </a:tc>
                <a:tc>
                  <a:txBody>
                    <a:bodyPr wrap="square" lIns="76200" rIns="76200" tIns="38100" bIns="38100"/>
                    <a:lstStyle/>
                    <a:p>
                      <a:pPr algn="l"/>
                      <a:r>
                        <a:rPr sz="1050" b="0">
                          <a:solidFill>
                            <a:srgbClr val="E7E9EE"/>
                          </a:solidFill>
                          <a:latin typeface="Arial"/>
                        </a:rPr>
                        <a:t>Клик по встрече = карточка</a:t>
                      </a:r>
                    </a:p>
                  </a:txBody>
                  <a:tcPr>
                    <a:solidFill>
                      <a:srgbClr val="0B0C0F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640080" y="4206240"/>
            <a:ext cx="5349240" cy="1874519"/>
          </a:xfrm>
          <a:prstGeom prst="roundRect">
            <a:avLst>
              <a:gd name="adj" fmla="val 6000"/>
            </a:avLst>
          </a:prstGeom>
          <a:solidFill>
            <a:srgbClr val="121419"/>
          </a:solidFill>
          <a:ln w="9525">
            <a:solidFill>
              <a:srgbClr val="2326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4343400"/>
            <a:ext cx="493776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6366F1"/>
                </a:solidFill>
                <a:latin typeface="Arial"/>
              </a:rPr>
              <a:t>ВЫБОР ЗАПОМИНАЕТСЯ</a:t>
            </a:r>
          </a:p>
          <a:p>
            <a:pPr algn="l"/>
            <a:r>
              <a:rPr sz="1150" b="0">
                <a:solidFill>
                  <a:srgbClr val="9AA1AE"/>
                </a:solidFill>
                <a:latin typeface="Arial"/>
              </a:rPr>
              <a:t>Каждый менеджер выбирает свой вид. Завтра CRM откроется в том же виде, с теми же фильтрами.</a:t>
            </a:r>
          </a:p>
          <a:p>
            <a:pPr algn="l"/>
            <a:r>
              <a:rPr sz="1150" b="0">
                <a:solidFill>
                  <a:srgbClr val="9AA1AE"/>
                </a:solidFill>
                <a:latin typeface="Arial"/>
              </a:rPr>
              <a:t>Настройки индивидуальны.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2200" y="4206240"/>
            <a:ext cx="5349240" cy="1874519"/>
          </a:xfrm>
          <a:prstGeom prst="roundRect">
            <a:avLst>
              <a:gd name="adj" fmla="val 6000"/>
            </a:avLst>
          </a:prstGeom>
          <a:solidFill>
            <a:srgbClr val="121419"/>
          </a:solidFill>
          <a:ln w="9525">
            <a:solidFill>
              <a:srgbClr val="2326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0" y="4343400"/>
            <a:ext cx="493776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6366F1"/>
                </a:solidFill>
                <a:latin typeface="Arial"/>
              </a:rPr>
              <a:t>ФИЛЬТРЫ-ПРЕСЕТЫ</a:t>
            </a:r>
          </a:p>
          <a:p>
            <a:pPr algn="l"/>
            <a:r>
              <a:rPr sz="1150" b="0">
                <a:solidFill>
                  <a:srgbClr val="9AA1AE"/>
                </a:solidFill>
                <a:latin typeface="Arial"/>
              </a:rPr>
              <a:t>Частые наборы («Горячие японцы», «Сентябрь-2026») сохраняются одной кнопкой</a:t>
            </a:r>
          </a:p>
          <a:p>
            <a:pPr algn="l"/>
            <a:r>
              <a:rPr sz="1150" b="0">
                <a:solidFill>
                  <a:srgbClr val="9AA1AE"/>
                </a:solidFill>
                <a:latin typeface="Arial"/>
              </a:rPr>
              <a:t>и применяются в один клик.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6E7582"/>
                </a:solidFill>
                <a:latin typeface="Arial"/>
              </a:rPr>
              <a:t>GoGlobal · база знаний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79615" y="6473952"/>
            <a:ext cx="4572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>
                <a:solidFill>
                  <a:srgbClr val="6E7582"/>
                </a:solidFill>
                <a:latin typeface="Arial"/>
              </a:rPr>
              <a:t>VI · Виды списка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C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080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11535" y="164592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E7582"/>
                </a:solidFill>
                <a:latin typeface="Arial"/>
              </a:rPr>
              <a:t>16 / 36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84048"/>
            <a:ext cx="82296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6366F1"/>
                </a:solidFill>
                <a:latin typeface="Arial"/>
              </a:rPr>
              <a:t>VI · CRM ПРОДАВЦА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58368"/>
            <a:ext cx="10911535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E7E9EE"/>
                </a:solidFill>
                <a:latin typeface="Arial"/>
              </a:rPr>
              <a:t>Карточка клиента — 7 вкладок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417320"/>
          <a:ext cx="10881358" cy="243840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2352726"/>
                <a:gridCol w="4999543"/>
                <a:gridCol w="3529089"/>
              </a:tblGrid>
              <a:tr h="304800">
                <a:tc>
                  <a:txBody>
                    <a:bodyPr wrap="square" lIns="76200" rIns="76200" tIns="38100" bIns="38100"/>
                    <a:lstStyle/>
                    <a:p>
                      <a:pPr algn="l"/>
                      <a:r>
                        <a:rPr sz="950" b="1">
                          <a:solidFill>
                            <a:srgbClr val="9AA1AE"/>
                          </a:solidFill>
                          <a:latin typeface="Arial"/>
                        </a:rPr>
                        <a:t>Вкладка</a:t>
                      </a:r>
                    </a:p>
                  </a:txBody>
                  <a:tcPr>
                    <a:solidFill>
                      <a:srgbClr val="121419"/>
                    </a:solidFill>
                  </a:tcPr>
                </a:tc>
                <a:tc>
                  <a:txBody>
                    <a:bodyPr wrap="square" lIns="76200" rIns="76200" tIns="38100" bIns="38100"/>
                    <a:lstStyle/>
                    <a:p>
                      <a:pPr algn="l"/>
                      <a:r>
                        <a:rPr sz="950" b="1">
                          <a:solidFill>
                            <a:srgbClr val="9AA1AE"/>
                          </a:solidFill>
                          <a:latin typeface="Arial"/>
                        </a:rPr>
                        <a:t>Что внутри</a:t>
                      </a:r>
                    </a:p>
                  </a:txBody>
                  <a:tcPr>
                    <a:solidFill>
                      <a:srgbClr val="121419"/>
                    </a:solidFill>
                  </a:tcPr>
                </a:tc>
                <a:tc>
                  <a:txBody>
                    <a:bodyPr wrap="square" lIns="76200" rIns="76200" tIns="38100" bIns="38100"/>
                    <a:lstStyle/>
                    <a:p>
                      <a:pPr algn="l"/>
                      <a:r>
                        <a:rPr sz="950" b="1">
                          <a:solidFill>
                            <a:srgbClr val="9AA1AE"/>
                          </a:solidFill>
                          <a:latin typeface="Arial"/>
                        </a:rPr>
                        <a:t>Главное действие</a:t>
                      </a:r>
                    </a:p>
                  </a:txBody>
                  <a:tcPr>
                    <a:solidFill>
                      <a:srgbClr val="121419"/>
                    </a:solidFill>
                  </a:tcPr>
                </a:tc>
              </a:tr>
              <a:tr h="304800">
                <a:tc>
                  <a:txBody>
                    <a:bodyPr wrap="square" lIns="76200" rIns="76200" tIns="38100" bIns="38100"/>
                    <a:lstStyle/>
                    <a:p>
                      <a:pPr algn="l"/>
                      <a:r>
                        <a:rPr sz="1050" b="1">
                          <a:solidFill>
                            <a:srgbClr val="E7E9EE"/>
                          </a:solidFill>
                          <a:latin typeface="Arial"/>
                        </a:rPr>
                        <a:t>Обзор</a:t>
                      </a:r>
                    </a:p>
                  </a:txBody>
                  <a:tcPr>
                    <a:solidFill>
                      <a:srgbClr val="0B0C0F"/>
                    </a:solidFill>
                  </a:tcPr>
                </a:tc>
                <a:tc>
                  <a:txBody>
                    <a:bodyPr wrap="square" lIns="76200" rIns="76200" tIns="38100" bIns="38100"/>
                    <a:lstStyle/>
                    <a:p>
                      <a:pPr algn="l"/>
                      <a:r>
                        <a:rPr sz="1050" b="0">
                          <a:solidFill>
                            <a:srgbClr val="E7E9EE"/>
                          </a:solidFill>
                          <a:latin typeface="Arial"/>
                        </a:rPr>
                        <a:t>Выпадашка статуса с подсказками, степпер этапов, контакты, метки, передача</a:t>
                      </a:r>
                    </a:p>
                  </a:txBody>
                  <a:tcPr>
                    <a:solidFill>
                      <a:srgbClr val="0B0C0F"/>
                    </a:solidFill>
                  </a:tcPr>
                </a:tc>
                <a:tc>
                  <a:txBody>
                    <a:bodyPr wrap="square" lIns="76200" rIns="76200" tIns="38100" bIns="38100"/>
                    <a:lstStyle/>
                    <a:p>
                      <a:pPr algn="l"/>
                      <a:r>
                        <a:rPr sz="1050" b="0">
                          <a:solidFill>
                            <a:srgbClr val="E7E9EE"/>
                          </a:solidFill>
                          <a:latin typeface="Arial"/>
                        </a:rPr>
                        <a:t>Сменить статус лида</a:t>
                      </a:r>
                    </a:p>
                  </a:txBody>
                  <a:tcPr>
                    <a:solidFill>
                      <a:srgbClr val="0B0C0F"/>
                    </a:solidFill>
                  </a:tcPr>
                </a:tc>
              </a:tr>
              <a:tr h="304800">
                <a:tc>
                  <a:txBody>
                    <a:bodyPr wrap="square" lIns="76200" rIns="76200" tIns="38100" bIns="38100"/>
                    <a:lstStyle/>
                    <a:p>
                      <a:pPr algn="l"/>
                      <a:r>
                        <a:rPr sz="1050" b="1">
                          <a:solidFill>
                            <a:srgbClr val="E7E9EE"/>
                          </a:solidFill>
                          <a:latin typeface="Arial"/>
                        </a:rPr>
                        <a:t>💰 Сделка</a:t>
                      </a:r>
                    </a:p>
                  </a:txBody>
                  <a:tcPr>
                    <a:solidFill>
                      <a:srgbClr val="0D1628"/>
                    </a:solidFill>
                  </a:tcPr>
                </a:tc>
                <a:tc>
                  <a:txBody>
                    <a:bodyPr wrap="square" lIns="76200" rIns="76200" tIns="38100" bIns="38100"/>
                    <a:lstStyle/>
                    <a:p>
                      <a:pPr algn="l"/>
                      <a:r>
                        <a:rPr sz="1050" b="0">
                          <a:solidFill>
                            <a:srgbClr val="E7E9EE"/>
                          </a:solidFill>
                          <a:latin typeface="Arial"/>
                        </a:rPr>
                        <a:t>Сумма, валюта, вероятность 0–100%</a:t>
                      </a:r>
                    </a:p>
                  </a:txBody>
                  <a:tcPr>
                    <a:solidFill>
                      <a:srgbClr val="0D1628"/>
                    </a:solidFill>
                  </a:tcPr>
                </a:tc>
                <a:tc>
                  <a:txBody>
                    <a:bodyPr wrap="square" lIns="76200" rIns="76200" tIns="38100" bIns="38100"/>
                    <a:lstStyle/>
                    <a:p>
                      <a:pPr algn="l"/>
                      <a:r>
                        <a:rPr sz="1050" b="0">
                          <a:solidFill>
                            <a:srgbClr val="E7E9EE"/>
                          </a:solidFill>
                          <a:latin typeface="Arial"/>
                        </a:rPr>
                        <a:t>Зафиксировать бюджет</a:t>
                      </a:r>
                    </a:p>
                  </a:txBody>
                  <a:tcPr>
                    <a:solidFill>
                      <a:srgbClr val="0D1628"/>
                    </a:solidFill>
                  </a:tcPr>
                </a:tc>
              </a:tr>
              <a:tr h="304800">
                <a:tc>
                  <a:txBody>
                    <a:bodyPr wrap="square" lIns="76200" rIns="76200" tIns="38100" bIns="38100"/>
                    <a:lstStyle/>
                    <a:p>
                      <a:pPr algn="l"/>
                      <a:r>
                        <a:rPr sz="1050" b="1">
                          <a:solidFill>
                            <a:srgbClr val="E7E9EE"/>
                          </a:solidFill>
                          <a:latin typeface="Arial"/>
                        </a:rPr>
                        <a:t>📋 Задачи</a:t>
                      </a:r>
                    </a:p>
                  </a:txBody>
                  <a:tcPr>
                    <a:solidFill>
                      <a:srgbClr val="0B0C0F"/>
                    </a:solidFill>
                  </a:tcPr>
                </a:tc>
                <a:tc>
                  <a:txBody>
                    <a:bodyPr wrap="square" lIns="76200" rIns="76200" tIns="38100" bIns="38100"/>
                    <a:lstStyle/>
                    <a:p>
                      <a:pPr algn="l"/>
                      <a:r>
                        <a:rPr sz="1050" b="0">
                          <a:solidFill>
                            <a:srgbClr val="E7E9EE"/>
                          </a:solidFill>
                          <a:latin typeface="Arial"/>
                        </a:rPr>
                        <a:t>Напоминания с дедлайнами</a:t>
                      </a:r>
                    </a:p>
                  </a:txBody>
                  <a:tcPr>
                    <a:solidFill>
                      <a:srgbClr val="0B0C0F"/>
                    </a:solidFill>
                  </a:tcPr>
                </a:tc>
                <a:tc>
                  <a:txBody>
                    <a:bodyPr wrap="square" lIns="76200" rIns="76200" tIns="38100" bIns="38100"/>
                    <a:lstStyle/>
                    <a:p>
                      <a:pPr algn="l"/>
                      <a:r>
                        <a:rPr sz="1050" b="0">
                          <a:solidFill>
                            <a:srgbClr val="E7E9EE"/>
                          </a:solidFill>
                          <a:latin typeface="Arial"/>
                        </a:rPr>
                        <a:t>«Перезвонить в среду 14:00»</a:t>
                      </a:r>
                    </a:p>
                  </a:txBody>
                  <a:tcPr>
                    <a:solidFill>
                      <a:srgbClr val="0B0C0F"/>
                    </a:solidFill>
                  </a:tcPr>
                </a:tc>
              </a:tr>
              <a:tr h="304800">
                <a:tc>
                  <a:txBody>
                    <a:bodyPr wrap="square" lIns="76200" rIns="76200" tIns="38100" bIns="38100"/>
                    <a:lstStyle/>
                    <a:p>
                      <a:pPr algn="l"/>
                      <a:r>
                        <a:rPr sz="1050" b="1">
                          <a:solidFill>
                            <a:srgbClr val="E7E9EE"/>
                          </a:solidFill>
                          <a:latin typeface="Arial"/>
                        </a:rPr>
                        <a:t>📎 Файлы</a:t>
                      </a:r>
                    </a:p>
                  </a:txBody>
                  <a:tcPr>
                    <a:solidFill>
                      <a:srgbClr val="0D1628"/>
                    </a:solidFill>
                  </a:tcPr>
                </a:tc>
                <a:tc>
                  <a:txBody>
                    <a:bodyPr wrap="square" lIns="76200" rIns="76200" tIns="38100" bIns="38100"/>
                    <a:lstStyle/>
                    <a:p>
                      <a:pPr algn="l"/>
                      <a:r>
                        <a:rPr sz="1050" b="0">
                          <a:solidFill>
                            <a:srgbClr val="E7E9EE"/>
                          </a:solidFill>
                          <a:latin typeface="Arial"/>
                        </a:rPr>
                        <a:t>Паспорт, диплом, IELTS, контракт (до 25 МБ)</a:t>
                      </a:r>
                    </a:p>
                  </a:txBody>
                  <a:tcPr>
                    <a:solidFill>
                      <a:srgbClr val="0D1628"/>
                    </a:solidFill>
                  </a:tcPr>
                </a:tc>
                <a:tc>
                  <a:txBody>
                    <a:bodyPr wrap="square" lIns="76200" rIns="76200" tIns="38100" bIns="38100"/>
                    <a:lstStyle/>
                    <a:p>
                      <a:pPr algn="l"/>
                      <a:r>
                        <a:rPr sz="1050" b="0">
                          <a:solidFill>
                            <a:srgbClr val="E7E9EE"/>
                          </a:solidFill>
                          <a:latin typeface="Arial"/>
                        </a:rPr>
                        <a:t>Загрузить документ</a:t>
                      </a:r>
                    </a:p>
                  </a:txBody>
                  <a:tcPr>
                    <a:solidFill>
                      <a:srgbClr val="0D1628"/>
                    </a:solidFill>
                  </a:tcPr>
                </a:tc>
              </a:tr>
              <a:tr h="304800">
                <a:tc>
                  <a:txBody>
                    <a:bodyPr wrap="square" lIns="76200" rIns="76200" tIns="38100" bIns="38100"/>
                    <a:lstStyle/>
                    <a:p>
                      <a:pPr algn="l"/>
                      <a:r>
                        <a:rPr sz="1050" b="1">
                          <a:solidFill>
                            <a:srgbClr val="E7E9EE"/>
                          </a:solidFill>
                          <a:latin typeface="Arial"/>
                        </a:rPr>
                        <a:t>💬 Чат</a:t>
                      </a:r>
                    </a:p>
                  </a:txBody>
                  <a:tcPr>
                    <a:solidFill>
                      <a:srgbClr val="0B0C0F"/>
                    </a:solidFill>
                  </a:tcPr>
                </a:tc>
                <a:tc>
                  <a:txBody>
                    <a:bodyPr wrap="square" lIns="76200" rIns="76200" tIns="38100" bIns="38100"/>
                    <a:lstStyle/>
                    <a:p>
                      <a:pPr algn="l"/>
                      <a:r>
                        <a:rPr sz="1050" b="0">
                          <a:solidFill>
                            <a:srgbClr val="E7E9EE"/>
                          </a:solidFill>
                          <a:latin typeface="Arial"/>
                        </a:rPr>
                        <a:t>Внутренние комментарии команды</a:t>
                      </a:r>
                    </a:p>
                  </a:txBody>
                  <a:tcPr>
                    <a:solidFill>
                      <a:srgbClr val="0B0C0F"/>
                    </a:solidFill>
                  </a:tcPr>
                </a:tc>
                <a:tc>
                  <a:txBody>
                    <a:bodyPr wrap="square" lIns="76200" rIns="76200" tIns="38100" bIns="38100"/>
                    <a:lstStyle/>
                    <a:p>
                      <a:pPr algn="l"/>
                      <a:r>
                        <a:rPr sz="1050" b="0">
                          <a:solidFill>
                            <a:srgbClr val="E7E9EE"/>
                          </a:solidFill>
                          <a:latin typeface="Arial"/>
                        </a:rPr>
                        <a:t>Заметка для коллег</a:t>
                      </a:r>
                    </a:p>
                  </a:txBody>
                  <a:tcPr>
                    <a:solidFill>
                      <a:srgbClr val="0B0C0F"/>
                    </a:solidFill>
                  </a:tcPr>
                </a:tc>
              </a:tr>
              <a:tr h="304800">
                <a:tc>
                  <a:txBody>
                    <a:bodyPr wrap="square" lIns="76200" rIns="76200" tIns="38100" bIns="38100"/>
                    <a:lstStyle/>
                    <a:p>
                      <a:pPr algn="l"/>
                      <a:r>
                        <a:rPr sz="1050" b="1">
                          <a:solidFill>
                            <a:srgbClr val="E7E9EE"/>
                          </a:solidFill>
                          <a:latin typeface="Arial"/>
                        </a:rPr>
                        <a:t>🕒 Аудит</a:t>
                      </a:r>
                    </a:p>
                  </a:txBody>
                  <a:tcPr>
                    <a:solidFill>
                      <a:srgbClr val="0D1628"/>
                    </a:solidFill>
                  </a:tcPr>
                </a:tc>
                <a:tc>
                  <a:txBody>
                    <a:bodyPr wrap="square" lIns="76200" rIns="76200" tIns="38100" bIns="38100"/>
                    <a:lstStyle/>
                    <a:p>
                      <a:pPr algn="l"/>
                      <a:r>
                        <a:rPr sz="1050" b="0">
                          <a:solidFill>
                            <a:srgbClr val="E7E9EE"/>
                          </a:solidFill>
                          <a:latin typeface="Arial"/>
                        </a:rPr>
                        <a:t>Полная история: кто и что менял</a:t>
                      </a:r>
                    </a:p>
                  </a:txBody>
                  <a:tcPr>
                    <a:solidFill>
                      <a:srgbClr val="0D1628"/>
                    </a:solidFill>
                  </a:tcPr>
                </a:tc>
                <a:tc>
                  <a:txBody>
                    <a:bodyPr wrap="square" lIns="76200" rIns="76200" tIns="38100" bIns="38100"/>
                    <a:lstStyle/>
                    <a:p>
                      <a:pPr algn="l"/>
                      <a:r>
                        <a:rPr sz="1050" b="0">
                          <a:solidFill>
                            <a:srgbClr val="E7E9EE"/>
                          </a:solidFill>
                          <a:latin typeface="Arial"/>
                        </a:rPr>
                        <a:t>Разбор спорной ситуации</a:t>
                      </a:r>
                    </a:p>
                  </a:txBody>
                  <a:tcPr>
                    <a:solidFill>
                      <a:srgbClr val="0D1628"/>
                    </a:solidFill>
                  </a:tcPr>
                </a:tc>
              </a:tr>
              <a:tr h="304800">
                <a:tc>
                  <a:txBody>
                    <a:bodyPr wrap="square" lIns="76200" rIns="76200" tIns="38100" bIns="38100"/>
                    <a:lstStyle/>
                    <a:p>
                      <a:pPr algn="l"/>
                      <a:r>
                        <a:rPr sz="1050" b="1">
                          <a:solidFill>
                            <a:srgbClr val="E7E9EE"/>
                          </a:solidFill>
                          <a:latin typeface="Arial"/>
                        </a:rPr>
                        <a:t>🔗 Связанные</a:t>
                      </a:r>
                    </a:p>
                  </a:txBody>
                  <a:tcPr>
                    <a:solidFill>
                      <a:srgbClr val="0B0C0F"/>
                    </a:solidFill>
                  </a:tcPr>
                </a:tc>
                <a:tc>
                  <a:txBody>
                    <a:bodyPr wrap="square" lIns="76200" rIns="76200" tIns="38100" bIns="38100"/>
                    <a:lstStyle/>
                    <a:p>
                      <a:pPr algn="l"/>
                      <a:r>
                        <a:rPr sz="1050" b="0">
                          <a:solidFill>
                            <a:srgbClr val="E7E9EE"/>
                          </a:solidFill>
                          <a:latin typeface="Arial"/>
                        </a:rPr>
                        <a:t>Лиды с тем же телефоном/email</a:t>
                      </a:r>
                    </a:p>
                  </a:txBody>
                  <a:tcPr>
                    <a:solidFill>
                      <a:srgbClr val="0B0C0F"/>
                    </a:solidFill>
                  </a:tcPr>
                </a:tc>
                <a:tc>
                  <a:txBody>
                    <a:bodyPr wrap="square" lIns="76200" rIns="76200" tIns="38100" bIns="38100"/>
                    <a:lstStyle/>
                    <a:p>
                      <a:pPr algn="l"/>
                      <a:r>
                        <a:rPr sz="1050" b="0">
                          <a:solidFill>
                            <a:srgbClr val="E7E9EE"/>
                          </a:solidFill>
                          <a:latin typeface="Arial"/>
                        </a:rPr>
                        <a:t>Прошлые обращения</a:t>
                      </a:r>
                    </a:p>
                  </a:txBody>
                  <a:tcPr>
                    <a:solidFill>
                      <a:srgbClr val="0B0C0F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640080" y="4526280"/>
            <a:ext cx="5349240" cy="1691640"/>
          </a:xfrm>
          <a:prstGeom prst="roundRect">
            <a:avLst>
              <a:gd name="adj" fmla="val 6000"/>
            </a:avLst>
          </a:prstGeom>
          <a:solidFill>
            <a:srgbClr val="121419"/>
          </a:solidFill>
          <a:ln w="9525">
            <a:solidFill>
              <a:srgbClr val="2326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4663440"/>
            <a:ext cx="49377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6366F1"/>
                </a:solidFill>
                <a:latin typeface="Arial"/>
              </a:rPr>
              <a:t>БЫСТРЫЕ ДЕЙСТВИЯ</a:t>
            </a:r>
          </a:p>
          <a:p>
            <a:pPr algn="l"/>
            <a:r>
              <a:rPr sz="1200" b="1">
                <a:solidFill>
                  <a:srgbClr val="E7E9EE"/>
                </a:solidFill>
                <a:latin typeface="Arial"/>
              </a:rPr>
              <a:t>💬 WhatsApp · 📞 Позвонить · ✉ Email · 📨 Шаблон</a:t>
            </a:r>
          </a:p>
          <a:p>
            <a:pPr algn="l"/>
            <a:r>
              <a:rPr sz="1100" b="0">
                <a:solidFill>
                  <a:srgbClr val="9AA1AE"/>
                </a:solidFill>
                <a:latin typeface="Arial"/>
              </a:rPr>
              <a:t>«Шаблон» — готовые сообщения с автоподстановкой имени; WhatsApp откроется с готовым текстом.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2200" y="4526280"/>
            <a:ext cx="5349240" cy="1691640"/>
          </a:xfrm>
          <a:prstGeom prst="roundRect">
            <a:avLst>
              <a:gd name="adj" fmla="val 6000"/>
            </a:avLst>
          </a:prstGeom>
          <a:solidFill>
            <a:srgbClr val="121419"/>
          </a:solidFill>
          <a:ln w="9525">
            <a:solidFill>
              <a:srgbClr val="2326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0" y="4663440"/>
            <a:ext cx="49377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6366F1"/>
                </a:solidFill>
                <a:latin typeface="Arial"/>
              </a:rPr>
              <a:t>КАЖДОЕ КАСАНИЕ — НА СЧЕТУ</a:t>
            </a:r>
          </a:p>
          <a:p>
            <a:pPr algn="l"/>
            <a:r>
              <a:rPr sz="1100" b="0">
                <a:solidFill>
                  <a:srgbClr val="9AA1AE"/>
                </a:solidFill>
                <a:latin typeface="Arial"/>
              </a:rPr>
              <a:t>Клик по WhatsApp/телефону/email = «касание клиента» в статистике.</a:t>
            </a:r>
          </a:p>
          <a:p>
            <a:pPr algn="l"/>
            <a:r>
              <a:rPr sz="1100" b="0">
                <a:solidFill>
                  <a:srgbClr val="9AA1AE"/>
                </a:solidFill>
                <a:latin typeface="Arial"/>
              </a:rPr>
              <a:t>Скоринг 0–100 оценивает «горячесть» лида: 60+ = горячий, в первую очередь.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6E7582"/>
                </a:solidFill>
                <a:latin typeface="Arial"/>
              </a:rPr>
              <a:t>GoGlobal · база знаний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79615" y="6473952"/>
            <a:ext cx="4572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>
                <a:solidFill>
                  <a:srgbClr val="6E7582"/>
                </a:solidFill>
                <a:latin typeface="Arial"/>
              </a:rPr>
              <a:t>VI · Карточка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C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080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11535" y="164592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E7582"/>
                </a:solidFill>
                <a:latin typeface="Arial"/>
              </a:rPr>
              <a:t>17 / 36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84048"/>
            <a:ext cx="82296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6366F1"/>
                </a:solidFill>
                <a:latin typeface="Arial"/>
              </a:rPr>
              <a:t>VI · CRM ПРОДАВЦА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58368"/>
            <a:ext cx="10911535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E7E9EE"/>
                </a:solidFill>
                <a:latin typeface="Arial"/>
              </a:rPr>
              <a:t>Статусы: две воронки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71600"/>
            <a:ext cx="53035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E7E9EE"/>
                </a:solidFill>
                <a:latin typeface="Arial"/>
              </a:rPr>
              <a:t>Воронка 1 · Обработка лида</a:t>
            </a:r>
          </a:p>
          <a:p>
            <a:pPr algn="l"/>
            <a:r>
              <a:rPr sz="1100" b="0">
                <a:solidFill>
                  <a:srgbClr val="6E7582"/>
                </a:solidFill>
                <a:latin typeface="Arial"/>
              </a:rPr>
              <a:t>От первого контакта до решения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965960"/>
          <a:ext cx="5303519" cy="233680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1928552"/>
                <a:gridCol w="3374967"/>
              </a:tblGrid>
              <a:tr h="292100">
                <a:tc>
                  <a:txBody>
                    <a:bodyPr wrap="square" lIns="76200" rIns="76200" tIns="38100" bIns="38100"/>
                    <a:lstStyle/>
                    <a:p>
                      <a:pPr algn="l"/>
                      <a:r>
                        <a:rPr sz="950" b="1">
                          <a:solidFill>
                            <a:srgbClr val="9AA1AE"/>
                          </a:solidFill>
                          <a:latin typeface="Arial"/>
                        </a:rPr>
                        <a:t>Статус</a:t>
                      </a:r>
                    </a:p>
                  </a:txBody>
                  <a:tcPr>
                    <a:solidFill>
                      <a:srgbClr val="121419"/>
                    </a:solidFill>
                  </a:tcPr>
                </a:tc>
                <a:tc>
                  <a:txBody>
                    <a:bodyPr wrap="square" lIns="76200" rIns="76200" tIns="38100" bIns="38100"/>
                    <a:lstStyle/>
                    <a:p>
                      <a:pPr algn="l"/>
                      <a:r>
                        <a:rPr sz="950" b="1">
                          <a:solidFill>
                            <a:srgbClr val="9AA1AE"/>
                          </a:solidFill>
                          <a:latin typeface="Arial"/>
                        </a:rPr>
                        <a:t>Что значит</a:t>
                      </a:r>
                    </a:p>
                  </a:txBody>
                  <a:tcPr>
                    <a:solidFill>
                      <a:srgbClr val="121419"/>
                    </a:solidFill>
                  </a:tcPr>
                </a:tc>
              </a:tr>
              <a:tr h="292100">
                <a:tc>
                  <a:txBody>
                    <a:bodyPr wrap="square" lIns="76200" rIns="76200" tIns="38100" bIns="38100"/>
                    <a:lstStyle/>
                    <a:p>
                      <a:pPr algn="l"/>
                      <a:r>
                        <a:rPr sz="1050" b="1">
                          <a:solidFill>
                            <a:srgbClr val="A5B4FC"/>
                          </a:solidFill>
                          <a:latin typeface="Arial"/>
                        </a:rPr>
                        <a:t>Новый</a:t>
                      </a:r>
                    </a:p>
                  </a:txBody>
                  <a:tcPr>
                    <a:solidFill>
                      <a:srgbClr val="0B0C0F"/>
                    </a:solidFill>
                  </a:tcPr>
                </a:tc>
                <a:tc>
                  <a:txBody>
                    <a:bodyPr wrap="square" lIns="76200" rIns="76200" tIns="38100" bIns="38100"/>
                    <a:lstStyle/>
                    <a:p>
                      <a:pPr algn="l"/>
                      <a:r>
                        <a:rPr sz="1050" b="0">
                          <a:solidFill>
                            <a:srgbClr val="E7E9EE"/>
                          </a:solidFill>
                          <a:latin typeface="Arial"/>
                        </a:rPr>
                        <a:t>Только поступил, ещё не тронут</a:t>
                      </a:r>
                    </a:p>
                  </a:txBody>
                  <a:tcPr>
                    <a:solidFill>
                      <a:srgbClr val="0B0C0F"/>
                    </a:solidFill>
                  </a:tcPr>
                </a:tc>
              </a:tr>
              <a:tr h="292100">
                <a:tc>
                  <a:txBody>
                    <a:bodyPr wrap="square" lIns="76200" rIns="76200" tIns="38100" bIns="38100"/>
                    <a:lstStyle/>
                    <a:p>
                      <a:pPr algn="l"/>
                      <a:r>
                        <a:rPr sz="1050" b="1">
                          <a:solidFill>
                            <a:srgbClr val="FDE68A"/>
                          </a:solidFill>
                          <a:latin typeface="Arial"/>
                        </a:rPr>
                        <a:t>В работе</a:t>
                      </a:r>
                    </a:p>
                  </a:txBody>
                  <a:tcPr>
                    <a:solidFill>
                      <a:srgbClr val="0D1628"/>
                    </a:solidFill>
                  </a:tcPr>
                </a:tc>
                <a:tc>
                  <a:txBody>
                    <a:bodyPr wrap="square" lIns="76200" rIns="76200" tIns="38100" bIns="38100"/>
                    <a:lstStyle/>
                    <a:p>
                      <a:pPr algn="l"/>
                      <a:r>
                        <a:rPr sz="1050" b="0">
                          <a:solidFill>
                            <a:srgbClr val="E7E9EE"/>
                          </a:solidFill>
                          <a:latin typeface="Arial"/>
                        </a:rPr>
                        <a:t>Первый контакт состоялся</a:t>
                      </a:r>
                    </a:p>
                  </a:txBody>
                  <a:tcPr>
                    <a:solidFill>
                      <a:srgbClr val="0D1628"/>
                    </a:solidFill>
                  </a:tcPr>
                </a:tc>
              </a:tr>
              <a:tr h="292100">
                <a:tc>
                  <a:txBody>
                    <a:bodyPr wrap="square" lIns="76200" rIns="76200" tIns="38100" bIns="38100"/>
                    <a:lstStyle/>
                    <a:p>
                      <a:pPr algn="l"/>
                      <a:r>
                        <a:rPr sz="1050" b="1">
                          <a:solidFill>
                            <a:srgbClr val="FDE68A"/>
                          </a:solidFill>
                          <a:latin typeface="Arial"/>
                        </a:rPr>
                        <a:t>Перезвонить</a:t>
                      </a:r>
                    </a:p>
                  </a:txBody>
                  <a:tcPr>
                    <a:solidFill>
                      <a:srgbClr val="0B0C0F"/>
                    </a:solidFill>
                  </a:tcPr>
                </a:tc>
                <a:tc>
                  <a:txBody>
                    <a:bodyPr wrap="square" lIns="76200" rIns="76200" tIns="38100" bIns="38100"/>
                    <a:lstStyle/>
                    <a:p>
                      <a:pPr algn="l"/>
                      <a:r>
                        <a:rPr sz="1050" b="0">
                          <a:solidFill>
                            <a:srgbClr val="E7E9EE"/>
                          </a:solidFill>
                          <a:latin typeface="Arial"/>
                        </a:rPr>
                        <a:t>Клиент попросил позже</a:t>
                      </a:r>
                    </a:p>
                  </a:txBody>
                  <a:tcPr>
                    <a:solidFill>
                      <a:srgbClr val="0B0C0F"/>
                    </a:solidFill>
                  </a:tcPr>
                </a:tc>
              </a:tr>
              <a:tr h="292100">
                <a:tc>
                  <a:txBody>
                    <a:bodyPr wrap="square" lIns="76200" rIns="76200" tIns="38100" bIns="38100"/>
                    <a:lstStyle/>
                    <a:p>
                      <a:pPr algn="l"/>
                      <a:r>
                        <a:rPr sz="1050" b="1">
                          <a:solidFill>
                            <a:srgbClr val="FDE68A"/>
                          </a:solidFill>
                          <a:latin typeface="Arial"/>
                        </a:rPr>
                        <a:t>Не ответил</a:t>
                      </a:r>
                    </a:p>
                  </a:txBody>
                  <a:tcPr>
                    <a:solidFill>
                      <a:srgbClr val="0D1628"/>
                    </a:solidFill>
                  </a:tcPr>
                </a:tc>
                <a:tc>
                  <a:txBody>
                    <a:bodyPr wrap="square" lIns="76200" rIns="76200" tIns="38100" bIns="38100"/>
                    <a:lstStyle/>
                    <a:p>
                      <a:pPr algn="l"/>
                      <a:r>
                        <a:rPr sz="1050" b="0">
                          <a:solidFill>
                            <a:srgbClr val="E7E9EE"/>
                          </a:solidFill>
                          <a:latin typeface="Arial"/>
                        </a:rPr>
                        <a:t>Не берёт трубку</a:t>
                      </a:r>
                    </a:p>
                  </a:txBody>
                  <a:tcPr>
                    <a:solidFill>
                      <a:srgbClr val="0D1628"/>
                    </a:solidFill>
                  </a:tcPr>
                </a:tc>
              </a:tr>
              <a:tr h="292100">
                <a:tc>
                  <a:txBody>
                    <a:bodyPr wrap="square" lIns="76200" rIns="76200" tIns="38100" bIns="38100"/>
                    <a:lstStyle/>
                    <a:p>
                      <a:pPr algn="l"/>
                      <a:r>
                        <a:rPr sz="1050" b="1">
                          <a:solidFill>
                            <a:srgbClr val="FDE68A"/>
                          </a:solidFill>
                          <a:latin typeface="Arial"/>
                        </a:rPr>
                        <a:t>Подойдёт в офис</a:t>
                      </a:r>
                    </a:p>
                  </a:txBody>
                  <a:tcPr>
                    <a:solidFill>
                      <a:srgbClr val="0B0C0F"/>
                    </a:solidFill>
                  </a:tcPr>
                </a:tc>
                <a:tc>
                  <a:txBody>
                    <a:bodyPr wrap="square" lIns="76200" rIns="76200" tIns="38100" bIns="38100"/>
                    <a:lstStyle/>
                    <a:p>
                      <a:pPr algn="l"/>
                      <a:r>
                        <a:rPr sz="1050" b="0">
                          <a:solidFill>
                            <a:srgbClr val="E7E9EE"/>
                          </a:solidFill>
                          <a:latin typeface="Arial"/>
                        </a:rPr>
                        <a:t>Встреча (система спросит дату)</a:t>
                      </a:r>
                    </a:p>
                  </a:txBody>
                  <a:tcPr>
                    <a:solidFill>
                      <a:srgbClr val="0B0C0F"/>
                    </a:solidFill>
                  </a:tcPr>
                </a:tc>
              </a:tr>
              <a:tr h="292100">
                <a:tc>
                  <a:txBody>
                    <a:bodyPr wrap="square" lIns="76200" rIns="76200" tIns="38100" bIns="38100"/>
                    <a:lstStyle/>
                    <a:p>
                      <a:pPr algn="l"/>
                      <a:r>
                        <a:rPr sz="1050" b="1">
                          <a:solidFill>
                            <a:srgbClr val="86EFAC"/>
                          </a:solidFill>
                          <a:latin typeface="Arial"/>
                        </a:rPr>
                        <a:t>Закрыт ✅ (won)</a:t>
                      </a:r>
                    </a:p>
                  </a:txBody>
                  <a:tcPr>
                    <a:solidFill>
                      <a:srgbClr val="0D1628"/>
                    </a:solidFill>
                  </a:tcPr>
                </a:tc>
                <a:tc>
                  <a:txBody>
                    <a:bodyPr wrap="square" lIns="76200" rIns="76200" tIns="38100" bIns="38100"/>
                    <a:lstStyle/>
                    <a:p>
                      <a:pPr algn="l"/>
                      <a:r>
                        <a:rPr sz="1050" b="0">
                          <a:solidFill>
                            <a:srgbClr val="E7E9EE"/>
                          </a:solidFill>
                          <a:latin typeface="Arial"/>
                        </a:rPr>
                        <a:t>Контракт подписан</a:t>
                      </a:r>
                    </a:p>
                  </a:txBody>
                  <a:tcPr>
                    <a:solidFill>
                      <a:srgbClr val="0D1628"/>
                    </a:solidFill>
                  </a:tcPr>
                </a:tc>
              </a:tr>
              <a:tr h="292100">
                <a:tc>
                  <a:txBody>
                    <a:bodyPr wrap="square" lIns="76200" rIns="76200" tIns="38100" bIns="38100"/>
                    <a:lstStyle/>
                    <a:p>
                      <a:pPr algn="l"/>
                      <a:r>
                        <a:rPr sz="1050" b="1">
                          <a:solidFill>
                            <a:srgbClr val="FDA4AF"/>
                          </a:solidFill>
                          <a:latin typeface="Arial"/>
                        </a:rPr>
                        <a:t>Отказ ❌ (lost)</a:t>
                      </a:r>
                    </a:p>
                  </a:txBody>
                  <a:tcPr>
                    <a:solidFill>
                      <a:srgbClr val="0B0C0F"/>
                    </a:solidFill>
                  </a:tcPr>
                </a:tc>
                <a:tc>
                  <a:txBody>
                    <a:bodyPr wrap="square" lIns="76200" rIns="76200" tIns="38100" bIns="38100"/>
                    <a:lstStyle/>
                    <a:p>
                      <a:pPr algn="l"/>
                      <a:r>
                        <a:rPr sz="1050" b="0">
                          <a:solidFill>
                            <a:srgbClr val="E7E9EE"/>
                          </a:solidFill>
                          <a:latin typeface="Arial"/>
                        </a:rPr>
                        <a:t>Система спросит причину</a:t>
                      </a:r>
                    </a:p>
                  </a:txBody>
                  <a:tcPr>
                    <a:solidFill>
                      <a:srgbClr val="0B0C0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217920" y="1371600"/>
            <a:ext cx="53035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E7E9EE"/>
                </a:solidFill>
                <a:latin typeface="Arial"/>
              </a:rPr>
              <a:t>Воронка 2 · Этапы клиента</a:t>
            </a:r>
          </a:p>
          <a:p>
            <a:pPr algn="l"/>
            <a:r>
              <a:rPr sz="1100" b="0">
                <a:solidFill>
                  <a:srgbClr val="6E7582"/>
                </a:solidFill>
                <a:latin typeface="Arial"/>
              </a:rPr>
              <a:t>После Won — до отъезда на учёбу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217920" y="1965960"/>
          <a:ext cx="5303519" cy="266700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2169621"/>
                <a:gridCol w="3133898"/>
              </a:tblGrid>
              <a:tr h="266700">
                <a:tc>
                  <a:txBody>
                    <a:bodyPr wrap="square" lIns="76200" rIns="76200" tIns="38100" bIns="38100"/>
                    <a:lstStyle/>
                    <a:p>
                      <a:pPr algn="l"/>
                      <a:r>
                        <a:rPr sz="950" b="1">
                          <a:solidFill>
                            <a:srgbClr val="9AA1AE"/>
                          </a:solidFill>
                          <a:latin typeface="Arial"/>
                        </a:rPr>
                        <a:t>Этап</a:t>
                      </a:r>
                    </a:p>
                  </a:txBody>
                  <a:tcPr>
                    <a:solidFill>
                      <a:srgbClr val="121419"/>
                    </a:solidFill>
                  </a:tcPr>
                </a:tc>
                <a:tc>
                  <a:txBody>
                    <a:bodyPr wrap="square" lIns="76200" rIns="76200" tIns="38100" bIns="38100"/>
                    <a:lstStyle/>
                    <a:p>
                      <a:pPr algn="l"/>
                      <a:r>
                        <a:rPr sz="950" b="1">
                          <a:solidFill>
                            <a:srgbClr val="9AA1AE"/>
                          </a:solidFill>
                          <a:latin typeface="Arial"/>
                        </a:rPr>
                        <a:t>Суть</a:t>
                      </a:r>
                    </a:p>
                  </a:txBody>
                  <a:tcPr>
                    <a:solidFill>
                      <a:srgbClr val="121419"/>
                    </a:solidFill>
                  </a:tcPr>
                </a:tc>
              </a:tr>
              <a:tr h="266700">
                <a:tc>
                  <a:txBody>
                    <a:bodyPr wrap="square" lIns="76200" rIns="76200" tIns="38100" bIns="38100"/>
                    <a:lstStyle/>
                    <a:p>
                      <a:pPr algn="l"/>
                      <a:r>
                        <a:rPr sz="1050" b="0">
                          <a:solidFill>
                            <a:srgbClr val="E7E9EE"/>
                          </a:solidFill>
                          <a:latin typeface="Arial"/>
                        </a:rPr>
                        <a:t>1. 📜 Контракт подписан</a:t>
                      </a:r>
                    </a:p>
                  </a:txBody>
                  <a:tcPr>
                    <a:solidFill>
                      <a:srgbClr val="0B0C0F"/>
                    </a:solidFill>
                  </a:tcPr>
                </a:tc>
                <a:tc>
                  <a:txBody>
                    <a:bodyPr wrap="square" lIns="76200" rIns="76200" tIns="38100" bIns="38100"/>
                    <a:lstStyle/>
                    <a:p>
                      <a:pPr algn="l"/>
                      <a:r>
                        <a:rPr sz="1050" b="0">
                          <a:solidFill>
                            <a:srgbClr val="E7E9EE"/>
                          </a:solidFill>
                          <a:latin typeface="Arial"/>
                        </a:rPr>
                        <a:t>Договор</a:t>
                      </a:r>
                    </a:p>
                  </a:txBody>
                  <a:tcPr>
                    <a:solidFill>
                      <a:srgbClr val="0B0C0F"/>
                    </a:solidFill>
                  </a:tcPr>
                </a:tc>
              </a:tr>
              <a:tr h="266700">
                <a:tc>
                  <a:txBody>
                    <a:bodyPr wrap="square" lIns="76200" rIns="76200" tIns="38100" bIns="38100"/>
                    <a:lstStyle/>
                    <a:p>
                      <a:pPr algn="l"/>
                      <a:r>
                        <a:rPr sz="1050" b="0">
                          <a:solidFill>
                            <a:srgbClr val="E7E9EE"/>
                          </a:solidFill>
                          <a:latin typeface="Arial"/>
                        </a:rPr>
                        <a:t>2. 💰 Оплата 1</a:t>
                      </a:r>
                    </a:p>
                  </a:txBody>
                  <a:tcPr>
                    <a:solidFill>
                      <a:srgbClr val="0D1628"/>
                    </a:solidFill>
                  </a:tcPr>
                </a:tc>
                <a:tc>
                  <a:txBody>
                    <a:bodyPr wrap="square" lIns="76200" rIns="76200" tIns="38100" bIns="38100"/>
                    <a:lstStyle/>
                    <a:p>
                      <a:pPr algn="l"/>
                      <a:r>
                        <a:rPr sz="1050" b="0">
                          <a:solidFill>
                            <a:srgbClr val="E7E9EE"/>
                          </a:solidFill>
                          <a:latin typeface="Arial"/>
                        </a:rPr>
                        <a:t>Предоплата</a:t>
                      </a:r>
                    </a:p>
                  </a:txBody>
                  <a:tcPr>
                    <a:solidFill>
                      <a:srgbClr val="0D1628"/>
                    </a:solidFill>
                  </a:tcPr>
                </a:tc>
              </a:tr>
              <a:tr h="266700">
                <a:tc>
                  <a:txBody>
                    <a:bodyPr wrap="square" lIns="76200" rIns="76200" tIns="38100" bIns="38100"/>
                    <a:lstStyle/>
                    <a:p>
                      <a:pPr algn="l"/>
                      <a:r>
                        <a:rPr sz="1050" b="0">
                          <a:solidFill>
                            <a:srgbClr val="E7E9EE"/>
                          </a:solidFill>
                          <a:latin typeface="Arial"/>
                        </a:rPr>
                        <a:t>3. 📂 Сбор документов</a:t>
                      </a:r>
                    </a:p>
                  </a:txBody>
                  <a:tcPr>
                    <a:solidFill>
                      <a:srgbClr val="0B0C0F"/>
                    </a:solidFill>
                  </a:tcPr>
                </a:tc>
                <a:tc>
                  <a:txBody>
                    <a:bodyPr wrap="square" lIns="76200" rIns="76200" tIns="38100" bIns="38100"/>
                    <a:lstStyle/>
                    <a:p>
                      <a:pPr algn="l"/>
                      <a:r>
                        <a:rPr sz="1050" b="0">
                          <a:solidFill>
                            <a:srgbClr val="E7E9EE"/>
                          </a:solidFill>
                          <a:latin typeface="Arial"/>
                        </a:rPr>
                        <a:t>Сбор и перевод</a:t>
                      </a:r>
                    </a:p>
                  </a:txBody>
                  <a:tcPr>
                    <a:solidFill>
                      <a:srgbClr val="0B0C0F"/>
                    </a:solidFill>
                  </a:tcPr>
                </a:tc>
              </a:tr>
              <a:tr h="266700">
                <a:tc>
                  <a:txBody>
                    <a:bodyPr wrap="square" lIns="76200" rIns="76200" tIns="38100" bIns="38100"/>
                    <a:lstStyle/>
                    <a:p>
                      <a:pPr algn="l"/>
                      <a:r>
                        <a:rPr sz="1050" b="0">
                          <a:solidFill>
                            <a:srgbClr val="E7E9EE"/>
                          </a:solidFill>
                          <a:latin typeface="Arial"/>
                        </a:rPr>
                        <a:t>4. 🇬🇧 Языковой экзамен</a:t>
                      </a:r>
                    </a:p>
                  </a:txBody>
                  <a:tcPr>
                    <a:solidFill>
                      <a:srgbClr val="0D1628"/>
                    </a:solidFill>
                  </a:tcPr>
                </a:tc>
                <a:tc>
                  <a:txBody>
                    <a:bodyPr wrap="square" lIns="76200" rIns="76200" tIns="38100" bIns="38100"/>
                    <a:lstStyle/>
                    <a:p>
                      <a:pPr algn="l"/>
                      <a:r>
                        <a:rPr sz="1050" b="0">
                          <a:solidFill>
                            <a:srgbClr val="E7E9EE"/>
                          </a:solidFill>
                          <a:latin typeface="Arial"/>
                        </a:rPr>
                        <a:t>IELTS / TOPIK / JLPT</a:t>
                      </a:r>
                    </a:p>
                  </a:txBody>
                  <a:tcPr>
                    <a:solidFill>
                      <a:srgbClr val="0D1628"/>
                    </a:solidFill>
                  </a:tcPr>
                </a:tc>
              </a:tr>
              <a:tr h="266700">
                <a:tc>
                  <a:txBody>
                    <a:bodyPr wrap="square" lIns="76200" rIns="76200" tIns="38100" bIns="38100"/>
                    <a:lstStyle/>
                    <a:p>
                      <a:pPr algn="l"/>
                      <a:r>
                        <a:rPr sz="1050" b="0">
                          <a:solidFill>
                            <a:srgbClr val="E7E9EE"/>
                          </a:solidFill>
                          <a:latin typeface="Arial"/>
                        </a:rPr>
                        <a:t>5. 🎤 Собеседование</a:t>
                      </a:r>
                    </a:p>
                  </a:txBody>
                  <a:tcPr>
                    <a:solidFill>
                      <a:srgbClr val="0B0C0F"/>
                    </a:solidFill>
                  </a:tcPr>
                </a:tc>
                <a:tc>
                  <a:txBody>
                    <a:bodyPr wrap="square" lIns="76200" rIns="76200" tIns="38100" bIns="38100"/>
                    <a:lstStyle/>
                    <a:p>
                      <a:pPr algn="l"/>
                      <a:r>
                        <a:rPr sz="1050" b="0">
                          <a:solidFill>
                            <a:srgbClr val="E7E9EE"/>
                          </a:solidFill>
                          <a:latin typeface="Arial"/>
                        </a:rPr>
                        <a:t>Интервью с вузом</a:t>
                      </a:r>
                    </a:p>
                  </a:txBody>
                  <a:tcPr>
                    <a:solidFill>
                      <a:srgbClr val="0B0C0F"/>
                    </a:solidFill>
                  </a:tcPr>
                </a:tc>
              </a:tr>
              <a:tr h="266700">
                <a:tc>
                  <a:txBody>
                    <a:bodyPr wrap="square" lIns="76200" rIns="76200" tIns="38100" bIns="38100"/>
                    <a:lstStyle/>
                    <a:p>
                      <a:pPr algn="l"/>
                      <a:r>
                        <a:rPr sz="1050" b="0">
                          <a:solidFill>
                            <a:srgbClr val="E7E9EE"/>
                          </a:solidFill>
                          <a:latin typeface="Arial"/>
                        </a:rPr>
                        <a:t>6. 🎓 Зачисление</a:t>
                      </a:r>
                    </a:p>
                  </a:txBody>
                  <a:tcPr>
                    <a:solidFill>
                      <a:srgbClr val="0D1628"/>
                    </a:solidFill>
                  </a:tcPr>
                </a:tc>
                <a:tc>
                  <a:txBody>
                    <a:bodyPr wrap="square" lIns="76200" rIns="76200" tIns="38100" bIns="38100"/>
                    <a:lstStyle/>
                    <a:p>
                      <a:pPr algn="l"/>
                      <a:r>
                        <a:rPr sz="1050" b="0">
                          <a:solidFill>
                            <a:srgbClr val="E7E9EE"/>
                          </a:solidFill>
                          <a:latin typeface="Arial"/>
                        </a:rPr>
                        <a:t>Вуз принял</a:t>
                      </a:r>
                    </a:p>
                  </a:txBody>
                  <a:tcPr>
                    <a:solidFill>
                      <a:srgbClr val="0D1628"/>
                    </a:solidFill>
                  </a:tcPr>
                </a:tc>
              </a:tr>
              <a:tr h="266700">
                <a:tc>
                  <a:txBody>
                    <a:bodyPr wrap="square" lIns="76200" rIns="76200" tIns="38100" bIns="38100"/>
                    <a:lstStyle/>
                    <a:p>
                      <a:pPr algn="l"/>
                      <a:r>
                        <a:rPr sz="1050" b="0">
                          <a:solidFill>
                            <a:srgbClr val="E7E9EE"/>
                          </a:solidFill>
                          <a:latin typeface="Arial"/>
                        </a:rPr>
                        <a:t>7. 🛂 Виза</a:t>
                      </a:r>
                    </a:p>
                  </a:txBody>
                  <a:tcPr>
                    <a:solidFill>
                      <a:srgbClr val="0B0C0F"/>
                    </a:solidFill>
                  </a:tcPr>
                </a:tc>
                <a:tc>
                  <a:txBody>
                    <a:bodyPr wrap="square" lIns="76200" rIns="76200" tIns="38100" bIns="38100"/>
                    <a:lstStyle/>
                    <a:p>
                      <a:pPr algn="l"/>
                      <a:r>
                        <a:rPr sz="1050" b="0">
                          <a:solidFill>
                            <a:srgbClr val="E7E9EE"/>
                          </a:solidFill>
                          <a:latin typeface="Arial"/>
                        </a:rPr>
                        <a:t>Оформление визы</a:t>
                      </a:r>
                    </a:p>
                  </a:txBody>
                  <a:tcPr>
                    <a:solidFill>
                      <a:srgbClr val="0B0C0F"/>
                    </a:solidFill>
                  </a:tcPr>
                </a:tc>
              </a:tr>
              <a:tr h="266700">
                <a:tc>
                  <a:txBody>
                    <a:bodyPr wrap="square" lIns="76200" rIns="76200" tIns="38100" bIns="38100"/>
                    <a:lstStyle/>
                    <a:p>
                      <a:pPr algn="l"/>
                      <a:r>
                        <a:rPr sz="1050" b="0">
                          <a:solidFill>
                            <a:srgbClr val="E7E9EE"/>
                          </a:solidFill>
                          <a:latin typeface="Arial"/>
                        </a:rPr>
                        <a:t>8. 💵 Окончательная оплата</a:t>
                      </a:r>
                    </a:p>
                  </a:txBody>
                  <a:tcPr>
                    <a:solidFill>
                      <a:srgbClr val="0D1628"/>
                    </a:solidFill>
                  </a:tcPr>
                </a:tc>
                <a:tc>
                  <a:txBody>
                    <a:bodyPr wrap="square" lIns="76200" rIns="76200" tIns="38100" bIns="38100"/>
                    <a:lstStyle/>
                    <a:p>
                      <a:pPr algn="l"/>
                      <a:r>
                        <a:rPr sz="1050" b="0">
                          <a:solidFill>
                            <a:srgbClr val="E7E9EE"/>
                          </a:solidFill>
                          <a:latin typeface="Arial"/>
                        </a:rPr>
                        <a:t>Финальный платёж</a:t>
                      </a:r>
                    </a:p>
                  </a:txBody>
                  <a:tcPr>
                    <a:solidFill>
                      <a:srgbClr val="0D1628"/>
                    </a:solidFill>
                  </a:tcPr>
                </a:tc>
              </a:tr>
              <a:tr h="266700">
                <a:tc>
                  <a:txBody>
                    <a:bodyPr wrap="square" lIns="76200" rIns="76200" tIns="38100" bIns="38100"/>
                    <a:lstStyle/>
                    <a:p>
                      <a:pPr algn="l"/>
                      <a:r>
                        <a:rPr sz="1050" b="0">
                          <a:solidFill>
                            <a:srgbClr val="E7E9EE"/>
                          </a:solidFill>
                          <a:latin typeface="Arial"/>
                        </a:rPr>
                        <a:t>9. ✈️ Отъезд / прибытие</a:t>
                      </a:r>
                    </a:p>
                  </a:txBody>
                  <a:tcPr>
                    <a:solidFill>
                      <a:srgbClr val="0B0C0F"/>
                    </a:solidFill>
                  </a:tcPr>
                </a:tc>
                <a:tc>
                  <a:txBody>
                    <a:bodyPr wrap="square" lIns="76200" rIns="76200" tIns="38100" bIns="38100"/>
                    <a:lstStyle/>
                    <a:p>
                      <a:pPr algn="l"/>
                      <a:r>
                        <a:rPr sz="1050" b="0">
                          <a:solidFill>
                            <a:srgbClr val="E7E9EE"/>
                          </a:solidFill>
                          <a:latin typeface="Arial"/>
                        </a:rPr>
                        <a:t>Клиент уехал учиться</a:t>
                      </a:r>
                    </a:p>
                  </a:txBody>
                  <a:tcPr>
                    <a:solidFill>
                      <a:srgbClr val="0B0C0F"/>
                    </a:solidFill>
                  </a:tcPr>
                </a:tc>
              </a:tr>
            </a:tbl>
          </a:graphicData>
        </a:graphic>
      </p:graphicFrame>
      <p:sp>
        <p:nvSpPr>
          <p:cNvPr id="11" name="Rounded Rectangle 10"/>
          <p:cNvSpPr/>
          <p:nvPr/>
        </p:nvSpPr>
        <p:spPr>
          <a:xfrm>
            <a:off x="640080" y="5532120"/>
            <a:ext cx="5303520" cy="868680"/>
          </a:xfrm>
          <a:prstGeom prst="roundRect">
            <a:avLst>
              <a:gd name="adj" fmla="val 6000"/>
            </a:avLst>
          </a:prstGeom>
          <a:solidFill>
            <a:srgbClr val="121419"/>
          </a:solidFill>
          <a:ln w="9525">
            <a:solidFill>
              <a:srgbClr val="2326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650992"/>
            <a:ext cx="493776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1">
                <a:solidFill>
                  <a:srgbClr val="6366F1"/>
                </a:solidFill>
                <a:latin typeface="Arial"/>
              </a:rPr>
              <a:t>КАК СВЯЗАНЫ ВОРОНКИ</a:t>
            </a:r>
          </a:p>
          <a:p>
            <a:pPr algn="l"/>
            <a:r>
              <a:rPr sz="1050" b="0">
                <a:solidFill>
                  <a:srgbClr val="9AA1AE"/>
                </a:solidFill>
                <a:latin typeface="Arial"/>
              </a:rPr>
              <a:t>Этапы заблокированы до победы. «Закрыт ✅» автоматически открывает «Контракт подписан»; откат статуса снимает этап.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6E7582"/>
                </a:solidFill>
                <a:latin typeface="Arial"/>
              </a:rPr>
              <a:t>GoGlobal · база знаний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79615" y="6473952"/>
            <a:ext cx="4572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>
                <a:solidFill>
                  <a:srgbClr val="6E7582"/>
                </a:solidFill>
                <a:latin typeface="Arial"/>
              </a:rPr>
              <a:t>VI · Статусы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C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080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11535" y="164592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E7582"/>
                </a:solidFill>
                <a:latin typeface="Arial"/>
              </a:rPr>
              <a:t>18 / 36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84048"/>
            <a:ext cx="82296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6366F1"/>
                </a:solidFill>
                <a:latin typeface="Arial"/>
              </a:rPr>
              <a:t>VI · CRM ПРОДАВЦА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58368"/>
            <a:ext cx="10911535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E7E9EE"/>
                </a:solidFill>
                <a:latin typeface="Arial"/>
              </a:rPr>
              <a:t>Инструменты эффективности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417320"/>
            <a:ext cx="3520440" cy="1005840"/>
          </a:xfrm>
          <a:prstGeom prst="roundRect">
            <a:avLst>
              <a:gd name="adj" fmla="val 6000"/>
            </a:avLst>
          </a:prstGeom>
          <a:solidFill>
            <a:srgbClr val="121419"/>
          </a:solidFill>
          <a:ln w="9525">
            <a:solidFill>
              <a:srgbClr val="2326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508760"/>
            <a:ext cx="320040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E7E9EE"/>
                </a:solidFill>
                <a:latin typeface="Arial"/>
              </a:rPr>
              <a:t>📥 Inbox 0</a:t>
            </a:r>
          </a:p>
          <a:p>
            <a:pPr algn="l"/>
            <a:r>
              <a:rPr sz="1000" b="0">
                <a:solidFill>
                  <a:srgbClr val="9AA1AE"/>
                </a:solidFill>
                <a:latin typeface="Arial"/>
              </a:rPr>
              <a:t>Видны только лиды, требующие действий. Закрыл всё — список пуст.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43400" y="1417320"/>
            <a:ext cx="3520440" cy="1005840"/>
          </a:xfrm>
          <a:prstGeom prst="roundRect">
            <a:avLst>
              <a:gd name="adj" fmla="val 6000"/>
            </a:avLst>
          </a:prstGeom>
          <a:solidFill>
            <a:srgbClr val="121419"/>
          </a:solidFill>
          <a:ln w="9525">
            <a:solidFill>
              <a:srgbClr val="2326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26280" y="1508760"/>
            <a:ext cx="320040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E7E9EE"/>
                </a:solidFill>
                <a:latin typeface="Arial"/>
              </a:rPr>
              <a:t>💾 Свои фильтры</a:t>
            </a:r>
          </a:p>
          <a:p>
            <a:pPr algn="l"/>
            <a:r>
              <a:rPr sz="1000" b="0">
                <a:solidFill>
                  <a:srgbClr val="9AA1AE"/>
                </a:solidFill>
                <a:latin typeface="Arial"/>
              </a:rPr>
              <a:t>Настроил раз — применяешь одним кликом каждый день.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46720" y="1417320"/>
            <a:ext cx="3520440" cy="1005840"/>
          </a:xfrm>
          <a:prstGeom prst="roundRect">
            <a:avLst>
              <a:gd name="adj" fmla="val 6000"/>
            </a:avLst>
          </a:prstGeom>
          <a:solidFill>
            <a:srgbClr val="121419"/>
          </a:solidFill>
          <a:ln w="9525">
            <a:solidFill>
              <a:srgbClr val="2326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0" y="1508760"/>
            <a:ext cx="320040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E7E9EE"/>
                </a:solidFill>
                <a:latin typeface="Arial"/>
              </a:rPr>
              <a:t>☑️ Массовые действия</a:t>
            </a:r>
          </a:p>
          <a:p>
            <a:pPr algn="l"/>
            <a:r>
              <a:rPr sz="1000" b="0">
                <a:solidFill>
                  <a:srgbClr val="9AA1AE"/>
                </a:solidFill>
                <a:latin typeface="Arial"/>
              </a:rPr>
              <a:t>Выделил 10 лидов → сменил статус всем сразу.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2560320"/>
            <a:ext cx="3520440" cy="1005840"/>
          </a:xfrm>
          <a:prstGeom prst="roundRect">
            <a:avLst>
              <a:gd name="adj" fmla="val 6000"/>
            </a:avLst>
          </a:prstGeom>
          <a:solidFill>
            <a:srgbClr val="121419"/>
          </a:solidFill>
          <a:ln w="9525">
            <a:solidFill>
              <a:srgbClr val="2326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2651760"/>
            <a:ext cx="320040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E7E9EE"/>
                </a:solidFill>
                <a:latin typeface="Arial"/>
              </a:rPr>
              <a:t>📨 Шаблоны ответов</a:t>
            </a:r>
          </a:p>
          <a:p>
            <a:pPr algn="l"/>
            <a:r>
              <a:rPr sz="1000" b="0">
                <a:solidFill>
                  <a:srgbClr val="9AA1AE"/>
                </a:solidFill>
                <a:latin typeface="Arial"/>
              </a:rPr>
              <a:t>Готовые тексты, имя подставится само.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43400" y="2560320"/>
            <a:ext cx="3520440" cy="1005840"/>
          </a:xfrm>
          <a:prstGeom prst="roundRect">
            <a:avLst>
              <a:gd name="adj" fmla="val 6000"/>
            </a:avLst>
          </a:prstGeom>
          <a:solidFill>
            <a:srgbClr val="121419"/>
          </a:solidFill>
          <a:ln w="9525">
            <a:solidFill>
              <a:srgbClr val="2326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26280" y="2651760"/>
            <a:ext cx="320040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E7E9EE"/>
                </a:solidFill>
                <a:latin typeface="Arial"/>
              </a:rPr>
              <a:t>🔄 Передача лида</a:t>
            </a:r>
          </a:p>
          <a:p>
            <a:pPr algn="l"/>
            <a:r>
              <a:rPr sz="1000" b="0">
                <a:solidFill>
                  <a:srgbClr val="9AA1AE"/>
                </a:solidFill>
                <a:latin typeface="Arial"/>
              </a:rPr>
              <a:t>Отпуск? Передал коллеге. 10 минут на «принять».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46720" y="2560320"/>
            <a:ext cx="3520440" cy="1005840"/>
          </a:xfrm>
          <a:prstGeom prst="roundRect">
            <a:avLst>
              <a:gd name="adj" fmla="val 6000"/>
            </a:avLst>
          </a:prstGeom>
          <a:solidFill>
            <a:srgbClr val="121419"/>
          </a:solidFill>
          <a:ln w="9525">
            <a:solidFill>
              <a:srgbClr val="2326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0" y="2651760"/>
            <a:ext cx="320040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E7E9EE"/>
                </a:solidFill>
                <a:latin typeface="Arial"/>
              </a:rPr>
              <a:t>📲 Push на телефон</a:t>
            </a:r>
          </a:p>
          <a:p>
            <a:pPr algn="l"/>
            <a:r>
              <a:rPr sz="1000" b="0">
                <a:solidFill>
                  <a:srgbClr val="9AA1AE"/>
                </a:solidFill>
                <a:latin typeface="Arial"/>
              </a:rPr>
              <a:t>CRM как приложение: новый лид — уведомление сразу.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640080" y="3886200"/>
          <a:ext cx="10881358" cy="175260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2790092"/>
                <a:gridCol w="3348110"/>
                <a:gridCol w="3069101"/>
                <a:gridCol w="1674055"/>
              </a:tblGrid>
              <a:tr h="292100">
                <a:tc>
                  <a:txBody>
                    <a:bodyPr wrap="square" lIns="76200" rIns="76200" tIns="38100" bIns="38100"/>
                    <a:lstStyle/>
                    <a:p>
                      <a:pPr algn="l"/>
                      <a:r>
                        <a:rPr sz="950" b="1">
                          <a:solidFill>
                            <a:srgbClr val="9AA1AE"/>
                          </a:solidFill>
                          <a:latin typeface="Arial"/>
                        </a:rPr>
                        <a:t>Инструмент</a:t>
                      </a:r>
                    </a:p>
                  </a:txBody>
                  <a:tcPr>
                    <a:solidFill>
                      <a:srgbClr val="121419"/>
                    </a:solidFill>
                  </a:tcPr>
                </a:tc>
                <a:tc>
                  <a:txBody>
                    <a:bodyPr wrap="square" lIns="76200" rIns="76200" tIns="38100" bIns="38100"/>
                    <a:lstStyle/>
                    <a:p>
                      <a:pPr algn="l"/>
                      <a:r>
                        <a:rPr sz="950" b="1">
                          <a:solidFill>
                            <a:srgbClr val="9AA1AE"/>
                          </a:solidFill>
                          <a:latin typeface="Arial"/>
                        </a:rPr>
                        <a:t>Без него</a:t>
                      </a:r>
                    </a:p>
                  </a:txBody>
                  <a:tcPr>
                    <a:solidFill>
                      <a:srgbClr val="121419"/>
                    </a:solidFill>
                  </a:tcPr>
                </a:tc>
                <a:tc>
                  <a:txBody>
                    <a:bodyPr wrap="square" lIns="76200" rIns="76200" tIns="38100" bIns="38100"/>
                    <a:lstStyle/>
                    <a:p>
                      <a:pPr algn="l"/>
                      <a:r>
                        <a:rPr sz="950" b="1">
                          <a:solidFill>
                            <a:srgbClr val="9AA1AE"/>
                          </a:solidFill>
                          <a:latin typeface="Arial"/>
                        </a:rPr>
                        <a:t>С ним</a:t>
                      </a:r>
                    </a:p>
                  </a:txBody>
                  <a:tcPr>
                    <a:solidFill>
                      <a:srgbClr val="121419"/>
                    </a:solidFill>
                  </a:tcPr>
                </a:tc>
                <a:tc>
                  <a:txBody>
                    <a:bodyPr wrap="square" lIns="76200" rIns="76200" tIns="38100" bIns="38100"/>
                    <a:lstStyle/>
                    <a:p>
                      <a:pPr algn="l"/>
                      <a:r>
                        <a:rPr sz="950" b="1">
                          <a:solidFill>
                            <a:srgbClr val="9AA1AE"/>
                          </a:solidFill>
                          <a:latin typeface="Arial"/>
                        </a:rPr>
                        <a:t>Экономия</a:t>
                      </a:r>
                    </a:p>
                  </a:txBody>
                  <a:tcPr>
                    <a:solidFill>
                      <a:srgbClr val="121419"/>
                    </a:solidFill>
                  </a:tcPr>
                </a:tc>
              </a:tr>
              <a:tr h="292100">
                <a:tc>
                  <a:txBody>
                    <a:bodyPr wrap="square" lIns="76200" rIns="76200" tIns="38100" bIns="38100"/>
                    <a:lstStyle/>
                    <a:p>
                      <a:pPr algn="l"/>
                      <a:r>
                        <a:rPr sz="1050" b="0">
                          <a:solidFill>
                            <a:srgbClr val="E7E9EE"/>
                          </a:solidFill>
                          <a:latin typeface="Arial"/>
                        </a:rPr>
                        <a:t>Шаблоны ответов</a:t>
                      </a:r>
                    </a:p>
                  </a:txBody>
                  <a:tcPr>
                    <a:solidFill>
                      <a:srgbClr val="0B0C0F"/>
                    </a:solidFill>
                  </a:tcPr>
                </a:tc>
                <a:tc>
                  <a:txBody>
                    <a:bodyPr wrap="square" lIns="76200" rIns="76200" tIns="38100" bIns="38100"/>
                    <a:lstStyle/>
                    <a:p>
                      <a:pPr algn="l"/>
                      <a:r>
                        <a:rPr sz="1050" b="0">
                          <a:solidFill>
                            <a:srgbClr val="E7E9EE"/>
                          </a:solidFill>
                          <a:latin typeface="Arial"/>
                        </a:rPr>
                        <a:t>Печатать каждое ~2 мин</a:t>
                      </a:r>
                    </a:p>
                  </a:txBody>
                  <a:tcPr>
                    <a:solidFill>
                      <a:srgbClr val="0B0C0F"/>
                    </a:solidFill>
                  </a:tcPr>
                </a:tc>
                <a:tc>
                  <a:txBody>
                    <a:bodyPr wrap="square" lIns="76200" rIns="76200" tIns="38100" bIns="38100"/>
                    <a:lstStyle/>
                    <a:p>
                      <a:pPr algn="l"/>
                      <a:r>
                        <a:rPr sz="1050" b="0">
                          <a:solidFill>
                            <a:srgbClr val="E7E9EE"/>
                          </a:solidFill>
                          <a:latin typeface="Arial"/>
                        </a:rPr>
                        <a:t>2 клика ~5 сек</a:t>
                      </a:r>
                    </a:p>
                  </a:txBody>
                  <a:tcPr>
                    <a:solidFill>
                      <a:srgbClr val="0B0C0F"/>
                    </a:solidFill>
                  </a:tcPr>
                </a:tc>
                <a:tc>
                  <a:txBody>
                    <a:bodyPr wrap="square" lIns="76200" rIns="76200" tIns="38100" bIns="38100"/>
                    <a:lstStyle/>
                    <a:p>
                      <a:pPr algn="l"/>
                      <a:r>
                        <a:rPr sz="1050" b="1">
                          <a:solidFill>
                            <a:srgbClr val="86EFAC"/>
                          </a:solidFill>
                          <a:latin typeface="Arial"/>
                        </a:rPr>
                        <a:t>~30 мин</a:t>
                      </a:r>
                    </a:p>
                  </a:txBody>
                  <a:tcPr>
                    <a:solidFill>
                      <a:srgbClr val="0B0C0F"/>
                    </a:solidFill>
                  </a:tcPr>
                </a:tc>
              </a:tr>
              <a:tr h="292100">
                <a:tc>
                  <a:txBody>
                    <a:bodyPr wrap="square" lIns="76200" rIns="76200" tIns="38100" bIns="38100"/>
                    <a:lstStyle/>
                    <a:p>
                      <a:pPr algn="l"/>
                      <a:r>
                        <a:rPr sz="1050" b="0">
                          <a:solidFill>
                            <a:srgbClr val="E7E9EE"/>
                          </a:solidFill>
                          <a:latin typeface="Arial"/>
                        </a:rPr>
                        <a:t>Inbox 0</a:t>
                      </a:r>
                    </a:p>
                  </a:txBody>
                  <a:tcPr>
                    <a:solidFill>
                      <a:srgbClr val="0D1628"/>
                    </a:solidFill>
                  </a:tcPr>
                </a:tc>
                <a:tc>
                  <a:txBody>
                    <a:bodyPr wrap="square" lIns="76200" rIns="76200" tIns="38100" bIns="38100"/>
                    <a:lstStyle/>
                    <a:p>
                      <a:pPr algn="l"/>
                      <a:r>
                        <a:rPr sz="1050" b="0">
                          <a:solidFill>
                            <a:srgbClr val="E7E9EE"/>
                          </a:solidFill>
                          <a:latin typeface="Arial"/>
                        </a:rPr>
                        <a:t>Листать все 50 лидов</a:t>
                      </a:r>
                    </a:p>
                  </a:txBody>
                  <a:tcPr>
                    <a:solidFill>
                      <a:srgbClr val="0D1628"/>
                    </a:solidFill>
                  </a:tcPr>
                </a:tc>
                <a:tc>
                  <a:txBody>
                    <a:bodyPr wrap="square" lIns="76200" rIns="76200" tIns="38100" bIns="38100"/>
                    <a:lstStyle/>
                    <a:p>
                      <a:pPr algn="l"/>
                      <a:r>
                        <a:rPr sz="1050" b="0">
                          <a:solidFill>
                            <a:srgbClr val="E7E9EE"/>
                          </a:solidFill>
                          <a:latin typeface="Arial"/>
                        </a:rPr>
                        <a:t>Видеть 8 актуальных</a:t>
                      </a:r>
                    </a:p>
                  </a:txBody>
                  <a:tcPr>
                    <a:solidFill>
                      <a:srgbClr val="0D1628"/>
                    </a:solidFill>
                  </a:tcPr>
                </a:tc>
                <a:tc>
                  <a:txBody>
                    <a:bodyPr wrap="square" lIns="76200" rIns="76200" tIns="38100" bIns="38100"/>
                    <a:lstStyle/>
                    <a:p>
                      <a:pPr algn="l"/>
                      <a:r>
                        <a:rPr sz="1050" b="1">
                          <a:solidFill>
                            <a:srgbClr val="86EFAC"/>
                          </a:solidFill>
                          <a:latin typeface="Arial"/>
                        </a:rPr>
                        <a:t>~20 мин</a:t>
                      </a:r>
                    </a:p>
                  </a:txBody>
                  <a:tcPr>
                    <a:solidFill>
                      <a:srgbClr val="0D1628"/>
                    </a:solidFill>
                  </a:tcPr>
                </a:tc>
              </a:tr>
              <a:tr h="292100">
                <a:tc>
                  <a:txBody>
                    <a:bodyPr wrap="square" lIns="76200" rIns="76200" tIns="38100" bIns="38100"/>
                    <a:lstStyle/>
                    <a:p>
                      <a:pPr algn="l"/>
                      <a:r>
                        <a:rPr sz="1050" b="0">
                          <a:solidFill>
                            <a:srgbClr val="E7E9EE"/>
                          </a:solidFill>
                          <a:latin typeface="Arial"/>
                        </a:rPr>
                        <a:t>Массовые действия</a:t>
                      </a:r>
                    </a:p>
                  </a:txBody>
                  <a:tcPr>
                    <a:solidFill>
                      <a:srgbClr val="0B0C0F"/>
                    </a:solidFill>
                  </a:tcPr>
                </a:tc>
                <a:tc>
                  <a:txBody>
                    <a:bodyPr wrap="square" lIns="76200" rIns="76200" tIns="38100" bIns="38100"/>
                    <a:lstStyle/>
                    <a:p>
                      <a:pPr algn="l"/>
                      <a:r>
                        <a:rPr sz="1050" b="0">
                          <a:solidFill>
                            <a:srgbClr val="E7E9EE"/>
                          </a:solidFill>
                          <a:latin typeface="Arial"/>
                        </a:rPr>
                        <a:t>Открывать каждый лид</a:t>
                      </a:r>
                    </a:p>
                  </a:txBody>
                  <a:tcPr>
                    <a:solidFill>
                      <a:srgbClr val="0B0C0F"/>
                    </a:solidFill>
                  </a:tcPr>
                </a:tc>
                <a:tc>
                  <a:txBody>
                    <a:bodyPr wrap="square" lIns="76200" rIns="76200" tIns="38100" bIns="38100"/>
                    <a:lstStyle/>
                    <a:p>
                      <a:pPr algn="l"/>
                      <a:r>
                        <a:rPr sz="1050" b="0">
                          <a:solidFill>
                            <a:srgbClr val="E7E9EE"/>
                          </a:solidFill>
                          <a:latin typeface="Arial"/>
                        </a:rPr>
                        <a:t>Выделить — применить</a:t>
                      </a:r>
                    </a:p>
                  </a:txBody>
                  <a:tcPr>
                    <a:solidFill>
                      <a:srgbClr val="0B0C0F"/>
                    </a:solidFill>
                  </a:tcPr>
                </a:tc>
                <a:tc>
                  <a:txBody>
                    <a:bodyPr wrap="square" lIns="76200" rIns="76200" tIns="38100" bIns="38100"/>
                    <a:lstStyle/>
                    <a:p>
                      <a:pPr algn="l"/>
                      <a:r>
                        <a:rPr sz="1050" b="1">
                          <a:solidFill>
                            <a:srgbClr val="86EFAC"/>
                          </a:solidFill>
                          <a:latin typeface="Arial"/>
                        </a:rPr>
                        <a:t>~15 мин</a:t>
                      </a:r>
                    </a:p>
                  </a:txBody>
                  <a:tcPr>
                    <a:solidFill>
                      <a:srgbClr val="0B0C0F"/>
                    </a:solidFill>
                  </a:tcPr>
                </a:tc>
              </a:tr>
              <a:tr h="292100">
                <a:tc>
                  <a:txBody>
                    <a:bodyPr wrap="square" lIns="76200" rIns="76200" tIns="38100" bIns="38100"/>
                    <a:lstStyle/>
                    <a:p>
                      <a:pPr algn="l"/>
                      <a:r>
                        <a:rPr sz="1050" b="0">
                          <a:solidFill>
                            <a:srgbClr val="E7E9EE"/>
                          </a:solidFill>
                          <a:latin typeface="Arial"/>
                        </a:rPr>
                        <a:t>Сохранённые фильтры</a:t>
                      </a:r>
                    </a:p>
                  </a:txBody>
                  <a:tcPr>
                    <a:solidFill>
                      <a:srgbClr val="0D1628"/>
                    </a:solidFill>
                  </a:tcPr>
                </a:tc>
                <a:tc>
                  <a:txBody>
                    <a:bodyPr wrap="square" lIns="76200" rIns="76200" tIns="38100" bIns="38100"/>
                    <a:lstStyle/>
                    <a:p>
                      <a:pPr algn="l"/>
                      <a:r>
                        <a:rPr sz="1050" b="0">
                          <a:solidFill>
                            <a:srgbClr val="E7E9EE"/>
                          </a:solidFill>
                          <a:latin typeface="Arial"/>
                        </a:rPr>
                        <a:t>Настраивать заново</a:t>
                      </a:r>
                    </a:p>
                  </a:txBody>
                  <a:tcPr>
                    <a:solidFill>
                      <a:srgbClr val="0D1628"/>
                    </a:solidFill>
                  </a:tcPr>
                </a:tc>
                <a:tc>
                  <a:txBody>
                    <a:bodyPr wrap="square" lIns="76200" rIns="76200" tIns="38100" bIns="38100"/>
                    <a:lstStyle/>
                    <a:p>
                      <a:pPr algn="l"/>
                      <a:r>
                        <a:rPr sz="1050" b="0">
                          <a:solidFill>
                            <a:srgbClr val="E7E9EE"/>
                          </a:solidFill>
                          <a:latin typeface="Arial"/>
                        </a:rPr>
                        <a:t>1 клик</a:t>
                      </a:r>
                    </a:p>
                  </a:txBody>
                  <a:tcPr>
                    <a:solidFill>
                      <a:srgbClr val="0D1628"/>
                    </a:solidFill>
                  </a:tcPr>
                </a:tc>
                <a:tc>
                  <a:txBody>
                    <a:bodyPr wrap="square" lIns="76200" rIns="76200" tIns="38100" bIns="38100"/>
                    <a:lstStyle/>
                    <a:p>
                      <a:pPr algn="l"/>
                      <a:r>
                        <a:rPr sz="1050" b="1">
                          <a:solidFill>
                            <a:srgbClr val="86EFAC"/>
                          </a:solidFill>
                          <a:latin typeface="Arial"/>
                        </a:rPr>
                        <a:t>~10 мин</a:t>
                      </a:r>
                    </a:p>
                  </a:txBody>
                  <a:tcPr>
                    <a:solidFill>
                      <a:srgbClr val="0D1628"/>
                    </a:solidFill>
                  </a:tcPr>
                </a:tc>
              </a:tr>
              <a:tr h="292100">
                <a:tc>
                  <a:txBody>
                    <a:bodyPr wrap="square" lIns="76200" rIns="76200" tIns="38100" bIns="38100"/>
                    <a:lstStyle/>
                    <a:p>
                      <a:pPr algn="l"/>
                      <a:r>
                        <a:rPr sz="1050" b="1">
                          <a:solidFill>
                            <a:srgbClr val="E7E9EE"/>
                          </a:solidFill>
                          <a:latin typeface="Arial"/>
                        </a:rPr>
                        <a:t>Итого в день</a:t>
                      </a:r>
                    </a:p>
                  </a:txBody>
                  <a:tcPr>
                    <a:solidFill>
                      <a:srgbClr val="0B0C0F"/>
                    </a:solidFill>
                  </a:tcPr>
                </a:tc>
                <a:tc>
                  <a:txBody>
                    <a:bodyPr wrap="square" lIns="76200" rIns="76200" tIns="38100" bIns="38100"/>
                    <a:lstStyle/>
                    <a:p>
                      <a:pPr algn="l"/>
                      <a:r>
                        <a:rPr sz="1050" b="0">
                          <a:solidFill>
                            <a:srgbClr val="E7E9EE"/>
                          </a:solidFill>
                          <a:latin typeface="Arial"/>
                        </a:rPr>
                        <a:t/>
                      </a:r>
                    </a:p>
                  </a:txBody>
                  <a:tcPr>
                    <a:solidFill>
                      <a:srgbClr val="0B0C0F"/>
                    </a:solidFill>
                  </a:tcPr>
                </a:tc>
                <a:tc>
                  <a:txBody>
                    <a:bodyPr wrap="square" lIns="76200" rIns="76200" tIns="38100" bIns="38100"/>
                    <a:lstStyle/>
                    <a:p>
                      <a:pPr algn="l"/>
                      <a:r>
                        <a:rPr sz="1050" b="0">
                          <a:solidFill>
                            <a:srgbClr val="E7E9EE"/>
                          </a:solidFill>
                          <a:latin typeface="Arial"/>
                        </a:rPr>
                        <a:t/>
                      </a:r>
                    </a:p>
                  </a:txBody>
                  <a:tcPr>
                    <a:solidFill>
                      <a:srgbClr val="0B0C0F"/>
                    </a:solidFill>
                  </a:tcPr>
                </a:tc>
                <a:tc>
                  <a:txBody>
                    <a:bodyPr wrap="square" lIns="76200" rIns="76200" tIns="38100" bIns="38100"/>
                    <a:lstStyle/>
                    <a:p>
                      <a:pPr algn="l"/>
                      <a:r>
                        <a:rPr sz="1050" b="1">
                          <a:solidFill>
                            <a:srgbClr val="86EFAC"/>
                          </a:solidFill>
                          <a:latin typeface="Arial"/>
                        </a:rPr>
                        <a:t>~1 ч 15 мин</a:t>
                      </a:r>
                    </a:p>
                  </a:txBody>
                  <a:tcPr>
                    <a:solidFill>
                      <a:srgbClr val="0B0C0F"/>
                    </a:solidFill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6E7582"/>
                </a:solidFill>
                <a:latin typeface="Arial"/>
              </a:rPr>
              <a:t>GoGlobal · база знаний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79615" y="6473952"/>
            <a:ext cx="4572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>
                <a:solidFill>
                  <a:srgbClr val="6E7582"/>
                </a:solidFill>
                <a:latin typeface="Arial"/>
              </a:rPr>
              <a:t>VI · Инструменты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C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080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11535" y="164592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E7582"/>
                </a:solidFill>
                <a:latin typeface="Arial"/>
              </a:rPr>
              <a:t>19 / 36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84048"/>
            <a:ext cx="82296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6366F1"/>
                </a:solidFill>
                <a:latin typeface="Arial"/>
              </a:rPr>
              <a:t>VI · CRM ПРОДАВЦА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58368"/>
            <a:ext cx="10911535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E7E9EE"/>
                </a:solidFill>
                <a:latin typeface="Arial"/>
              </a:rPr>
              <a:t>Шесть защитных сеток — работают сами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417320"/>
          <a:ext cx="10881358" cy="222250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2863515"/>
                <a:gridCol w="3149867"/>
                <a:gridCol w="4867976"/>
              </a:tblGrid>
              <a:tr h="317500">
                <a:tc>
                  <a:txBody>
                    <a:bodyPr wrap="square" lIns="76200" rIns="76200" tIns="38100" bIns="38100"/>
                    <a:lstStyle/>
                    <a:p>
                      <a:pPr algn="l"/>
                      <a:r>
                        <a:rPr sz="950" b="1">
                          <a:solidFill>
                            <a:srgbClr val="9AA1AE"/>
                          </a:solidFill>
                          <a:latin typeface="Arial"/>
                        </a:rPr>
                        <a:t>Защита</a:t>
                      </a:r>
                    </a:p>
                  </a:txBody>
                  <a:tcPr>
                    <a:solidFill>
                      <a:srgbClr val="121419"/>
                    </a:solidFill>
                  </a:tcPr>
                </a:tc>
                <a:tc>
                  <a:txBody>
                    <a:bodyPr wrap="square" lIns="76200" rIns="76200" tIns="38100" bIns="38100"/>
                    <a:lstStyle/>
                    <a:p>
                      <a:pPr algn="l"/>
                      <a:r>
                        <a:rPr sz="950" b="1">
                          <a:solidFill>
                            <a:srgbClr val="9AA1AE"/>
                          </a:solidFill>
                          <a:latin typeface="Arial"/>
                        </a:rPr>
                        <a:t>Когда срабатывает</a:t>
                      </a:r>
                    </a:p>
                  </a:txBody>
                  <a:tcPr>
                    <a:solidFill>
                      <a:srgbClr val="121419"/>
                    </a:solidFill>
                  </a:tcPr>
                </a:tc>
                <a:tc>
                  <a:txBody>
                    <a:bodyPr wrap="square" lIns="76200" rIns="76200" tIns="38100" bIns="38100"/>
                    <a:lstStyle/>
                    <a:p>
                      <a:pPr algn="l"/>
                      <a:r>
                        <a:rPr sz="950" b="1">
                          <a:solidFill>
                            <a:srgbClr val="9AA1AE"/>
                          </a:solidFill>
                          <a:latin typeface="Arial"/>
                        </a:rPr>
                        <a:t>Что делает</a:t>
                      </a:r>
                    </a:p>
                  </a:txBody>
                  <a:tcPr>
                    <a:solidFill>
                      <a:srgbClr val="121419"/>
                    </a:solidFill>
                  </a:tcPr>
                </a:tc>
              </a:tr>
              <a:tr h="317500">
                <a:tc>
                  <a:txBody>
                    <a:bodyPr wrap="square" lIns="76200" rIns="76200" tIns="38100" bIns="38100"/>
                    <a:lstStyle/>
                    <a:p>
                      <a:pPr algn="l"/>
                      <a:r>
                        <a:rPr sz="1050" b="1">
                          <a:solidFill>
                            <a:srgbClr val="E7E9EE"/>
                          </a:solidFill>
                          <a:latin typeface="Arial"/>
                        </a:rPr>
                        <a:t>⏰ SLA-таймер</a:t>
                      </a:r>
                    </a:p>
                  </a:txBody>
                  <a:tcPr>
                    <a:solidFill>
                      <a:srgbClr val="0B0C0F"/>
                    </a:solidFill>
                  </a:tcPr>
                </a:tc>
                <a:tc>
                  <a:txBody>
                    <a:bodyPr wrap="square" lIns="76200" rIns="76200" tIns="38100" bIns="38100"/>
                    <a:lstStyle/>
                    <a:p>
                      <a:pPr algn="l"/>
                      <a:r>
                        <a:rPr sz="1050" b="0">
                          <a:solidFill>
                            <a:srgbClr val="E7E9EE"/>
                          </a:solidFill>
                          <a:latin typeface="Arial"/>
                        </a:rPr>
                        <a:t>Нет ответа 3 часа</a:t>
                      </a:r>
                    </a:p>
                  </a:txBody>
                  <a:tcPr>
                    <a:solidFill>
                      <a:srgbClr val="0B0C0F"/>
                    </a:solidFill>
                  </a:tcPr>
                </a:tc>
                <a:tc>
                  <a:txBody>
                    <a:bodyPr wrap="square" lIns="76200" rIns="76200" tIns="38100" bIns="38100"/>
                    <a:lstStyle/>
                    <a:p>
                      <a:pPr algn="l"/>
                      <a:r>
                        <a:rPr sz="1050" b="0">
                          <a:solidFill>
                            <a:srgbClr val="E7E9EE"/>
                          </a:solidFill>
                          <a:latin typeface="Arial"/>
                        </a:rPr>
                        <a:t>Лид краснеет, РОПу сигнал, минус в статистику</a:t>
                      </a:r>
                    </a:p>
                  </a:txBody>
                  <a:tcPr>
                    <a:solidFill>
                      <a:srgbClr val="0B0C0F"/>
                    </a:solidFill>
                  </a:tcPr>
                </a:tc>
              </a:tr>
              <a:tr h="317500">
                <a:tc>
                  <a:txBody>
                    <a:bodyPr wrap="square" lIns="76200" rIns="76200" tIns="38100" bIns="38100"/>
                    <a:lstStyle/>
                    <a:p>
                      <a:pPr algn="l"/>
                      <a:r>
                        <a:rPr sz="1050" b="1">
                          <a:solidFill>
                            <a:srgbClr val="E7E9EE"/>
                          </a:solidFill>
                          <a:latin typeface="Arial"/>
                        </a:rPr>
                        <a:t>🔁 Дедупликация</a:t>
                      </a:r>
                    </a:p>
                  </a:txBody>
                  <a:tcPr>
                    <a:solidFill>
                      <a:srgbClr val="0D1628"/>
                    </a:solidFill>
                  </a:tcPr>
                </a:tc>
                <a:tc>
                  <a:txBody>
                    <a:bodyPr wrap="square" lIns="76200" rIns="76200" tIns="38100" bIns="38100"/>
                    <a:lstStyle/>
                    <a:p>
                      <a:pPr algn="l"/>
                      <a:r>
                        <a:rPr sz="1050" b="0">
                          <a:solidFill>
                            <a:srgbClr val="E7E9EE"/>
                          </a:solidFill>
                          <a:latin typeface="Arial"/>
                        </a:rPr>
                        <a:t>Заявка с тем же телефоном</a:t>
                      </a:r>
                    </a:p>
                  </a:txBody>
                  <a:tcPr>
                    <a:solidFill>
                      <a:srgbClr val="0D1628"/>
                    </a:solidFill>
                  </a:tcPr>
                </a:tc>
                <a:tc>
                  <a:txBody>
                    <a:bodyPr wrap="square" lIns="76200" rIns="76200" tIns="38100" bIns="38100"/>
                    <a:lstStyle/>
                    <a:p>
                      <a:pPr algn="l"/>
                      <a:r>
                        <a:rPr sz="1050" b="0">
                          <a:solidFill>
                            <a:srgbClr val="E7E9EE"/>
                          </a:solidFill>
                          <a:latin typeface="Arial"/>
                        </a:rPr>
                        <a:t>Комментарий к старому лиду, не дубль</a:t>
                      </a:r>
                    </a:p>
                  </a:txBody>
                  <a:tcPr>
                    <a:solidFill>
                      <a:srgbClr val="0D1628"/>
                    </a:solidFill>
                  </a:tcPr>
                </a:tc>
              </a:tr>
              <a:tr h="317500">
                <a:tc>
                  <a:txBody>
                    <a:bodyPr wrap="square" lIns="76200" rIns="76200" tIns="38100" bIns="38100"/>
                    <a:lstStyle/>
                    <a:p>
                      <a:pPr algn="l"/>
                      <a:r>
                        <a:rPr sz="1050" b="1">
                          <a:solidFill>
                            <a:srgbClr val="E7E9EE"/>
                          </a:solidFill>
                          <a:latin typeface="Arial"/>
                        </a:rPr>
                        <a:t>🤖 Авто-сценарии</a:t>
                      </a:r>
                    </a:p>
                  </a:txBody>
                  <a:tcPr>
                    <a:solidFill>
                      <a:srgbClr val="0B0C0F"/>
                    </a:solidFill>
                  </a:tcPr>
                </a:tc>
                <a:tc>
                  <a:txBody>
                    <a:bodyPr wrap="square" lIns="76200" rIns="76200" tIns="38100" bIns="38100"/>
                    <a:lstStyle/>
                    <a:p>
                      <a:pPr algn="l"/>
                      <a:r>
                        <a:rPr sz="1050" b="0">
                          <a:solidFill>
                            <a:srgbClr val="E7E9EE"/>
                          </a:solidFill>
                          <a:latin typeface="Arial"/>
                        </a:rPr>
                        <a:t>Лид завис в статусе N часов</a:t>
                      </a:r>
                    </a:p>
                  </a:txBody>
                  <a:tcPr>
                    <a:solidFill>
                      <a:srgbClr val="0B0C0F"/>
                    </a:solidFill>
                  </a:tcPr>
                </a:tc>
                <a:tc>
                  <a:txBody>
                    <a:bodyPr wrap="square" lIns="76200" rIns="76200" tIns="38100" bIns="38100"/>
                    <a:lstStyle/>
                    <a:p>
                      <a:pPr algn="l"/>
                      <a:r>
                        <a:rPr sz="1050" b="0">
                          <a:solidFill>
                            <a:srgbClr val="E7E9EE"/>
                          </a:solidFill>
                          <a:latin typeface="Arial"/>
                        </a:rPr>
                        <a:t>Задача менеджеру / сигнал (настраивается)</a:t>
                      </a:r>
                    </a:p>
                  </a:txBody>
                  <a:tcPr>
                    <a:solidFill>
                      <a:srgbClr val="0B0C0F"/>
                    </a:solidFill>
                  </a:tcPr>
                </a:tc>
              </a:tr>
              <a:tr h="317500">
                <a:tc>
                  <a:txBody>
                    <a:bodyPr wrap="square" lIns="76200" rIns="76200" tIns="38100" bIns="38100"/>
                    <a:lstStyle/>
                    <a:p>
                      <a:pPr algn="l"/>
                      <a:r>
                        <a:rPr sz="1050" b="1">
                          <a:solidFill>
                            <a:srgbClr val="E7E9EE"/>
                          </a:solidFill>
                          <a:latin typeface="Arial"/>
                        </a:rPr>
                        <a:t>🌅 Утренний отчёт</a:t>
                      </a:r>
                    </a:p>
                  </a:txBody>
                  <a:tcPr>
                    <a:solidFill>
                      <a:srgbClr val="0D1628"/>
                    </a:solidFill>
                  </a:tcPr>
                </a:tc>
                <a:tc>
                  <a:txBody>
                    <a:bodyPr wrap="square" lIns="76200" rIns="76200" tIns="38100" bIns="38100"/>
                    <a:lstStyle/>
                    <a:p>
                      <a:pPr algn="l"/>
                      <a:r>
                        <a:rPr sz="1050" b="0">
                          <a:solidFill>
                            <a:srgbClr val="E7E9EE"/>
                          </a:solidFill>
                          <a:latin typeface="Arial"/>
                        </a:rPr>
                        <a:t>Каждый день в 09:00</a:t>
                      </a:r>
                    </a:p>
                  </a:txBody>
                  <a:tcPr>
                    <a:solidFill>
                      <a:srgbClr val="0D1628"/>
                    </a:solidFill>
                  </a:tcPr>
                </a:tc>
                <a:tc>
                  <a:txBody>
                    <a:bodyPr wrap="square" lIns="76200" rIns="76200" tIns="38100" bIns="38100"/>
                    <a:lstStyle/>
                    <a:p>
                      <a:pPr algn="l"/>
                      <a:r>
                        <a:rPr sz="1050" b="0">
                          <a:solidFill>
                            <a:srgbClr val="E7E9EE"/>
                          </a:solidFill>
                          <a:latin typeface="Arial"/>
                        </a:rPr>
                        <a:t>Сводка РОПу в Telegram</a:t>
                      </a:r>
                    </a:p>
                  </a:txBody>
                  <a:tcPr>
                    <a:solidFill>
                      <a:srgbClr val="0D1628"/>
                    </a:solidFill>
                  </a:tcPr>
                </a:tc>
              </a:tr>
              <a:tr h="317500">
                <a:tc>
                  <a:txBody>
                    <a:bodyPr wrap="square" lIns="76200" rIns="76200" tIns="38100" bIns="38100"/>
                    <a:lstStyle/>
                    <a:p>
                      <a:pPr algn="l"/>
                      <a:r>
                        <a:rPr sz="1050" b="1">
                          <a:solidFill>
                            <a:srgbClr val="E7E9EE"/>
                          </a:solidFill>
                          <a:latin typeface="Arial"/>
                        </a:rPr>
                        <a:t>📊 Аудит</a:t>
                      </a:r>
                    </a:p>
                  </a:txBody>
                  <a:tcPr>
                    <a:solidFill>
                      <a:srgbClr val="0B0C0F"/>
                    </a:solidFill>
                  </a:tcPr>
                </a:tc>
                <a:tc>
                  <a:txBody>
                    <a:bodyPr wrap="square" lIns="76200" rIns="76200" tIns="38100" bIns="38100"/>
                    <a:lstStyle/>
                    <a:p>
                      <a:pPr algn="l"/>
                      <a:r>
                        <a:rPr sz="1050" b="0">
                          <a:solidFill>
                            <a:srgbClr val="E7E9EE"/>
                          </a:solidFill>
                          <a:latin typeface="Arial"/>
                        </a:rPr>
                        <a:t>Каждое действие</a:t>
                      </a:r>
                    </a:p>
                  </a:txBody>
                  <a:tcPr>
                    <a:solidFill>
                      <a:srgbClr val="0B0C0F"/>
                    </a:solidFill>
                  </a:tcPr>
                </a:tc>
                <a:tc>
                  <a:txBody>
                    <a:bodyPr wrap="square" lIns="76200" rIns="76200" tIns="38100" bIns="38100"/>
                    <a:lstStyle/>
                    <a:p>
                      <a:pPr algn="l"/>
                      <a:r>
                        <a:rPr sz="1050" b="0">
                          <a:solidFill>
                            <a:srgbClr val="E7E9EE"/>
                          </a:solidFill>
                          <a:latin typeface="Arial"/>
                        </a:rPr>
                        <a:t>Кто/что/когда — споры решаются за минуту</a:t>
                      </a:r>
                    </a:p>
                  </a:txBody>
                  <a:tcPr>
                    <a:solidFill>
                      <a:srgbClr val="0B0C0F"/>
                    </a:solidFill>
                  </a:tcPr>
                </a:tc>
              </a:tr>
              <a:tr h="317500">
                <a:tc>
                  <a:txBody>
                    <a:bodyPr wrap="square" lIns="76200" rIns="76200" tIns="38100" bIns="38100"/>
                    <a:lstStyle/>
                    <a:p>
                      <a:pPr algn="l"/>
                      <a:r>
                        <a:rPr sz="1050" b="1">
                          <a:solidFill>
                            <a:srgbClr val="E7E9EE"/>
                          </a:solidFill>
                          <a:latin typeface="Arial"/>
                        </a:rPr>
                        <a:t>💾 Авто-бэкап</a:t>
                      </a:r>
                    </a:p>
                  </a:txBody>
                  <a:tcPr>
                    <a:solidFill>
                      <a:srgbClr val="0D1628"/>
                    </a:solidFill>
                  </a:tcPr>
                </a:tc>
                <a:tc>
                  <a:txBody>
                    <a:bodyPr wrap="square" lIns="76200" rIns="76200" tIns="38100" bIns="38100"/>
                    <a:lstStyle/>
                    <a:p>
                      <a:pPr algn="l"/>
                      <a:r>
                        <a:rPr sz="1050" b="0">
                          <a:solidFill>
                            <a:srgbClr val="E7E9EE"/>
                          </a:solidFill>
                          <a:latin typeface="Arial"/>
                        </a:rPr>
                        <a:t>Ежедневно</a:t>
                      </a:r>
                    </a:p>
                  </a:txBody>
                  <a:tcPr>
                    <a:solidFill>
                      <a:srgbClr val="0D1628"/>
                    </a:solidFill>
                  </a:tcPr>
                </a:tc>
                <a:tc>
                  <a:txBody>
                    <a:bodyPr wrap="square" lIns="76200" rIns="76200" tIns="38100" bIns="38100"/>
                    <a:lstStyle/>
                    <a:p>
                      <a:pPr algn="l"/>
                      <a:r>
                        <a:rPr sz="1050" b="0">
                          <a:solidFill>
                            <a:srgbClr val="E7E9EE"/>
                          </a:solidFill>
                          <a:latin typeface="Arial"/>
                        </a:rPr>
                        <a:t>Копия всех данных</a:t>
                      </a:r>
                    </a:p>
                  </a:txBody>
                  <a:tcPr>
                    <a:solidFill>
                      <a:srgbClr val="0D1628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640080" y="4160520"/>
            <a:ext cx="5349240" cy="1920240"/>
          </a:xfrm>
          <a:prstGeom prst="roundRect">
            <a:avLst>
              <a:gd name="adj" fmla="val 6000"/>
            </a:avLst>
          </a:prstGeom>
          <a:solidFill>
            <a:srgbClr val="0A1322"/>
          </a:solidFill>
          <a:ln w="9525">
            <a:solidFill>
              <a:srgbClr val="2326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4297680"/>
            <a:ext cx="4937760" cy="1691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6366F1"/>
                </a:solidFill>
                <a:latin typeface="Arial"/>
              </a:rPr>
              <a:t>ПРИМЕР АВТО-СЦЕНАРИЯ</a:t>
            </a:r>
          </a:p>
          <a:p>
            <a:pPr algn="l"/>
            <a:r>
              <a:rPr sz="1150" b="0">
                <a:solidFill>
                  <a:srgbClr val="9AA1AE"/>
                </a:solidFill>
                <a:latin typeface="Arial"/>
              </a:rPr>
              <a:t>ЕСЛИ лид в статусе «Перезвонить»</a:t>
            </a:r>
          </a:p>
          <a:p>
            <a:pPr algn="l"/>
            <a:r>
              <a:rPr sz="1150" b="0">
                <a:solidFill>
                  <a:srgbClr val="9AA1AE"/>
                </a:solidFill>
                <a:latin typeface="Arial"/>
              </a:rPr>
              <a:t>       дольше 48 часов</a:t>
            </a:r>
          </a:p>
          <a:p>
            <a:pPr algn="l"/>
            <a:r>
              <a:rPr sz="1150" b="0">
                <a:solidFill>
                  <a:srgbClr val="9AA1AE"/>
                </a:solidFill>
                <a:latin typeface="Arial"/>
              </a:rPr>
              <a:t>ТО создать задачу менеджеру:</a:t>
            </a:r>
          </a:p>
          <a:p>
            <a:pPr algn="l"/>
            <a:r>
              <a:rPr sz="1150" b="0">
                <a:solidFill>
                  <a:srgbClr val="FDE68A"/>
                </a:solidFill>
                <a:latin typeface="Arial"/>
              </a:rPr>
              <a:t>       «Срочно перезвонить — клиент ждёт»</a:t>
            </a:r>
          </a:p>
          <a:p>
            <a:pPr algn="l"/>
            <a:r>
              <a:rPr sz="1000" b="0">
                <a:solidFill>
                  <a:srgbClr val="6E7582"/>
                </a:solidFill>
                <a:latin typeface="Arial"/>
              </a:rPr>
              <a:t>Настраивается в админке без программиста.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2200" y="4160520"/>
            <a:ext cx="5349240" cy="1920240"/>
          </a:xfrm>
          <a:prstGeom prst="roundRect">
            <a:avLst>
              <a:gd name="adj" fmla="val 6000"/>
            </a:avLst>
          </a:prstGeom>
          <a:solidFill>
            <a:srgbClr val="121419"/>
          </a:solidFill>
          <a:ln w="9525">
            <a:solidFill>
              <a:srgbClr val="2326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0" y="4297680"/>
            <a:ext cx="49377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86EFAC"/>
                </a:solidFill>
                <a:latin typeface="Arial"/>
              </a:rPr>
              <a:t>НА ПРАКТИКЕ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4617720"/>
            <a:ext cx="49377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050" b="1">
                <a:solidFill>
                  <a:srgbClr val="6366F1"/>
                </a:solidFill>
                <a:latin typeface="Arial"/>
              </a:rPr>
              <a:t>•  </a:t>
            </a:r>
            <a:r>
              <a:rPr sz="1050" b="0">
                <a:solidFill>
                  <a:srgbClr val="9AA1AE"/>
                </a:solidFill>
                <a:latin typeface="Arial"/>
              </a:rPr>
              <a:t>Ни один лид не «теряется в столе»</a:t>
            </a:r>
          </a:p>
          <a:p>
            <a:pPr>
              <a:spcAft>
                <a:spcPts val="400"/>
              </a:spcAft>
            </a:pPr>
            <a:r>
              <a:rPr sz="1050" b="1">
                <a:solidFill>
                  <a:srgbClr val="6366F1"/>
                </a:solidFill>
                <a:latin typeface="Arial"/>
              </a:rPr>
              <a:t>•  </a:t>
            </a:r>
            <a:r>
              <a:rPr sz="1050" b="0">
                <a:solidFill>
                  <a:srgbClr val="9AA1AE"/>
                </a:solidFill>
                <a:latin typeface="Arial"/>
              </a:rPr>
              <a:t>Отпуск — система подскажет передать дела</a:t>
            </a:r>
          </a:p>
          <a:p>
            <a:pPr>
              <a:spcAft>
                <a:spcPts val="400"/>
              </a:spcAft>
            </a:pPr>
            <a:r>
              <a:rPr sz="1050" b="1">
                <a:solidFill>
                  <a:srgbClr val="6366F1"/>
                </a:solidFill>
                <a:latin typeface="Arial"/>
              </a:rPr>
              <a:t>•  </a:t>
            </a:r>
            <a:r>
              <a:rPr sz="1050" b="0">
                <a:solidFill>
                  <a:srgbClr val="9AA1AE"/>
                </a:solidFill>
                <a:latin typeface="Arial"/>
              </a:rPr>
              <a:t>Повторный клиент — вся история на месте</a:t>
            </a:r>
          </a:p>
          <a:p>
            <a:pPr>
              <a:spcAft>
                <a:spcPts val="400"/>
              </a:spcAft>
            </a:pPr>
            <a:r>
              <a:rPr sz="1050" b="1">
                <a:solidFill>
                  <a:srgbClr val="6366F1"/>
                </a:solidFill>
                <a:latin typeface="Arial"/>
              </a:rPr>
              <a:t>•  </a:t>
            </a:r>
            <a:r>
              <a:rPr sz="1050" b="0">
                <a:solidFill>
                  <a:srgbClr val="9AA1AE"/>
                </a:solidFill>
                <a:latin typeface="Arial"/>
              </a:rPr>
              <a:t>Спор «кто упустил» решается фактами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6E7582"/>
                </a:solidFill>
                <a:latin typeface="Arial"/>
              </a:rPr>
              <a:t>GoGlobal · база знаний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79615" y="6473952"/>
            <a:ext cx="4572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>
                <a:solidFill>
                  <a:srgbClr val="6E7582"/>
                </a:solidFill>
                <a:latin typeface="Arial"/>
              </a:rPr>
              <a:t>VI · Защитные сетки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C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080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11535" y="164592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E7582"/>
                </a:solidFill>
                <a:latin typeface="Arial"/>
              </a:rPr>
              <a:t>20 / 36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84048"/>
            <a:ext cx="82296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6366F1"/>
                </a:solidFill>
                <a:latin typeface="Arial"/>
              </a:rPr>
              <a:t>VI · CRM ПРОДАВЦА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58368"/>
            <a:ext cx="10911535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E7E9EE"/>
                </a:solidFill>
                <a:latin typeface="Arial"/>
              </a:rPr>
              <a:t>Ещё четыре возможности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417320"/>
            <a:ext cx="5394960" cy="1051560"/>
          </a:xfrm>
          <a:prstGeom prst="roundRect">
            <a:avLst>
              <a:gd name="adj" fmla="val 6000"/>
            </a:avLst>
          </a:prstGeom>
          <a:solidFill>
            <a:srgbClr val="121419"/>
          </a:solidFill>
          <a:ln w="9525">
            <a:solidFill>
              <a:srgbClr val="2326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41248" y="1527048"/>
            <a:ext cx="502920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50" b="1">
                <a:solidFill>
                  <a:srgbClr val="E7E9EE"/>
                </a:solidFill>
                <a:latin typeface="Arial"/>
              </a:rPr>
              <a:t>📖 База знаний</a:t>
            </a:r>
          </a:p>
          <a:p>
            <a:pPr algn="l"/>
            <a:r>
              <a:rPr sz="1050" b="0">
                <a:solidFill>
                  <a:srgbClr val="9AA1AE"/>
                </a:solidFill>
                <a:latin typeface="Arial"/>
              </a:rPr>
              <a:t>РОП пишет статьи («Виза в Японию», «Возражение дорого») — менеджер открывает из CRM. Новички учатся сами.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417320"/>
            <a:ext cx="5394960" cy="1051560"/>
          </a:xfrm>
          <a:prstGeom prst="roundRect">
            <a:avLst>
              <a:gd name="adj" fmla="val 6000"/>
            </a:avLst>
          </a:prstGeom>
          <a:solidFill>
            <a:srgbClr val="121419"/>
          </a:solidFill>
          <a:ln w="9525">
            <a:solidFill>
              <a:srgbClr val="2326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19088" y="1527048"/>
            <a:ext cx="502920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50" b="1">
                <a:solidFill>
                  <a:srgbClr val="E7E9EE"/>
                </a:solidFill>
                <a:latin typeface="Arial"/>
              </a:rPr>
              <a:t>🎟 Метки клиентов</a:t>
            </a:r>
          </a:p>
          <a:p>
            <a:pPr algn="l"/>
            <a:r>
              <a:rPr sz="1050" b="0">
                <a:solidFill>
                  <a:srgbClr val="9AA1AE"/>
                </a:solidFill>
                <a:latin typeface="Arial"/>
              </a:rPr>
              <a:t>Цветные ярлыки: Hot, VIP, Грант, Повторный. Видны сразу, фильтруются.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2606040"/>
            <a:ext cx="5394960" cy="1051560"/>
          </a:xfrm>
          <a:prstGeom prst="roundRect">
            <a:avLst>
              <a:gd name="adj" fmla="val 6000"/>
            </a:avLst>
          </a:prstGeom>
          <a:solidFill>
            <a:srgbClr val="121419"/>
          </a:solidFill>
          <a:ln w="9525">
            <a:solidFill>
              <a:srgbClr val="2326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41248" y="2715768"/>
            <a:ext cx="502920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50" b="1">
                <a:solidFill>
                  <a:srgbClr val="E7E9EE"/>
                </a:solidFill>
                <a:latin typeface="Arial"/>
              </a:rPr>
              <a:t>📅 Календарь встреч</a:t>
            </a:r>
          </a:p>
          <a:p>
            <a:pPr algn="l"/>
            <a:r>
              <a:rPr sz="1050" b="0">
                <a:solidFill>
                  <a:srgbClr val="9AA1AE"/>
                </a:solidFill>
                <a:latin typeface="Arial"/>
              </a:rPr>
              <a:t>Статус «Подойдёт в офис» + дата → встреча сама в календаре.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2606040"/>
            <a:ext cx="5394960" cy="1051560"/>
          </a:xfrm>
          <a:prstGeom prst="roundRect">
            <a:avLst>
              <a:gd name="adj" fmla="val 6000"/>
            </a:avLst>
          </a:prstGeom>
          <a:solidFill>
            <a:srgbClr val="121419"/>
          </a:solidFill>
          <a:ln w="9525">
            <a:solidFill>
              <a:srgbClr val="2326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19088" y="2715768"/>
            <a:ext cx="502920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50" b="1">
                <a:solidFill>
                  <a:srgbClr val="E7E9EE"/>
                </a:solidFill>
                <a:latin typeface="Arial"/>
              </a:rPr>
              <a:t>🚪 Причины отказов</a:t>
            </a:r>
          </a:p>
          <a:p>
            <a:pPr algn="l"/>
            <a:r>
              <a:rPr sz="1050" b="0">
                <a:solidFill>
                  <a:srgbClr val="9AA1AE"/>
                </a:solidFill>
                <a:latin typeface="Arial"/>
              </a:rPr>
              <a:t>При Lost система просит причину: дорого / передумал / конкурент. РОП видит сводку.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3977639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7E9EE"/>
                </a:solidFill>
                <a:latin typeface="Arial"/>
              </a:rPr>
              <a:t>Пример сводки причин отказов (за квартал)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4434840"/>
            <a:ext cx="14630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E7E9EE"/>
                </a:solidFill>
                <a:latin typeface="Arial"/>
              </a:rPr>
              <a:t>Дорого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194560" y="4471416"/>
            <a:ext cx="7315200" cy="201168"/>
          </a:xfrm>
          <a:prstGeom prst="roundRect">
            <a:avLst>
              <a:gd name="adj" fmla="val 50000"/>
            </a:avLst>
          </a:prstGeom>
          <a:solidFill>
            <a:srgbClr val="1214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2194560" y="4471416"/>
            <a:ext cx="3072384" cy="201168"/>
          </a:xfrm>
          <a:prstGeom prst="roundRect">
            <a:avLst>
              <a:gd name="adj" fmla="val 50000"/>
            </a:avLst>
          </a:prstGeom>
          <a:solidFill>
            <a:srgbClr val="EF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692640" y="4434840"/>
            <a:ext cx="18288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50" b="0">
                <a:solidFill>
                  <a:srgbClr val="9AA1AE"/>
                </a:solidFill>
                <a:latin typeface="Arial"/>
              </a:rPr>
              <a:t>42% · $84k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4782312"/>
            <a:ext cx="14630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E7E9EE"/>
                </a:solidFill>
                <a:latin typeface="Arial"/>
              </a:rPr>
              <a:t>Не отвечает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194560" y="4818888"/>
            <a:ext cx="7315200" cy="201168"/>
          </a:xfrm>
          <a:prstGeom prst="roundRect">
            <a:avLst>
              <a:gd name="adj" fmla="val 50000"/>
            </a:avLst>
          </a:prstGeom>
          <a:solidFill>
            <a:srgbClr val="1214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2194560" y="4818888"/>
            <a:ext cx="1828800" cy="201168"/>
          </a:xfrm>
          <a:prstGeom prst="roundRect">
            <a:avLst>
              <a:gd name="adj" fmla="val 50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692640" y="4782312"/>
            <a:ext cx="18288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50" b="0">
                <a:solidFill>
                  <a:srgbClr val="9AA1AE"/>
                </a:solidFill>
                <a:latin typeface="Arial"/>
              </a:rPr>
              <a:t>25% · $37k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5129784"/>
            <a:ext cx="14630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E7E9EE"/>
                </a:solidFill>
                <a:latin typeface="Arial"/>
              </a:rPr>
              <a:t>Передумал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194560" y="5166360"/>
            <a:ext cx="7315200" cy="201168"/>
          </a:xfrm>
          <a:prstGeom prst="roundRect">
            <a:avLst>
              <a:gd name="adj" fmla="val 50000"/>
            </a:avLst>
          </a:prstGeom>
          <a:solidFill>
            <a:srgbClr val="1214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2194560" y="5166360"/>
            <a:ext cx="1316736" cy="201168"/>
          </a:xfrm>
          <a:prstGeom prst="roundRect">
            <a:avLst>
              <a:gd name="adj" fmla="val 50000"/>
            </a:avLst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692640" y="5129784"/>
            <a:ext cx="18288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50" b="0">
                <a:solidFill>
                  <a:srgbClr val="9AA1AE"/>
                </a:solidFill>
                <a:latin typeface="Arial"/>
              </a:rPr>
              <a:t>18% · $29k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" y="5477256"/>
            <a:ext cx="14630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E7E9EE"/>
                </a:solidFill>
                <a:latin typeface="Arial"/>
              </a:rPr>
              <a:t>Конкурент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2194560" y="5513832"/>
            <a:ext cx="7315200" cy="201168"/>
          </a:xfrm>
          <a:prstGeom prst="roundRect">
            <a:avLst>
              <a:gd name="adj" fmla="val 50000"/>
            </a:avLst>
          </a:prstGeom>
          <a:solidFill>
            <a:srgbClr val="1214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2194560" y="5513832"/>
            <a:ext cx="731520" cy="201168"/>
          </a:xfrm>
          <a:prstGeom prst="roundRect">
            <a:avLst>
              <a:gd name="adj" fmla="val 50000"/>
            </a:avLst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692640" y="5477256"/>
            <a:ext cx="18288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50" b="0">
                <a:solidFill>
                  <a:srgbClr val="9AA1AE"/>
                </a:solidFill>
                <a:latin typeface="Arial"/>
              </a:rPr>
              <a:t>10% · $18k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" y="5824728"/>
            <a:ext cx="14630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E7E9EE"/>
                </a:solidFill>
                <a:latin typeface="Arial"/>
              </a:rPr>
              <a:t>Другое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2194560" y="5861304"/>
            <a:ext cx="7315200" cy="201168"/>
          </a:xfrm>
          <a:prstGeom prst="roundRect">
            <a:avLst>
              <a:gd name="adj" fmla="val 50000"/>
            </a:avLst>
          </a:prstGeom>
          <a:solidFill>
            <a:srgbClr val="1214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2194560" y="5861304"/>
            <a:ext cx="365760" cy="201168"/>
          </a:xfrm>
          <a:prstGeom prst="roundRect">
            <a:avLst>
              <a:gd name="adj" fmla="val 50000"/>
            </a:avLst>
          </a:prstGeom>
          <a:solidFill>
            <a:srgbClr val="6E75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692640" y="5824728"/>
            <a:ext cx="18288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50" b="0">
                <a:solidFill>
                  <a:srgbClr val="9AA1AE"/>
                </a:solidFill>
                <a:latin typeface="Arial"/>
              </a:rPr>
              <a:t>5% · $8k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0080" y="6217920"/>
            <a:ext cx="10881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6E7582"/>
                </a:solidFill>
                <a:latin typeface="Arial"/>
              </a:rPr>
              <a:t>Вывод РОПа: 42% отказов «дорого» → добавить рассрочку и гранты в скрипты продаж.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6E7582"/>
                </a:solidFill>
                <a:latin typeface="Arial"/>
              </a:rPr>
              <a:t>GoGlobal · база знаний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979615" y="6473952"/>
            <a:ext cx="4572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>
                <a:solidFill>
                  <a:srgbClr val="6E7582"/>
                </a:solidFill>
                <a:latin typeface="Arial"/>
              </a:rPr>
              <a:t>VI · Дополнительно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C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080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11535" y="164592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E7582"/>
                </a:solidFill>
                <a:latin typeface="Arial"/>
              </a:rPr>
              <a:t>21 / 36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84048"/>
            <a:ext cx="82296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6366F1"/>
                </a:solidFill>
                <a:latin typeface="Arial"/>
              </a:rPr>
              <a:t>VII · АДМИНКА И АНАЛИТИКА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58368"/>
            <a:ext cx="10911535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E7E9EE"/>
                </a:solidFill>
                <a:latin typeface="Arial"/>
              </a:rPr>
              <a:t>30+ разделов в трёх группах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417320"/>
            <a:ext cx="3520440" cy="3931920"/>
          </a:xfrm>
          <a:prstGeom prst="roundRect">
            <a:avLst>
              <a:gd name="adj" fmla="val 6000"/>
            </a:avLst>
          </a:prstGeom>
          <a:solidFill>
            <a:srgbClr val="121419"/>
          </a:solidFill>
          <a:ln w="9525">
            <a:solidFill>
              <a:srgbClr val="2326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41248" y="1554480"/>
            <a:ext cx="3200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50" b="1">
                <a:solidFill>
                  <a:srgbClr val="E7E9EE"/>
                </a:solidFill>
                <a:latin typeface="Arial"/>
              </a:rPr>
              <a:t>📊 Аналитика · 11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" y="2011680"/>
            <a:ext cx="320040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6366F1"/>
                </a:solidFill>
                <a:latin typeface="Arial"/>
              </a:rPr>
              <a:t>•  </a:t>
            </a:r>
            <a:r>
              <a:rPr sz="1000" b="0">
                <a:solidFill>
                  <a:srgbClr val="9AA1AE"/>
                </a:solidFill>
                <a:latin typeface="Arial"/>
              </a:rPr>
              <a:t>Здоровье продаж (светофор)</a:t>
            </a:r>
          </a:p>
          <a:p>
            <a:r>
              <a:rPr sz="1000" b="1">
                <a:solidFill>
                  <a:srgbClr val="6366F1"/>
                </a:solidFill>
                <a:latin typeface="Arial"/>
              </a:rPr>
              <a:t>•  </a:t>
            </a:r>
            <a:r>
              <a:rPr sz="1000" b="0">
                <a:solidFill>
                  <a:srgbClr val="9AA1AE"/>
                </a:solidFill>
                <a:latin typeface="Arial"/>
              </a:rPr>
              <a:t>Посещения сайта</a:t>
            </a:r>
          </a:p>
          <a:p>
            <a:r>
              <a:rPr sz="1000" b="1">
                <a:solidFill>
                  <a:srgbClr val="6366F1"/>
                </a:solidFill>
                <a:latin typeface="Arial"/>
              </a:rPr>
              <a:t>•  </a:t>
            </a:r>
            <a:r>
              <a:rPr sz="1000" b="0">
                <a:solidFill>
                  <a:srgbClr val="9AA1AE"/>
                </a:solidFill>
                <a:latin typeface="Arial"/>
              </a:rPr>
              <a:t>Дашборд CRM</a:t>
            </a:r>
          </a:p>
          <a:p>
            <a:r>
              <a:rPr sz="1000" b="1">
                <a:solidFill>
                  <a:srgbClr val="6366F1"/>
                </a:solidFill>
                <a:latin typeface="Arial"/>
              </a:rPr>
              <a:t>•  </a:t>
            </a:r>
            <a:r>
              <a:rPr sz="1000" b="0">
                <a:solidFill>
                  <a:srgbClr val="9AA1AE"/>
                </a:solidFill>
                <a:latin typeface="Arial"/>
              </a:rPr>
              <a:t>Leaderboard</a:t>
            </a:r>
          </a:p>
          <a:p>
            <a:r>
              <a:rPr sz="1000" b="1">
                <a:solidFill>
                  <a:srgbClr val="6366F1"/>
                </a:solidFill>
                <a:latin typeface="Arial"/>
              </a:rPr>
              <a:t>•  </a:t>
            </a:r>
            <a:r>
              <a:rPr sz="1000" b="0">
                <a:solidFill>
                  <a:srgbClr val="9AA1AE"/>
                </a:solidFill>
                <a:latin typeface="Arial"/>
              </a:rPr>
              <a:t>1-на-1 отчёт</a:t>
            </a:r>
          </a:p>
          <a:p>
            <a:r>
              <a:rPr sz="1000" b="1">
                <a:solidFill>
                  <a:srgbClr val="6366F1"/>
                </a:solidFill>
                <a:latin typeface="Arial"/>
              </a:rPr>
              <a:t>•  </a:t>
            </a:r>
            <a:r>
              <a:rPr sz="1000" b="0">
                <a:solidFill>
                  <a:srgbClr val="9AA1AE"/>
                </a:solidFill>
                <a:latin typeface="Arial"/>
              </a:rPr>
              <a:t>Время в статусах</a:t>
            </a:r>
          </a:p>
          <a:p>
            <a:r>
              <a:rPr sz="1000" b="1">
                <a:solidFill>
                  <a:srgbClr val="6366F1"/>
                </a:solidFill>
                <a:latin typeface="Arial"/>
              </a:rPr>
              <a:t>•  </a:t>
            </a:r>
            <a:r>
              <a:rPr sz="1000" b="0">
                <a:solidFill>
                  <a:srgbClr val="9AA1AE"/>
                </a:solidFill>
                <a:latin typeface="Arial"/>
              </a:rPr>
              <a:t>Скорость отклика</a:t>
            </a:r>
          </a:p>
          <a:p>
            <a:r>
              <a:rPr sz="1000" b="1">
                <a:solidFill>
                  <a:srgbClr val="6366F1"/>
                </a:solidFill>
                <a:latin typeface="Arial"/>
              </a:rPr>
              <a:t>•  </a:t>
            </a:r>
            <a:r>
              <a:rPr sz="1000" b="0">
                <a:solidFill>
                  <a:srgbClr val="9AA1AE"/>
                </a:solidFill>
                <a:latin typeface="Arial"/>
              </a:rPr>
              <a:t>Heatmap входящих</a:t>
            </a:r>
          </a:p>
          <a:p>
            <a:r>
              <a:rPr sz="1000" b="1">
                <a:solidFill>
                  <a:srgbClr val="6366F1"/>
                </a:solidFill>
                <a:latin typeface="Arial"/>
              </a:rPr>
              <a:t>•  </a:t>
            </a:r>
            <a:r>
              <a:rPr sz="1000" b="0">
                <a:solidFill>
                  <a:srgbClr val="9AA1AE"/>
                </a:solidFill>
                <a:latin typeface="Arial"/>
              </a:rPr>
              <a:t>Причины отказов</a:t>
            </a:r>
          </a:p>
          <a:p>
            <a:r>
              <a:rPr sz="1000" b="1">
                <a:solidFill>
                  <a:srgbClr val="6366F1"/>
                </a:solidFill>
                <a:latin typeface="Arial"/>
              </a:rPr>
              <a:t>•  </a:t>
            </a:r>
            <a:r>
              <a:rPr sz="1000" b="0">
                <a:solidFill>
                  <a:srgbClr val="9AA1AE"/>
                </a:solidFill>
                <a:latin typeface="Arial"/>
              </a:rPr>
              <a:t>Когортный анализ</a:t>
            </a:r>
          </a:p>
          <a:p>
            <a:r>
              <a:rPr sz="1000" b="1">
                <a:solidFill>
                  <a:srgbClr val="6366F1"/>
                </a:solidFill>
                <a:latin typeface="Arial"/>
              </a:rPr>
              <a:t>•  </a:t>
            </a:r>
            <a:r>
              <a:rPr sz="1000" b="0">
                <a:solidFill>
                  <a:srgbClr val="9AA1AE"/>
                </a:solidFill>
                <a:latin typeface="Arial"/>
              </a:rPr>
              <a:t>ROI по источникам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43400" y="1417320"/>
            <a:ext cx="3520440" cy="3931920"/>
          </a:xfrm>
          <a:prstGeom prst="roundRect">
            <a:avLst>
              <a:gd name="adj" fmla="val 6000"/>
            </a:avLst>
          </a:prstGeom>
          <a:solidFill>
            <a:srgbClr val="121419"/>
          </a:solidFill>
          <a:ln w="9525">
            <a:solidFill>
              <a:srgbClr val="2326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44568" y="1554480"/>
            <a:ext cx="3200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50" b="1">
                <a:solidFill>
                  <a:srgbClr val="E7E9EE"/>
                </a:solidFill>
                <a:latin typeface="Arial"/>
              </a:rPr>
              <a:t>⚙️ Операции · 12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44568" y="2011680"/>
            <a:ext cx="320040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6366F1"/>
                </a:solidFill>
                <a:latin typeface="Arial"/>
              </a:rPr>
              <a:t>•  </a:t>
            </a:r>
            <a:r>
              <a:rPr sz="1000" b="0">
                <a:solidFill>
                  <a:srgbClr val="9AA1AE"/>
                </a:solidFill>
                <a:latin typeface="Arial"/>
              </a:rPr>
              <a:t>Менеджеры</a:t>
            </a:r>
          </a:p>
          <a:p>
            <a:r>
              <a:rPr sz="1000" b="1">
                <a:solidFill>
                  <a:srgbClr val="6366F1"/>
                </a:solidFill>
                <a:latin typeface="Arial"/>
              </a:rPr>
              <a:t>•  </a:t>
            </a:r>
            <a:r>
              <a:rPr sz="1000" b="0">
                <a:solidFill>
                  <a:srgbClr val="9AA1AE"/>
                </a:solidFill>
                <a:latin typeface="Arial"/>
              </a:rPr>
              <a:t>Авто-распределение</a:t>
            </a:r>
          </a:p>
          <a:p>
            <a:r>
              <a:rPr sz="1000" b="1">
                <a:solidFill>
                  <a:srgbClr val="6366F1"/>
                </a:solidFill>
                <a:latin typeface="Arial"/>
              </a:rPr>
              <a:t>•  </a:t>
            </a:r>
            <a:r>
              <a:rPr sz="1000" b="0">
                <a:solidFill>
                  <a:srgbClr val="9AA1AE"/>
                </a:solidFill>
                <a:latin typeface="Arial"/>
              </a:rPr>
              <a:t>Статусы воронки</a:t>
            </a:r>
          </a:p>
          <a:p>
            <a:r>
              <a:rPr sz="1000" b="1">
                <a:solidFill>
                  <a:srgbClr val="6366F1"/>
                </a:solidFill>
                <a:latin typeface="Arial"/>
              </a:rPr>
              <a:t>•  </a:t>
            </a:r>
            <a:r>
              <a:rPr sz="1000" b="0">
                <a:solidFill>
                  <a:srgbClr val="9AA1AE"/>
                </a:solidFill>
                <a:latin typeface="Arial"/>
              </a:rPr>
              <a:t>Метки клиентов</a:t>
            </a:r>
          </a:p>
          <a:p>
            <a:r>
              <a:rPr sz="1000" b="1">
                <a:solidFill>
                  <a:srgbClr val="6366F1"/>
                </a:solidFill>
                <a:latin typeface="Arial"/>
              </a:rPr>
              <a:t>•  </a:t>
            </a:r>
            <a:r>
              <a:rPr sz="1000" b="0">
                <a:solidFill>
                  <a:srgbClr val="9AA1AE"/>
                </a:solidFill>
                <a:latin typeface="Arial"/>
              </a:rPr>
              <a:t>Шаблоны ответов</a:t>
            </a:r>
          </a:p>
          <a:p>
            <a:r>
              <a:rPr sz="1000" b="1">
                <a:solidFill>
                  <a:srgbClr val="6366F1"/>
                </a:solidFill>
                <a:latin typeface="Arial"/>
              </a:rPr>
              <a:t>•  </a:t>
            </a:r>
            <a:r>
              <a:rPr sz="1000" b="0">
                <a:solidFill>
                  <a:srgbClr val="9AA1AE"/>
                </a:solidFill>
                <a:latin typeface="Arial"/>
              </a:rPr>
              <a:t>Авто-сценарии</a:t>
            </a:r>
          </a:p>
          <a:p>
            <a:r>
              <a:rPr sz="1000" b="1">
                <a:solidFill>
                  <a:srgbClr val="6366F1"/>
                </a:solidFill>
                <a:latin typeface="Arial"/>
              </a:rPr>
              <a:t>•  </a:t>
            </a:r>
            <a:r>
              <a:rPr sz="1000" b="0">
                <a:solidFill>
                  <a:srgbClr val="9AA1AE"/>
                </a:solidFill>
                <a:latin typeface="Arial"/>
              </a:rPr>
              <a:t>Причины отказов</a:t>
            </a:r>
          </a:p>
          <a:p>
            <a:r>
              <a:rPr sz="1000" b="1">
                <a:solidFill>
                  <a:srgbClr val="6366F1"/>
                </a:solidFill>
                <a:latin typeface="Arial"/>
              </a:rPr>
              <a:t>•  </a:t>
            </a:r>
            <a:r>
              <a:rPr sz="1000" b="0">
                <a:solidFill>
                  <a:srgbClr val="9AA1AE"/>
                </a:solidFill>
                <a:latin typeface="Arial"/>
              </a:rPr>
              <a:t>База знаний</a:t>
            </a:r>
          </a:p>
          <a:p>
            <a:r>
              <a:rPr sz="1000" b="1">
                <a:solidFill>
                  <a:srgbClr val="6366F1"/>
                </a:solidFill>
                <a:latin typeface="Arial"/>
              </a:rPr>
              <a:t>•  </a:t>
            </a:r>
            <a:r>
              <a:rPr sz="1000" b="0">
                <a:solidFill>
                  <a:srgbClr val="9AA1AE"/>
                </a:solidFill>
                <a:latin typeface="Arial"/>
              </a:rPr>
              <a:t>Комиссии и выплаты</a:t>
            </a:r>
          </a:p>
          <a:p>
            <a:r>
              <a:rPr sz="1000" b="1">
                <a:solidFill>
                  <a:srgbClr val="6366F1"/>
                </a:solidFill>
                <a:latin typeface="Arial"/>
              </a:rPr>
              <a:t>•  </a:t>
            </a:r>
            <a:r>
              <a:rPr sz="1000" b="0">
                <a:solidFill>
                  <a:srgbClr val="9AA1AE"/>
                </a:solidFill>
                <a:latin typeface="Arial"/>
              </a:rPr>
              <a:t>Журнал аудита</a:t>
            </a:r>
          </a:p>
          <a:p>
            <a:r>
              <a:rPr sz="1000" b="1">
                <a:solidFill>
                  <a:srgbClr val="6366F1"/>
                </a:solidFill>
                <a:latin typeface="Arial"/>
              </a:rPr>
              <a:t>•  </a:t>
            </a:r>
            <a:r>
              <a:rPr sz="1000" b="0">
                <a:solidFill>
                  <a:srgbClr val="9AA1AE"/>
                </a:solidFill>
                <a:latin typeface="Arial"/>
              </a:rPr>
              <a:t>Утилиты и бэкапы</a:t>
            </a:r>
          </a:p>
          <a:p>
            <a:r>
              <a:rPr sz="1000" b="1">
                <a:solidFill>
                  <a:srgbClr val="6366F1"/>
                </a:solidFill>
                <a:latin typeface="Arial"/>
              </a:rPr>
              <a:t>•  </a:t>
            </a:r>
            <a:r>
              <a:rPr sz="1000" b="0">
                <a:solidFill>
                  <a:srgbClr val="9AA1AE"/>
                </a:solidFill>
                <a:latin typeface="Arial"/>
              </a:rPr>
              <a:t>Все лиды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46720" y="1417320"/>
            <a:ext cx="3520440" cy="3931920"/>
          </a:xfrm>
          <a:prstGeom prst="roundRect">
            <a:avLst>
              <a:gd name="adj" fmla="val 6000"/>
            </a:avLst>
          </a:prstGeom>
          <a:solidFill>
            <a:srgbClr val="121419"/>
          </a:solidFill>
          <a:ln w="9525">
            <a:solidFill>
              <a:srgbClr val="2326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47888" y="1554480"/>
            <a:ext cx="3200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50" b="1">
                <a:solidFill>
                  <a:srgbClr val="E7E9EE"/>
                </a:solidFill>
                <a:latin typeface="Arial"/>
              </a:rPr>
              <a:t>🌍 Контент сайта · 10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47888" y="2011680"/>
            <a:ext cx="320040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6366F1"/>
                </a:solidFill>
                <a:latin typeface="Arial"/>
              </a:rPr>
              <a:t>•  </a:t>
            </a:r>
            <a:r>
              <a:rPr sz="1000" b="0">
                <a:solidFill>
                  <a:srgbClr val="9AA1AE"/>
                </a:solidFill>
                <a:latin typeface="Arial"/>
              </a:rPr>
              <a:t>Видимость блоков</a:t>
            </a:r>
          </a:p>
          <a:p>
            <a:r>
              <a:rPr sz="1000" b="1">
                <a:solidFill>
                  <a:srgbClr val="6366F1"/>
                </a:solidFill>
                <a:latin typeface="Arial"/>
              </a:rPr>
              <a:t>•  </a:t>
            </a:r>
            <a:r>
              <a:rPr sz="1000" b="0">
                <a:solidFill>
                  <a:srgbClr val="9AA1AE"/>
                </a:solidFill>
                <a:latin typeface="Arial"/>
              </a:rPr>
              <a:t>Главный экран (Hero)</a:t>
            </a:r>
          </a:p>
          <a:p>
            <a:r>
              <a:rPr sz="1000" b="1">
                <a:solidFill>
                  <a:srgbClr val="6366F1"/>
                </a:solidFill>
                <a:latin typeface="Arial"/>
              </a:rPr>
              <a:t>•  </a:t>
            </a:r>
            <a:r>
              <a:rPr sz="1000" b="0">
                <a:solidFill>
                  <a:srgbClr val="9AA1AE"/>
                </a:solidFill>
                <a:latin typeface="Arial"/>
              </a:rPr>
              <a:t>О компании</a:t>
            </a:r>
          </a:p>
          <a:p>
            <a:r>
              <a:rPr sz="1000" b="1">
                <a:solidFill>
                  <a:srgbClr val="6366F1"/>
                </a:solidFill>
                <a:latin typeface="Arial"/>
              </a:rPr>
              <a:t>•  </a:t>
            </a:r>
            <a:r>
              <a:rPr sz="1000" b="0">
                <a:solidFill>
                  <a:srgbClr val="9AA1AE"/>
                </a:solidFill>
                <a:latin typeface="Arial"/>
              </a:rPr>
              <a:t>Страны и Университеты</a:t>
            </a:r>
          </a:p>
          <a:p>
            <a:r>
              <a:rPr sz="1000" b="1">
                <a:solidFill>
                  <a:srgbClr val="6366F1"/>
                </a:solidFill>
                <a:latin typeface="Arial"/>
              </a:rPr>
              <a:t>•  </a:t>
            </a:r>
            <a:r>
              <a:rPr sz="1000" b="0">
                <a:solidFill>
                  <a:srgbClr val="9AA1AE"/>
                </a:solidFill>
                <a:latin typeface="Arial"/>
              </a:rPr>
              <a:t>Партнёрские университеты</a:t>
            </a:r>
          </a:p>
          <a:p>
            <a:r>
              <a:rPr sz="1000" b="1">
                <a:solidFill>
                  <a:srgbClr val="6366F1"/>
                </a:solidFill>
                <a:latin typeface="Arial"/>
              </a:rPr>
              <a:t>•  </a:t>
            </a:r>
            <a:r>
              <a:rPr sz="1000" b="0">
                <a:solidFill>
                  <a:srgbClr val="9AA1AE"/>
                </a:solidFill>
                <a:latin typeface="Arial"/>
              </a:rPr>
              <a:t>Калькулятор</a:t>
            </a:r>
          </a:p>
          <a:p>
            <a:r>
              <a:rPr sz="1000" b="1">
                <a:solidFill>
                  <a:srgbClr val="6366F1"/>
                </a:solidFill>
                <a:latin typeface="Arial"/>
              </a:rPr>
              <a:t>•  </a:t>
            </a:r>
            <a:r>
              <a:rPr sz="1000" b="0">
                <a:solidFill>
                  <a:srgbClr val="9AA1AE"/>
                </a:solidFill>
                <a:latin typeface="Arial"/>
              </a:rPr>
              <a:t>Отзывы</a:t>
            </a:r>
          </a:p>
          <a:p>
            <a:r>
              <a:rPr sz="1000" b="1">
                <a:solidFill>
                  <a:srgbClr val="6366F1"/>
                </a:solidFill>
                <a:latin typeface="Arial"/>
              </a:rPr>
              <a:t>•  </a:t>
            </a:r>
            <a:r>
              <a:rPr sz="1000" b="0">
                <a:solidFill>
                  <a:srgbClr val="9AA1AE"/>
                </a:solidFill>
                <a:latin typeface="Arial"/>
              </a:rPr>
              <a:t>FAQ</a:t>
            </a:r>
          </a:p>
          <a:p>
            <a:r>
              <a:rPr sz="1000" b="1">
                <a:solidFill>
                  <a:srgbClr val="6366F1"/>
                </a:solidFill>
                <a:latin typeface="Arial"/>
              </a:rPr>
              <a:t>•  </a:t>
            </a:r>
            <a:r>
              <a:rPr sz="1000" b="0">
                <a:solidFill>
                  <a:srgbClr val="9AA1AE"/>
                </a:solidFill>
                <a:latin typeface="Arial"/>
              </a:rPr>
              <a:t>Контакты и график</a:t>
            </a:r>
          </a:p>
          <a:p>
            <a:r>
              <a:rPr sz="1000" b="1">
                <a:solidFill>
                  <a:srgbClr val="6366F1"/>
                </a:solidFill>
                <a:latin typeface="Arial"/>
              </a:rPr>
              <a:t>•  </a:t>
            </a:r>
            <a:r>
              <a:rPr sz="1000" b="0">
                <a:solidFill>
                  <a:srgbClr val="9AA1AE"/>
                </a:solidFill>
                <a:latin typeface="Arial"/>
              </a:rPr>
              <a:t>События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5532120"/>
            <a:ext cx="10881360" cy="868680"/>
          </a:xfrm>
          <a:prstGeom prst="roundRect">
            <a:avLst>
              <a:gd name="adj" fmla="val 6000"/>
            </a:avLst>
          </a:prstGeom>
          <a:solidFill>
            <a:srgbClr val="121419"/>
          </a:solidFill>
          <a:ln w="9525">
            <a:solidFill>
              <a:srgbClr val="2326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68680" y="5650992"/>
            <a:ext cx="1042416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1">
                <a:solidFill>
                  <a:srgbClr val="86EFAC"/>
                </a:solidFill>
                <a:latin typeface="Arial"/>
              </a:rPr>
              <a:t>БЕРЕЖНЫЙ РЕЖИМ</a:t>
            </a:r>
          </a:p>
          <a:p>
            <a:pPr algn="l"/>
            <a:r>
              <a:rPr sz="1100" b="0">
                <a:solidFill>
                  <a:srgbClr val="9AA1AE"/>
                </a:solidFill>
                <a:latin typeface="Arial"/>
              </a:rPr>
              <a:t>Все разделы свёрнуты; раздел грузит данные только когда его открыли — админка лёгкая даже на слабых ноутбуках.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6E7582"/>
                </a:solidFill>
                <a:latin typeface="Arial"/>
              </a:rPr>
              <a:t>GoGlobal · база знаний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79615" y="6473952"/>
            <a:ext cx="4572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>
                <a:solidFill>
                  <a:srgbClr val="6E7582"/>
                </a:solidFill>
                <a:latin typeface="Arial"/>
              </a:rPr>
              <a:t>VII · Структура админки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C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080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11535" y="164592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E7582"/>
                </a:solidFill>
                <a:latin typeface="Arial"/>
              </a:rPr>
              <a:t>22 / 36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84048"/>
            <a:ext cx="82296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6366F1"/>
                </a:solidFill>
                <a:latin typeface="Arial"/>
              </a:rPr>
              <a:t>VII · АДМИНКА И АНАЛИТИКА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58368"/>
            <a:ext cx="10911535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E7E9EE"/>
                </a:solidFill>
                <a:latin typeface="Arial"/>
              </a:rPr>
              <a:t>«Светофор» — состояние продаж за 2 секунды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463040"/>
          <a:ext cx="10881358" cy="152400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2058635"/>
                <a:gridCol w="5587725"/>
                <a:gridCol w="3234998"/>
              </a:tblGrid>
              <a:tr h="381000">
                <a:tc>
                  <a:txBody>
                    <a:bodyPr wrap="square" lIns="76200" rIns="76200" tIns="38100" bIns="38100"/>
                    <a:lstStyle/>
                    <a:p>
                      <a:pPr algn="l"/>
                      <a:r>
                        <a:rPr sz="1050" b="1">
                          <a:solidFill>
                            <a:srgbClr val="9AA1AE"/>
                          </a:solidFill>
                          <a:latin typeface="Arial"/>
                        </a:rPr>
                        <a:t>Цвет</a:t>
                      </a:r>
                    </a:p>
                  </a:txBody>
                  <a:tcPr>
                    <a:solidFill>
                      <a:srgbClr val="121419"/>
                    </a:solidFill>
                  </a:tcPr>
                </a:tc>
                <a:tc>
                  <a:txBody>
                    <a:bodyPr wrap="square" lIns="76200" rIns="76200" tIns="38100" bIns="38100"/>
                    <a:lstStyle/>
                    <a:p>
                      <a:pPr algn="l"/>
                      <a:r>
                        <a:rPr sz="1050" b="1">
                          <a:solidFill>
                            <a:srgbClr val="9AA1AE"/>
                          </a:solidFill>
                          <a:latin typeface="Arial"/>
                        </a:rPr>
                        <a:t>Условия</a:t>
                      </a:r>
                    </a:p>
                  </a:txBody>
                  <a:tcPr>
                    <a:solidFill>
                      <a:srgbClr val="121419"/>
                    </a:solidFill>
                  </a:tcPr>
                </a:tc>
                <a:tc>
                  <a:txBody>
                    <a:bodyPr wrap="square" lIns="76200" rIns="76200" tIns="38100" bIns="38100"/>
                    <a:lstStyle/>
                    <a:p>
                      <a:pPr algn="l"/>
                      <a:r>
                        <a:rPr sz="1050" b="1">
                          <a:solidFill>
                            <a:srgbClr val="9AA1AE"/>
                          </a:solidFill>
                          <a:latin typeface="Arial"/>
                        </a:rPr>
                        <a:t>Действие РОПа</a:t>
                      </a:r>
                    </a:p>
                  </a:txBody>
                  <a:tcPr>
                    <a:solidFill>
                      <a:srgbClr val="121419"/>
                    </a:solidFill>
                  </a:tcPr>
                </a:tc>
              </a:tr>
              <a:tr h="381000">
                <a:tc>
                  <a:txBody>
                    <a:bodyPr wrap="square" lIns="76200" rIns="76200" tIns="38100" bIns="38100"/>
                    <a:lstStyle/>
                    <a:p>
                      <a:pPr algn="l"/>
                      <a:r>
                        <a:rPr sz="1150" b="1">
                          <a:solidFill>
                            <a:srgbClr val="86EFAC"/>
                          </a:solidFill>
                          <a:latin typeface="Arial"/>
                        </a:rPr>
                        <a:t>🟢 Норма</a:t>
                      </a:r>
                    </a:p>
                  </a:txBody>
                  <a:tcPr>
                    <a:solidFill>
                      <a:srgbClr val="0B0C0F"/>
                    </a:solidFill>
                  </a:tcPr>
                </a:tc>
                <a:tc>
                  <a:txBody>
                    <a:bodyPr wrap="square" lIns="76200" rIns="76200" tIns="38100" bIns="38100"/>
                    <a:lstStyle/>
                    <a:p>
                      <a:pPr algn="l"/>
                      <a:r>
                        <a:rPr sz="1150" b="0">
                          <a:solidFill>
                            <a:srgbClr val="E7E9EE"/>
                          </a:solidFill>
                          <a:latin typeface="Arial"/>
                        </a:rPr>
                        <a:t>SLA ≥ 80% · конверсия ≥ 15% · просрочек &lt; 6</a:t>
                      </a:r>
                    </a:p>
                  </a:txBody>
                  <a:tcPr>
                    <a:solidFill>
                      <a:srgbClr val="0B0C0F"/>
                    </a:solidFill>
                  </a:tcPr>
                </a:tc>
                <a:tc>
                  <a:txBody>
                    <a:bodyPr wrap="square" lIns="76200" rIns="76200" tIns="38100" bIns="38100"/>
                    <a:lstStyle/>
                    <a:p>
                      <a:pPr algn="l"/>
                      <a:r>
                        <a:rPr sz="1150" b="0">
                          <a:solidFill>
                            <a:srgbClr val="E7E9EE"/>
                          </a:solidFill>
                          <a:latin typeface="Arial"/>
                        </a:rPr>
                        <a:t>Работаем дальше</a:t>
                      </a:r>
                    </a:p>
                  </a:txBody>
                  <a:tcPr>
                    <a:solidFill>
                      <a:srgbClr val="0B0C0F"/>
                    </a:solidFill>
                  </a:tcPr>
                </a:tc>
              </a:tr>
              <a:tr h="381000">
                <a:tc>
                  <a:txBody>
                    <a:bodyPr wrap="square" lIns="76200" rIns="76200" tIns="38100" bIns="38100"/>
                    <a:lstStyle/>
                    <a:p>
                      <a:pPr algn="l"/>
                      <a:r>
                        <a:rPr sz="1150" b="1">
                          <a:solidFill>
                            <a:srgbClr val="FDE68A"/>
                          </a:solidFill>
                          <a:latin typeface="Arial"/>
                        </a:rPr>
                        <a:t>🟡 Внимание</a:t>
                      </a:r>
                    </a:p>
                  </a:txBody>
                  <a:tcPr>
                    <a:solidFill>
                      <a:srgbClr val="0D1628"/>
                    </a:solidFill>
                  </a:tcPr>
                </a:tc>
                <a:tc>
                  <a:txBody>
                    <a:bodyPr wrap="square" lIns="76200" rIns="76200" tIns="38100" bIns="38100"/>
                    <a:lstStyle/>
                    <a:p>
                      <a:pPr algn="l"/>
                      <a:r>
                        <a:rPr sz="1150" b="0">
                          <a:solidFill>
                            <a:srgbClr val="E7E9EE"/>
                          </a:solidFill>
                          <a:latin typeface="Arial"/>
                        </a:rPr>
                        <a:t>SLA 60–80% или конверсия 10–15%</a:t>
                      </a:r>
                    </a:p>
                  </a:txBody>
                  <a:tcPr>
                    <a:solidFill>
                      <a:srgbClr val="0D1628"/>
                    </a:solidFill>
                  </a:tcPr>
                </a:tc>
                <a:tc>
                  <a:txBody>
                    <a:bodyPr wrap="square" lIns="76200" rIns="76200" tIns="38100" bIns="38100"/>
                    <a:lstStyle/>
                    <a:p>
                      <a:pPr algn="l"/>
                      <a:r>
                        <a:rPr sz="1150" b="0">
                          <a:solidFill>
                            <a:srgbClr val="E7E9EE"/>
                          </a:solidFill>
                          <a:latin typeface="Arial"/>
                        </a:rPr>
                        <a:t>Открыть детали, найти узкое место</a:t>
                      </a:r>
                    </a:p>
                  </a:txBody>
                  <a:tcPr>
                    <a:solidFill>
                      <a:srgbClr val="0D1628"/>
                    </a:solidFill>
                  </a:tcPr>
                </a:tc>
              </a:tr>
              <a:tr h="381000">
                <a:tc>
                  <a:txBody>
                    <a:bodyPr wrap="square" lIns="76200" rIns="76200" tIns="38100" bIns="38100"/>
                    <a:lstStyle/>
                    <a:p>
                      <a:pPr algn="l"/>
                      <a:r>
                        <a:rPr sz="1150" b="1">
                          <a:solidFill>
                            <a:srgbClr val="FDA4AF"/>
                          </a:solidFill>
                          <a:latin typeface="Arial"/>
                        </a:rPr>
                        <a:t>🔴 Срочно</a:t>
                      </a:r>
                    </a:p>
                  </a:txBody>
                  <a:tcPr>
                    <a:solidFill>
                      <a:srgbClr val="0B0C0F"/>
                    </a:solidFill>
                  </a:tcPr>
                </a:tc>
                <a:tc>
                  <a:txBody>
                    <a:bodyPr wrap="square" lIns="76200" rIns="76200" tIns="38100" bIns="38100"/>
                    <a:lstStyle/>
                    <a:p>
                      <a:pPr algn="l"/>
                      <a:r>
                        <a:rPr sz="1150" b="0">
                          <a:solidFill>
                            <a:srgbClr val="E7E9EE"/>
                          </a:solidFill>
                          <a:latin typeface="Arial"/>
                        </a:rPr>
                        <a:t>SLA &lt; 60% или конверсия &lt; 10% или просрочек &gt; 5</a:t>
                      </a:r>
                    </a:p>
                  </a:txBody>
                  <a:tcPr>
                    <a:solidFill>
                      <a:srgbClr val="0B0C0F"/>
                    </a:solidFill>
                  </a:tcPr>
                </a:tc>
                <a:tc>
                  <a:txBody>
                    <a:bodyPr wrap="square" lIns="76200" rIns="76200" tIns="38100" bIns="38100"/>
                    <a:lstStyle/>
                    <a:p>
                      <a:pPr algn="l"/>
                      <a:r>
                        <a:rPr sz="1150" b="0">
                          <a:solidFill>
                            <a:srgbClr val="E7E9EE"/>
                          </a:solidFill>
                          <a:latin typeface="Arial"/>
                        </a:rPr>
                        <a:t>Разбираться немедленно</a:t>
                      </a:r>
                    </a:p>
                  </a:txBody>
                  <a:tcPr>
                    <a:solidFill>
                      <a:srgbClr val="0B0C0F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640080" y="3246120"/>
            <a:ext cx="10881360" cy="1325880"/>
          </a:xfrm>
          <a:prstGeom prst="roundRect">
            <a:avLst>
              <a:gd name="adj" fmla="val 6000"/>
            </a:avLst>
          </a:prstGeom>
          <a:solidFill>
            <a:srgbClr val="0A1F18"/>
          </a:solidFill>
          <a:ln w="9525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3456432"/>
            <a:ext cx="6400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86EFAC"/>
                </a:solidFill>
                <a:latin typeface="Arial"/>
              </a:rPr>
              <a:t>🟢  ЗДОРОВЬЕ ПРОДАЖ</a:t>
            </a:r>
          </a:p>
          <a:p>
            <a:pPr algn="l"/>
            <a:r>
              <a:rPr sz="1900" b="1">
                <a:solidFill>
                  <a:srgbClr val="FFFFFF"/>
                </a:solidFill>
                <a:latin typeface="Arial"/>
              </a:rPr>
              <a:t>ВСЁ В ПОРЯДКЕ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75120" y="3429000"/>
            <a:ext cx="11430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1">
                <a:solidFill>
                  <a:srgbClr val="6E7582"/>
                </a:solidFill>
                <a:latin typeface="Arial"/>
              </a:rPr>
              <a:t>SLA</a:t>
            </a:r>
          </a:p>
          <a:p>
            <a:pPr algn="l"/>
            <a:r>
              <a:rPr sz="2000" b="1">
                <a:solidFill>
                  <a:srgbClr val="86EFAC"/>
                </a:solidFill>
                <a:latin typeface="Arial"/>
              </a:rPr>
              <a:t>87%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63840" y="3429000"/>
            <a:ext cx="11430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1">
                <a:solidFill>
                  <a:srgbClr val="6E7582"/>
                </a:solidFill>
                <a:latin typeface="Arial"/>
              </a:rPr>
              <a:t>КОНВЕРСИЯ</a:t>
            </a:r>
          </a:p>
          <a:p>
            <a:pPr algn="l"/>
            <a:r>
              <a:rPr sz="2000" b="1">
                <a:solidFill>
                  <a:srgbClr val="86EFAC"/>
                </a:solidFill>
                <a:latin typeface="Arial"/>
              </a:rPr>
              <a:t>22%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52560" y="3429000"/>
            <a:ext cx="11430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1">
                <a:solidFill>
                  <a:srgbClr val="6E7582"/>
                </a:solidFill>
                <a:latin typeface="Arial"/>
              </a:rPr>
              <a:t>ПРОСРОЧКИ</a:t>
            </a:r>
          </a:p>
          <a:p>
            <a:pPr algn="l"/>
            <a:r>
              <a:rPr sz="2000" b="1">
                <a:solidFill>
                  <a:srgbClr val="E7E9EE"/>
                </a:solidFill>
                <a:latin typeface="Arial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41280" y="3429000"/>
            <a:ext cx="11430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1">
                <a:solidFill>
                  <a:srgbClr val="6E7582"/>
                </a:solidFill>
                <a:latin typeface="Arial"/>
              </a:rPr>
              <a:t>ЗАВИСШИЕ</a:t>
            </a:r>
          </a:p>
          <a:p>
            <a:pPr algn="l"/>
            <a:r>
              <a:rPr sz="2000" b="1">
                <a:solidFill>
                  <a:srgbClr val="E7E9EE"/>
                </a:solidFill>
                <a:latin typeface="Arial"/>
              </a:rPr>
              <a:t>0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4846320"/>
            <a:ext cx="10881360" cy="1188720"/>
          </a:xfrm>
          <a:prstGeom prst="roundRect">
            <a:avLst>
              <a:gd name="adj" fmla="val 6000"/>
            </a:avLst>
          </a:prstGeom>
          <a:solidFill>
            <a:srgbClr val="121419"/>
          </a:solidFill>
          <a:ln w="9525">
            <a:solidFill>
              <a:srgbClr val="2326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4983480"/>
            <a:ext cx="10424160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FDE68A"/>
                </a:solidFill>
                <a:latin typeface="Arial"/>
              </a:rPr>
              <a:t>ЕСЛИ ЖЁЛТЫЙ ИЛИ КРАСНЫЙ</a:t>
            </a:r>
          </a:p>
          <a:p>
            <a:pPr algn="l"/>
            <a:r>
              <a:rPr sz="1150" b="0">
                <a:solidFill>
                  <a:srgbClr val="9AA1AE"/>
                </a:solidFill>
                <a:latin typeface="Arial"/>
              </a:rPr>
              <a:t>Под светофором — список причин: «SLA упал из-за Дамира — офлайн 24ч». Не нужно копать отчёты —</a:t>
            </a:r>
          </a:p>
          <a:p>
            <a:pPr algn="l"/>
            <a:r>
              <a:rPr sz="1150" b="0">
                <a:solidFill>
                  <a:srgbClr val="9AA1AE"/>
                </a:solidFill>
                <a:latin typeface="Arial"/>
              </a:rPr>
              <a:t>система сама говорит, где проблема и у кого.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6E7582"/>
                </a:solidFill>
                <a:latin typeface="Arial"/>
              </a:rPr>
              <a:t>GoGlobal · база знаний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79615" y="6473952"/>
            <a:ext cx="4572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>
                <a:solidFill>
                  <a:srgbClr val="6E7582"/>
                </a:solidFill>
                <a:latin typeface="Arial"/>
              </a:rPr>
              <a:t>VII · Светофор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C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080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11535" y="164592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E7582"/>
                </a:solidFill>
                <a:latin typeface="Arial"/>
              </a:rPr>
              <a:t>23 / 36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84048"/>
            <a:ext cx="82296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6366F1"/>
                </a:solidFill>
                <a:latin typeface="Arial"/>
              </a:rPr>
              <a:t>VII · АДМИНКА И АНАЛИТИКА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58368"/>
            <a:ext cx="10911535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E7E9EE"/>
                </a:solidFill>
                <a:latin typeface="Arial"/>
              </a:rPr>
              <a:t>Leaderboard — рейтинг команды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463040"/>
          <a:ext cx="10881356" cy="177800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567723"/>
                <a:gridCol w="2460133"/>
                <a:gridCol w="1040825"/>
                <a:gridCol w="851584"/>
                <a:gridCol w="1513928"/>
                <a:gridCol w="1608548"/>
                <a:gridCol w="1324687"/>
                <a:gridCol w="1513928"/>
              </a:tblGrid>
              <a:tr h="355600">
                <a:tc>
                  <a:txBody>
                    <a:bodyPr wrap="square" lIns="76200" rIns="76200" tIns="38100" bIns="38100"/>
                    <a:lstStyle/>
                    <a:p>
                      <a:pPr algn="l"/>
                      <a:r>
                        <a:rPr sz="1000" b="1">
                          <a:solidFill>
                            <a:srgbClr val="9AA1AE"/>
                          </a:solidFill>
                          <a:latin typeface="Arial"/>
                        </a:rPr>
                        <a:t>#</a:t>
                      </a:r>
                    </a:p>
                  </a:txBody>
                  <a:tcPr>
                    <a:solidFill>
                      <a:srgbClr val="121419"/>
                    </a:solidFill>
                  </a:tcPr>
                </a:tc>
                <a:tc>
                  <a:txBody>
                    <a:bodyPr wrap="square" lIns="76200" rIns="76200" tIns="38100" bIns="38100"/>
                    <a:lstStyle/>
                    <a:p>
                      <a:pPr algn="l"/>
                      <a:r>
                        <a:rPr sz="1000" b="1">
                          <a:solidFill>
                            <a:srgbClr val="9AA1AE"/>
                          </a:solidFill>
                          <a:latin typeface="Arial"/>
                        </a:rPr>
                        <a:t>Менеджер</a:t>
                      </a:r>
                    </a:p>
                  </a:txBody>
                  <a:tcPr>
                    <a:solidFill>
                      <a:srgbClr val="121419"/>
                    </a:solidFill>
                  </a:tcPr>
                </a:tc>
                <a:tc>
                  <a:txBody>
                    <a:bodyPr wrap="square" lIns="76200" rIns="76200" tIns="38100" bIns="38100"/>
                    <a:lstStyle/>
                    <a:p>
                      <a:pPr algn="l"/>
                      <a:r>
                        <a:rPr sz="1000" b="1">
                          <a:solidFill>
                            <a:srgbClr val="9AA1AE"/>
                          </a:solidFill>
                          <a:latin typeface="Arial"/>
                        </a:rPr>
                        <a:t>Лидов</a:t>
                      </a:r>
                    </a:p>
                  </a:txBody>
                  <a:tcPr>
                    <a:solidFill>
                      <a:srgbClr val="121419"/>
                    </a:solidFill>
                  </a:tcPr>
                </a:tc>
                <a:tc>
                  <a:txBody>
                    <a:bodyPr wrap="square" lIns="76200" rIns="76200" tIns="38100" bIns="38100"/>
                    <a:lstStyle/>
                    <a:p>
                      <a:pPr algn="l"/>
                      <a:r>
                        <a:rPr sz="1000" b="1">
                          <a:solidFill>
                            <a:srgbClr val="9AA1AE"/>
                          </a:solidFill>
                          <a:latin typeface="Arial"/>
                        </a:rPr>
                        <a:t>Won</a:t>
                      </a:r>
                    </a:p>
                  </a:txBody>
                  <a:tcPr>
                    <a:solidFill>
                      <a:srgbClr val="121419"/>
                    </a:solidFill>
                  </a:tcPr>
                </a:tc>
                <a:tc>
                  <a:txBody>
                    <a:bodyPr wrap="square" lIns="76200" rIns="76200" tIns="38100" bIns="38100"/>
                    <a:lstStyle/>
                    <a:p>
                      <a:pPr algn="l"/>
                      <a:r>
                        <a:rPr sz="1000" b="1">
                          <a:solidFill>
                            <a:srgbClr val="9AA1AE"/>
                          </a:solidFill>
                          <a:latin typeface="Arial"/>
                        </a:rPr>
                        <a:t>Конверсия</a:t>
                      </a:r>
                    </a:p>
                  </a:txBody>
                  <a:tcPr>
                    <a:solidFill>
                      <a:srgbClr val="121419"/>
                    </a:solidFill>
                  </a:tcPr>
                </a:tc>
                <a:tc>
                  <a:txBody>
                    <a:bodyPr wrap="square" lIns="76200" rIns="76200" tIns="38100" bIns="38100"/>
                    <a:lstStyle/>
                    <a:p>
                      <a:pPr algn="l"/>
                      <a:r>
                        <a:rPr sz="1000" b="1">
                          <a:solidFill>
                            <a:srgbClr val="9AA1AE"/>
                          </a:solidFill>
                          <a:latin typeface="Arial"/>
                        </a:rPr>
                        <a:t>Выручка</a:t>
                      </a:r>
                    </a:p>
                  </a:txBody>
                  <a:tcPr>
                    <a:solidFill>
                      <a:srgbClr val="121419"/>
                    </a:solidFill>
                  </a:tcPr>
                </a:tc>
                <a:tc>
                  <a:txBody>
                    <a:bodyPr wrap="square" lIns="76200" rIns="76200" tIns="38100" bIns="38100"/>
                    <a:lstStyle/>
                    <a:p>
                      <a:pPr algn="l"/>
                      <a:r>
                        <a:rPr sz="1000" b="1">
                          <a:solidFill>
                            <a:srgbClr val="9AA1AE"/>
                          </a:solidFill>
                          <a:latin typeface="Arial"/>
                        </a:rPr>
                        <a:t>Отклик</a:t>
                      </a:r>
                    </a:p>
                  </a:txBody>
                  <a:tcPr>
                    <a:solidFill>
                      <a:srgbClr val="121419"/>
                    </a:solidFill>
                  </a:tcPr>
                </a:tc>
                <a:tc>
                  <a:txBody>
                    <a:bodyPr wrap="square" lIns="76200" rIns="76200" tIns="38100" bIns="38100"/>
                    <a:lstStyle/>
                    <a:p>
                      <a:pPr algn="l"/>
                      <a:r>
                        <a:rPr sz="1000" b="1">
                          <a:solidFill>
                            <a:srgbClr val="9AA1AE"/>
                          </a:solidFill>
                          <a:latin typeface="Arial"/>
                        </a:rPr>
                        <a:t>Касаний/д</a:t>
                      </a:r>
                    </a:p>
                  </a:txBody>
                  <a:tcPr>
                    <a:solidFill>
                      <a:srgbClr val="121419"/>
                    </a:solidFill>
                  </a:tcPr>
                </a:tc>
              </a:tr>
              <a:tr h="355600">
                <a:tc>
                  <a:txBody>
                    <a:bodyPr wrap="square" lIns="76200" rIns="76200" tIns="38100" bIns="38100"/>
                    <a:lstStyle/>
                    <a:p>
                      <a:pPr algn="l"/>
                      <a:r>
                        <a:rPr sz="1100" b="0">
                          <a:solidFill>
                            <a:srgbClr val="E7E9EE"/>
                          </a:solidFill>
                          <a:latin typeface="Arial"/>
                        </a:rPr>
                        <a:t>🥇</a:t>
                      </a:r>
                    </a:p>
                  </a:txBody>
                  <a:tcPr>
                    <a:solidFill>
                      <a:srgbClr val="0B0C0F"/>
                    </a:solidFill>
                  </a:tcPr>
                </a:tc>
                <a:tc>
                  <a:txBody>
                    <a:bodyPr wrap="square" lIns="76200" rIns="76200" tIns="38100" bIns="38100"/>
                    <a:lstStyle/>
                    <a:p>
                      <a:pPr algn="l"/>
                      <a:r>
                        <a:rPr sz="1100" b="1">
                          <a:solidFill>
                            <a:srgbClr val="E7E9EE"/>
                          </a:solidFill>
                          <a:latin typeface="Arial"/>
                        </a:rPr>
                        <a:t>Гулжан Тен</a:t>
                      </a:r>
                    </a:p>
                  </a:txBody>
                  <a:tcPr>
                    <a:solidFill>
                      <a:srgbClr val="0B0C0F"/>
                    </a:solidFill>
                  </a:tcPr>
                </a:tc>
                <a:tc>
                  <a:txBody>
                    <a:bodyPr wrap="square" lIns="76200" rIns="76200" tIns="38100" bIns="38100"/>
                    <a:lstStyle/>
                    <a:p>
                      <a:pPr algn="l"/>
                      <a:r>
                        <a:rPr sz="1100" b="0">
                          <a:solidFill>
                            <a:srgbClr val="E7E9EE"/>
                          </a:solidFill>
                          <a:latin typeface="Arial"/>
                        </a:rPr>
                        <a:t>64</a:t>
                      </a:r>
                    </a:p>
                  </a:txBody>
                  <a:tcPr>
                    <a:solidFill>
                      <a:srgbClr val="0B0C0F"/>
                    </a:solidFill>
                  </a:tcPr>
                </a:tc>
                <a:tc>
                  <a:txBody>
                    <a:bodyPr wrap="square" lIns="76200" rIns="76200" tIns="38100" bIns="38100"/>
                    <a:lstStyle/>
                    <a:p>
                      <a:pPr algn="l"/>
                      <a:r>
                        <a:rPr sz="1100" b="0">
                          <a:solidFill>
                            <a:srgbClr val="E7E9EE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>
                    <a:solidFill>
                      <a:srgbClr val="0B0C0F"/>
                    </a:solidFill>
                  </a:tcPr>
                </a:tc>
                <a:tc>
                  <a:txBody>
                    <a:bodyPr wrap="square" lIns="76200" rIns="76200" tIns="38100" bIns="38100"/>
                    <a:lstStyle/>
                    <a:p>
                      <a:pPr algn="l"/>
                      <a:r>
                        <a:rPr sz="1100" b="0">
                          <a:solidFill>
                            <a:srgbClr val="86EFAC"/>
                          </a:solidFill>
                          <a:latin typeface="Arial"/>
                        </a:rPr>
                        <a:t>23%</a:t>
                      </a:r>
                    </a:p>
                  </a:txBody>
                  <a:tcPr>
                    <a:solidFill>
                      <a:srgbClr val="0B0C0F"/>
                    </a:solidFill>
                  </a:tcPr>
                </a:tc>
                <a:tc>
                  <a:txBody>
                    <a:bodyPr wrap="square" lIns="76200" rIns="76200" tIns="38100" bIns="38100"/>
                    <a:lstStyle/>
                    <a:p>
                      <a:pPr algn="l"/>
                      <a:r>
                        <a:rPr sz="1100" b="0">
                          <a:solidFill>
                            <a:srgbClr val="86EFAC"/>
                          </a:solidFill>
                          <a:latin typeface="Arial"/>
                        </a:rPr>
                        <a:t>$32 100</a:t>
                      </a:r>
                    </a:p>
                  </a:txBody>
                  <a:tcPr>
                    <a:solidFill>
                      <a:srgbClr val="0B0C0F"/>
                    </a:solidFill>
                  </a:tcPr>
                </a:tc>
                <a:tc>
                  <a:txBody>
                    <a:bodyPr wrap="square" lIns="76200" rIns="76200" tIns="38100" bIns="38100"/>
                    <a:lstStyle/>
                    <a:p>
                      <a:pPr algn="l"/>
                      <a:r>
                        <a:rPr sz="1100" b="0">
                          <a:solidFill>
                            <a:srgbClr val="86EFAC"/>
                          </a:solidFill>
                          <a:latin typeface="Arial"/>
                        </a:rPr>
                        <a:t>18 мин</a:t>
                      </a:r>
                    </a:p>
                  </a:txBody>
                  <a:tcPr>
                    <a:solidFill>
                      <a:srgbClr val="0B0C0F"/>
                    </a:solidFill>
                  </a:tcPr>
                </a:tc>
                <a:tc>
                  <a:txBody>
                    <a:bodyPr wrap="square" lIns="76200" rIns="76200" tIns="38100" bIns="38100"/>
                    <a:lstStyle/>
                    <a:p>
                      <a:pPr algn="l"/>
                      <a:r>
                        <a:rPr sz="1100" b="0">
                          <a:solidFill>
                            <a:srgbClr val="E7E9EE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>
                    <a:solidFill>
                      <a:srgbClr val="0B0C0F"/>
                    </a:solidFill>
                  </a:tcPr>
                </a:tc>
              </a:tr>
              <a:tr h="355600">
                <a:tc>
                  <a:txBody>
                    <a:bodyPr wrap="square" lIns="76200" rIns="76200" tIns="38100" bIns="38100"/>
                    <a:lstStyle/>
                    <a:p>
                      <a:pPr algn="l"/>
                      <a:r>
                        <a:rPr sz="1100" b="0">
                          <a:solidFill>
                            <a:srgbClr val="E7E9EE"/>
                          </a:solidFill>
                          <a:latin typeface="Arial"/>
                        </a:rPr>
                        <a:t>🥈</a:t>
                      </a:r>
                    </a:p>
                  </a:txBody>
                  <a:tcPr>
                    <a:solidFill>
                      <a:srgbClr val="0D1628"/>
                    </a:solidFill>
                  </a:tcPr>
                </a:tc>
                <a:tc>
                  <a:txBody>
                    <a:bodyPr wrap="square" lIns="76200" rIns="76200" tIns="38100" bIns="38100"/>
                    <a:lstStyle/>
                    <a:p>
                      <a:pPr algn="l"/>
                      <a:r>
                        <a:rPr sz="1100" b="1">
                          <a:solidFill>
                            <a:srgbClr val="E7E9EE"/>
                          </a:solidFill>
                          <a:latin typeface="Arial"/>
                        </a:rPr>
                        <a:t>Анна Иванова</a:t>
                      </a:r>
                    </a:p>
                  </a:txBody>
                  <a:tcPr>
                    <a:solidFill>
                      <a:srgbClr val="0D1628"/>
                    </a:solidFill>
                  </a:tcPr>
                </a:tc>
                <a:tc>
                  <a:txBody>
                    <a:bodyPr wrap="square" lIns="76200" rIns="76200" tIns="38100" bIns="38100"/>
                    <a:lstStyle/>
                    <a:p>
                      <a:pPr algn="l"/>
                      <a:r>
                        <a:rPr sz="1100" b="0">
                          <a:solidFill>
                            <a:srgbClr val="E7E9EE"/>
                          </a:solidFill>
                          <a:latin typeface="Arial"/>
                        </a:rPr>
                        <a:t>71</a:t>
                      </a:r>
                    </a:p>
                  </a:txBody>
                  <a:tcPr>
                    <a:solidFill>
                      <a:srgbClr val="0D1628"/>
                    </a:solidFill>
                  </a:tcPr>
                </a:tc>
                <a:tc>
                  <a:txBody>
                    <a:bodyPr wrap="square" lIns="76200" rIns="76200" tIns="38100" bIns="38100"/>
                    <a:lstStyle/>
                    <a:p>
                      <a:pPr algn="l"/>
                      <a:r>
                        <a:rPr sz="1100" b="0">
                          <a:solidFill>
                            <a:srgbClr val="E7E9EE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>
                    <a:solidFill>
                      <a:srgbClr val="0D1628"/>
                    </a:solidFill>
                  </a:tcPr>
                </a:tc>
                <a:tc>
                  <a:txBody>
                    <a:bodyPr wrap="square" lIns="76200" rIns="76200" tIns="38100" bIns="38100"/>
                    <a:lstStyle/>
                    <a:p>
                      <a:pPr algn="l"/>
                      <a:r>
                        <a:rPr sz="1100" b="0">
                          <a:solidFill>
                            <a:srgbClr val="86EFAC"/>
                          </a:solidFill>
                          <a:latin typeface="Arial"/>
                        </a:rPr>
                        <a:t>25%</a:t>
                      </a:r>
                    </a:p>
                  </a:txBody>
                  <a:tcPr>
                    <a:solidFill>
                      <a:srgbClr val="0D1628"/>
                    </a:solidFill>
                  </a:tcPr>
                </a:tc>
                <a:tc>
                  <a:txBody>
                    <a:bodyPr wrap="square" lIns="76200" rIns="76200" tIns="38100" bIns="38100"/>
                    <a:lstStyle/>
                    <a:p>
                      <a:pPr algn="l"/>
                      <a:r>
                        <a:rPr sz="1100" b="0">
                          <a:solidFill>
                            <a:srgbClr val="86EFAC"/>
                          </a:solidFill>
                          <a:latin typeface="Arial"/>
                        </a:rPr>
                        <a:t>$28 500</a:t>
                      </a:r>
                    </a:p>
                  </a:txBody>
                  <a:tcPr>
                    <a:solidFill>
                      <a:srgbClr val="0D1628"/>
                    </a:solidFill>
                  </a:tcPr>
                </a:tc>
                <a:tc>
                  <a:txBody>
                    <a:bodyPr wrap="square" lIns="76200" rIns="76200" tIns="38100" bIns="38100"/>
                    <a:lstStyle/>
                    <a:p>
                      <a:pPr algn="l"/>
                      <a:r>
                        <a:rPr sz="1100" b="0">
                          <a:solidFill>
                            <a:srgbClr val="86EFAC"/>
                          </a:solidFill>
                          <a:latin typeface="Arial"/>
                        </a:rPr>
                        <a:t>12 мин</a:t>
                      </a:r>
                    </a:p>
                  </a:txBody>
                  <a:tcPr>
                    <a:solidFill>
                      <a:srgbClr val="0D1628"/>
                    </a:solidFill>
                  </a:tcPr>
                </a:tc>
                <a:tc>
                  <a:txBody>
                    <a:bodyPr wrap="square" lIns="76200" rIns="76200" tIns="38100" bIns="38100"/>
                    <a:lstStyle/>
                    <a:p>
                      <a:pPr algn="l"/>
                      <a:r>
                        <a:rPr sz="1100" b="0">
                          <a:solidFill>
                            <a:srgbClr val="E7E9EE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>
                    <a:solidFill>
                      <a:srgbClr val="0D1628"/>
                    </a:solidFill>
                  </a:tcPr>
                </a:tc>
              </a:tr>
              <a:tr h="355600">
                <a:tc>
                  <a:txBody>
                    <a:bodyPr wrap="square" lIns="76200" rIns="76200" tIns="38100" bIns="38100"/>
                    <a:lstStyle/>
                    <a:p>
                      <a:pPr algn="l"/>
                      <a:r>
                        <a:rPr sz="1100" b="0">
                          <a:solidFill>
                            <a:srgbClr val="E7E9EE"/>
                          </a:solidFill>
                          <a:latin typeface="Arial"/>
                        </a:rPr>
                        <a:t>🥉</a:t>
                      </a:r>
                    </a:p>
                  </a:txBody>
                  <a:tcPr>
                    <a:solidFill>
                      <a:srgbClr val="0B0C0F"/>
                    </a:solidFill>
                  </a:tcPr>
                </a:tc>
                <a:tc>
                  <a:txBody>
                    <a:bodyPr wrap="square" lIns="76200" rIns="76200" tIns="38100" bIns="38100"/>
                    <a:lstStyle/>
                    <a:p>
                      <a:pPr algn="l"/>
                      <a:r>
                        <a:rPr sz="1100" b="1">
                          <a:solidFill>
                            <a:srgbClr val="E7E9EE"/>
                          </a:solidFill>
                          <a:latin typeface="Arial"/>
                        </a:rPr>
                        <a:t>Бек Бекович</a:t>
                      </a:r>
                    </a:p>
                  </a:txBody>
                  <a:tcPr>
                    <a:solidFill>
                      <a:srgbClr val="0B0C0F"/>
                    </a:solidFill>
                  </a:tcPr>
                </a:tc>
                <a:tc>
                  <a:txBody>
                    <a:bodyPr wrap="square" lIns="76200" rIns="76200" tIns="38100" bIns="38100"/>
                    <a:lstStyle/>
                    <a:p>
                      <a:pPr algn="l"/>
                      <a:r>
                        <a:rPr sz="1100" b="0">
                          <a:solidFill>
                            <a:srgbClr val="E7E9EE"/>
                          </a:solidFill>
                          <a:latin typeface="Arial"/>
                        </a:rPr>
                        <a:t>55</a:t>
                      </a:r>
                    </a:p>
                  </a:txBody>
                  <a:tcPr>
                    <a:solidFill>
                      <a:srgbClr val="0B0C0F"/>
                    </a:solidFill>
                  </a:tcPr>
                </a:tc>
                <a:tc>
                  <a:txBody>
                    <a:bodyPr wrap="square" lIns="76200" rIns="76200" tIns="38100" bIns="38100"/>
                    <a:lstStyle/>
                    <a:p>
                      <a:pPr algn="l"/>
                      <a:r>
                        <a:rPr sz="1100" b="0">
                          <a:solidFill>
                            <a:srgbClr val="E7E9EE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>
                    <a:solidFill>
                      <a:srgbClr val="0B0C0F"/>
                    </a:solidFill>
                  </a:tcPr>
                </a:tc>
                <a:tc>
                  <a:txBody>
                    <a:bodyPr wrap="square" lIns="76200" rIns="76200" tIns="38100" bIns="38100"/>
                    <a:lstStyle/>
                    <a:p>
                      <a:pPr algn="l"/>
                      <a:r>
                        <a:rPr sz="1100" b="0">
                          <a:solidFill>
                            <a:srgbClr val="E7E9EE"/>
                          </a:solidFill>
                          <a:latin typeface="Arial"/>
                        </a:rPr>
                        <a:t>20%</a:t>
                      </a:r>
                    </a:p>
                  </a:txBody>
                  <a:tcPr>
                    <a:solidFill>
                      <a:srgbClr val="0B0C0F"/>
                    </a:solidFill>
                  </a:tcPr>
                </a:tc>
                <a:tc>
                  <a:txBody>
                    <a:bodyPr wrap="square" lIns="76200" rIns="76200" tIns="38100" bIns="38100"/>
                    <a:lstStyle/>
                    <a:p>
                      <a:pPr algn="l"/>
                      <a:r>
                        <a:rPr sz="1100" b="0">
                          <a:solidFill>
                            <a:srgbClr val="E7E9EE"/>
                          </a:solidFill>
                          <a:latin typeface="Arial"/>
                        </a:rPr>
                        <a:t>$19 200</a:t>
                      </a:r>
                    </a:p>
                  </a:txBody>
                  <a:tcPr>
                    <a:solidFill>
                      <a:srgbClr val="0B0C0F"/>
                    </a:solidFill>
                  </a:tcPr>
                </a:tc>
                <a:tc>
                  <a:txBody>
                    <a:bodyPr wrap="square" lIns="76200" rIns="76200" tIns="38100" bIns="38100"/>
                    <a:lstStyle/>
                    <a:p>
                      <a:pPr algn="l"/>
                      <a:r>
                        <a:rPr sz="1100" b="0">
                          <a:solidFill>
                            <a:srgbClr val="FDE68A"/>
                          </a:solidFill>
                          <a:latin typeface="Arial"/>
                        </a:rPr>
                        <a:t>32 мин</a:t>
                      </a:r>
                    </a:p>
                  </a:txBody>
                  <a:tcPr>
                    <a:solidFill>
                      <a:srgbClr val="0B0C0F"/>
                    </a:solidFill>
                  </a:tcPr>
                </a:tc>
                <a:tc>
                  <a:txBody>
                    <a:bodyPr wrap="square" lIns="76200" rIns="76200" tIns="38100" bIns="38100"/>
                    <a:lstStyle/>
                    <a:p>
                      <a:pPr algn="l"/>
                      <a:r>
                        <a:rPr sz="1100" b="0">
                          <a:solidFill>
                            <a:srgbClr val="E7E9EE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>
                    <a:solidFill>
                      <a:srgbClr val="0B0C0F"/>
                    </a:solidFill>
                  </a:tcPr>
                </a:tc>
              </a:tr>
              <a:tr h="355600">
                <a:tc>
                  <a:txBody>
                    <a:bodyPr wrap="square" lIns="76200" rIns="76200" tIns="38100" bIns="38100"/>
                    <a:lstStyle/>
                    <a:p>
                      <a:pPr algn="l"/>
                      <a:r>
                        <a:rPr sz="1100" b="0">
                          <a:solidFill>
                            <a:srgbClr val="E7E9EE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>
                    <a:solidFill>
                      <a:srgbClr val="0D1628"/>
                    </a:solidFill>
                  </a:tcPr>
                </a:tc>
                <a:tc>
                  <a:txBody>
                    <a:bodyPr wrap="square" lIns="76200" rIns="76200" tIns="38100" bIns="38100"/>
                    <a:lstStyle/>
                    <a:p>
                      <a:pPr algn="l"/>
                      <a:r>
                        <a:rPr sz="1100" b="1">
                          <a:solidFill>
                            <a:srgbClr val="FDA4AF"/>
                          </a:solidFill>
                          <a:latin typeface="Arial"/>
                        </a:rPr>
                        <a:t>Дамир С. ⚠</a:t>
                      </a:r>
                    </a:p>
                  </a:txBody>
                  <a:tcPr>
                    <a:solidFill>
                      <a:srgbClr val="0D1628"/>
                    </a:solidFill>
                  </a:tcPr>
                </a:tc>
                <a:tc>
                  <a:txBody>
                    <a:bodyPr wrap="square" lIns="76200" rIns="76200" tIns="38100" bIns="38100"/>
                    <a:lstStyle/>
                    <a:p>
                      <a:pPr algn="l"/>
                      <a:r>
                        <a:rPr sz="1100" b="0">
                          <a:solidFill>
                            <a:srgbClr val="E7E9EE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>
                    <a:solidFill>
                      <a:srgbClr val="0D1628"/>
                    </a:solidFill>
                  </a:tcPr>
                </a:tc>
                <a:tc>
                  <a:txBody>
                    <a:bodyPr wrap="square" lIns="76200" rIns="76200" tIns="38100" bIns="38100"/>
                    <a:lstStyle/>
                    <a:p>
                      <a:pPr algn="l"/>
                      <a:r>
                        <a:rPr sz="1100" b="0">
                          <a:solidFill>
                            <a:srgbClr val="E7E9EE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>
                    <a:solidFill>
                      <a:srgbClr val="0D1628"/>
                    </a:solidFill>
                  </a:tcPr>
                </a:tc>
                <a:tc>
                  <a:txBody>
                    <a:bodyPr wrap="square" lIns="76200" rIns="76200" tIns="38100" bIns="38100"/>
                    <a:lstStyle/>
                    <a:p>
                      <a:pPr algn="l"/>
                      <a:r>
                        <a:rPr sz="1100" b="0">
                          <a:solidFill>
                            <a:srgbClr val="FDA4AF"/>
                          </a:solidFill>
                          <a:latin typeface="Arial"/>
                        </a:rPr>
                        <a:t>16%</a:t>
                      </a:r>
                    </a:p>
                  </a:txBody>
                  <a:tcPr>
                    <a:solidFill>
                      <a:srgbClr val="0D1628"/>
                    </a:solidFill>
                  </a:tcPr>
                </a:tc>
                <a:tc>
                  <a:txBody>
                    <a:bodyPr wrap="square" lIns="76200" rIns="76200" tIns="38100" bIns="38100"/>
                    <a:lstStyle/>
                    <a:p>
                      <a:pPr algn="l"/>
                      <a:r>
                        <a:rPr sz="1100" b="0">
                          <a:solidFill>
                            <a:srgbClr val="FDA4AF"/>
                          </a:solidFill>
                          <a:latin typeface="Arial"/>
                        </a:rPr>
                        <a:t>$8 400</a:t>
                      </a:r>
                    </a:p>
                  </a:txBody>
                  <a:tcPr>
                    <a:solidFill>
                      <a:srgbClr val="0D1628"/>
                    </a:solidFill>
                  </a:tcPr>
                </a:tc>
                <a:tc>
                  <a:txBody>
                    <a:bodyPr wrap="square" lIns="76200" rIns="76200" tIns="38100" bIns="38100"/>
                    <a:lstStyle/>
                    <a:p>
                      <a:pPr algn="l"/>
                      <a:r>
                        <a:rPr sz="1100" b="0">
                          <a:solidFill>
                            <a:srgbClr val="FDA4AF"/>
                          </a:solidFill>
                          <a:latin typeface="Arial"/>
                        </a:rPr>
                        <a:t>94 мин</a:t>
                      </a:r>
                    </a:p>
                  </a:txBody>
                  <a:tcPr>
                    <a:solidFill>
                      <a:srgbClr val="0D1628"/>
                    </a:solidFill>
                  </a:tcPr>
                </a:tc>
                <a:tc>
                  <a:txBody>
                    <a:bodyPr wrap="square" lIns="76200" rIns="76200" tIns="38100" bIns="38100"/>
                    <a:lstStyle/>
                    <a:p>
                      <a:pPr algn="l"/>
                      <a:r>
                        <a:rPr sz="1100" b="0">
                          <a:solidFill>
                            <a:srgbClr val="FDA4AF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>
                    <a:solidFill>
                      <a:srgbClr val="0D1628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640080" y="3703320"/>
            <a:ext cx="5349240" cy="2240280"/>
          </a:xfrm>
          <a:prstGeom prst="roundRect">
            <a:avLst>
              <a:gd name="adj" fmla="val 6000"/>
            </a:avLst>
          </a:prstGeom>
          <a:solidFill>
            <a:srgbClr val="121419"/>
          </a:solidFill>
          <a:ln w="9525">
            <a:solidFill>
              <a:srgbClr val="2326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3840480"/>
            <a:ext cx="49377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6366F1"/>
                </a:solidFill>
                <a:latin typeface="Arial"/>
              </a:rPr>
              <a:t>КАК ЧИТАТЬ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4160520"/>
            <a:ext cx="4937760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1">
                <a:solidFill>
                  <a:srgbClr val="6366F1"/>
                </a:solidFill>
                <a:latin typeface="Arial"/>
              </a:rPr>
              <a:t>•  </a:t>
            </a:r>
            <a:r>
              <a:rPr sz="1100" b="1">
                <a:solidFill>
                  <a:srgbClr val="E7E9EE"/>
                </a:solidFill>
                <a:latin typeface="Arial"/>
              </a:rPr>
              <a:t>Конверсия</a:t>
            </a:r>
            <a:r>
              <a:rPr sz="1100" b="0">
                <a:solidFill>
                  <a:srgbClr val="9AA1AE"/>
                </a:solidFill>
                <a:latin typeface="Arial"/>
              </a:rPr>
              <a:t> — главный показатель качества</a:t>
            </a:r>
          </a:p>
          <a:p>
            <a:pPr>
              <a:spcAft>
                <a:spcPts val="400"/>
              </a:spcAft>
            </a:pPr>
            <a:r>
              <a:rPr sz="1100" b="1">
                <a:solidFill>
                  <a:srgbClr val="6366F1"/>
                </a:solidFill>
                <a:latin typeface="Arial"/>
              </a:rPr>
              <a:t>•  </a:t>
            </a:r>
            <a:r>
              <a:rPr sz="1100" b="1">
                <a:solidFill>
                  <a:srgbClr val="E7E9EE"/>
                </a:solidFill>
                <a:latin typeface="Arial"/>
              </a:rPr>
              <a:t>Отклик</a:t>
            </a:r>
            <a:r>
              <a:rPr sz="1100" b="0">
                <a:solidFill>
                  <a:srgbClr val="9AA1AE"/>
                </a:solidFill>
                <a:latin typeface="Arial"/>
              </a:rPr>
              <a:t> — скорость 1-го ответа: норма &lt; 30 мин</a:t>
            </a:r>
          </a:p>
          <a:p>
            <a:pPr>
              <a:spcAft>
                <a:spcPts val="400"/>
              </a:spcAft>
            </a:pPr>
            <a:r>
              <a:rPr sz="1100" b="1">
                <a:solidFill>
                  <a:srgbClr val="6366F1"/>
                </a:solidFill>
                <a:latin typeface="Arial"/>
              </a:rPr>
              <a:t>•  </a:t>
            </a:r>
            <a:r>
              <a:rPr sz="1100" b="1">
                <a:solidFill>
                  <a:srgbClr val="E7E9EE"/>
                </a:solidFill>
                <a:latin typeface="Arial"/>
              </a:rPr>
              <a:t>Касания/день</a:t>
            </a:r>
            <a:r>
              <a:rPr sz="1100" b="0">
                <a:solidFill>
                  <a:srgbClr val="9AA1AE"/>
                </a:solidFill>
                <a:latin typeface="Arial"/>
              </a:rPr>
              <a:t> — реально ли работает с базой</a:t>
            </a:r>
          </a:p>
          <a:p>
            <a:pPr>
              <a:spcAft>
                <a:spcPts val="400"/>
              </a:spcAft>
            </a:pPr>
            <a:r>
              <a:rPr sz="1100" b="1">
                <a:solidFill>
                  <a:srgbClr val="6366F1"/>
                </a:solidFill>
                <a:latin typeface="Arial"/>
              </a:rPr>
              <a:t>•  </a:t>
            </a:r>
            <a:r>
              <a:rPr sz="1100" b="1">
                <a:solidFill>
                  <a:srgbClr val="E7E9EE"/>
                </a:solidFill>
                <a:latin typeface="Arial"/>
              </a:rPr>
              <a:t>Всё низкое сразу</a:t>
            </a:r>
            <a:r>
              <a:rPr sz="1100" b="0">
                <a:solidFill>
                  <a:srgbClr val="9AA1AE"/>
                </a:solidFill>
                <a:latin typeface="Arial"/>
              </a:rPr>
              <a:t> = повод для 1-на-1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72200" y="3703320"/>
            <a:ext cx="5349240" cy="2240280"/>
          </a:xfrm>
          <a:prstGeom prst="roundRect">
            <a:avLst>
              <a:gd name="adj" fmla="val 6000"/>
            </a:avLst>
          </a:prstGeom>
          <a:solidFill>
            <a:srgbClr val="121419"/>
          </a:solidFill>
          <a:ln w="9525">
            <a:solidFill>
              <a:srgbClr val="2326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0" y="3840480"/>
            <a:ext cx="493776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6366F1"/>
                </a:solidFill>
                <a:latin typeface="Arial"/>
              </a:rPr>
              <a:t>СВЯЗКА С 1-НА-1 ОТЧЁТОМ</a:t>
            </a:r>
          </a:p>
          <a:p>
            <a:pPr algn="l"/>
            <a:r>
              <a:rPr sz="1150" b="0">
                <a:solidFill>
                  <a:srgbClr val="9AA1AE"/>
                </a:solidFill>
                <a:latin typeface="Arial"/>
              </a:rPr>
              <a:t>Увидел проблему → «1-на-1 отчёт» → выбрал менеджера → система собрала недельную сводку:</a:t>
            </a:r>
          </a:p>
          <a:p>
            <a:pPr algn="l"/>
            <a:r>
              <a:rPr sz="1150" b="0">
                <a:solidFill>
                  <a:srgbClr val="9AA1AE"/>
                </a:solidFill>
                <a:latin typeface="Arial"/>
              </a:rPr>
              <a:t>KPI с динамикой, топ-лиды, зависшие, касания по каналам.</a:t>
            </a:r>
          </a:p>
          <a:p>
            <a:pPr algn="l"/>
            <a:r>
              <a:rPr sz="1200" b="1">
                <a:solidFill>
                  <a:srgbClr val="86EFAC"/>
                </a:solidFill>
                <a:latin typeface="Arial"/>
              </a:rPr>
              <a:t>Подготовка к встрече: 0 минут.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6E7582"/>
                </a:solidFill>
                <a:latin typeface="Arial"/>
              </a:rPr>
              <a:t>GoGlobal · база знаний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79615" y="6473952"/>
            <a:ext cx="4572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>
                <a:solidFill>
                  <a:srgbClr val="6E7582"/>
                </a:solidFill>
                <a:latin typeface="Arial"/>
              </a:rPr>
              <a:t>VII · Leaderboard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C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080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11535" y="164592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E7582"/>
                </a:solidFill>
                <a:latin typeface="Arial"/>
              </a:rPr>
              <a:t>24 / 36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84048"/>
            <a:ext cx="82296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6366F1"/>
                </a:solidFill>
                <a:latin typeface="Arial"/>
              </a:rPr>
              <a:t>VII · АДМИНКА И АНАЛИТИКА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58368"/>
            <a:ext cx="10911535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E7E9EE"/>
                </a:solidFill>
                <a:latin typeface="Arial"/>
              </a:rPr>
              <a:t>Остальные виджеты аналитики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417320"/>
          <a:ext cx="10881360" cy="254000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3022600"/>
                <a:gridCol w="3022600"/>
                <a:gridCol w="4836160"/>
              </a:tblGrid>
              <a:tr h="317500">
                <a:tc>
                  <a:txBody>
                    <a:bodyPr wrap="square" lIns="76200" rIns="76200" tIns="38100" bIns="38100"/>
                    <a:lstStyle/>
                    <a:p>
                      <a:pPr algn="l"/>
                      <a:r>
                        <a:rPr sz="950" b="1">
                          <a:solidFill>
                            <a:srgbClr val="9AA1AE"/>
                          </a:solidFill>
                          <a:latin typeface="Arial"/>
                        </a:rPr>
                        <a:t>Виджет</a:t>
                      </a:r>
                    </a:p>
                  </a:txBody>
                  <a:tcPr>
                    <a:solidFill>
                      <a:srgbClr val="121419"/>
                    </a:solidFill>
                  </a:tcPr>
                </a:tc>
                <a:tc>
                  <a:txBody>
                    <a:bodyPr wrap="square" lIns="76200" rIns="76200" tIns="38100" bIns="38100"/>
                    <a:lstStyle/>
                    <a:p>
                      <a:pPr algn="l"/>
                      <a:r>
                        <a:rPr sz="950" b="1">
                          <a:solidFill>
                            <a:srgbClr val="9AA1AE"/>
                          </a:solidFill>
                          <a:latin typeface="Arial"/>
                        </a:rPr>
                        <a:t>Вопрос</a:t>
                      </a:r>
                    </a:p>
                  </a:txBody>
                  <a:tcPr>
                    <a:solidFill>
                      <a:srgbClr val="121419"/>
                    </a:solidFill>
                  </a:tcPr>
                </a:tc>
                <a:tc>
                  <a:txBody>
                    <a:bodyPr wrap="square" lIns="76200" rIns="76200" tIns="38100" bIns="38100"/>
                    <a:lstStyle/>
                    <a:p>
                      <a:pPr algn="l"/>
                      <a:r>
                        <a:rPr sz="950" b="1">
                          <a:solidFill>
                            <a:srgbClr val="9AA1AE"/>
                          </a:solidFill>
                          <a:latin typeface="Arial"/>
                        </a:rPr>
                        <a:t>Пример вывода</a:t>
                      </a:r>
                    </a:p>
                  </a:txBody>
                  <a:tcPr>
                    <a:solidFill>
                      <a:srgbClr val="121419"/>
                    </a:solidFill>
                  </a:tcPr>
                </a:tc>
              </a:tr>
              <a:tr h="317500">
                <a:tc>
                  <a:txBody>
                    <a:bodyPr wrap="square" lIns="76200" rIns="76200" tIns="38100" bIns="38100"/>
                    <a:lstStyle/>
                    <a:p>
                      <a:pPr algn="l"/>
                      <a:r>
                        <a:rPr sz="1050" b="1">
                          <a:solidFill>
                            <a:srgbClr val="E7E9EE"/>
                          </a:solidFill>
                          <a:latin typeface="Arial"/>
                        </a:rPr>
                        <a:t>⏱ Время в статусах</a:t>
                      </a:r>
                    </a:p>
                  </a:txBody>
                  <a:tcPr>
                    <a:solidFill>
                      <a:srgbClr val="0B0C0F"/>
                    </a:solidFill>
                  </a:tcPr>
                </a:tc>
                <a:tc>
                  <a:txBody>
                    <a:bodyPr wrap="square" lIns="76200" rIns="76200" tIns="38100" bIns="38100"/>
                    <a:lstStyle/>
                    <a:p>
                      <a:pPr algn="l"/>
                      <a:r>
                        <a:rPr sz="1050" b="0">
                          <a:solidFill>
                            <a:srgbClr val="E7E9EE"/>
                          </a:solidFill>
                          <a:latin typeface="Arial"/>
                        </a:rPr>
                        <a:t>Где зависают лиды?</a:t>
                      </a:r>
                    </a:p>
                  </a:txBody>
                  <a:tcPr>
                    <a:solidFill>
                      <a:srgbClr val="0B0C0F"/>
                    </a:solidFill>
                  </a:tcPr>
                </a:tc>
                <a:tc>
                  <a:txBody>
                    <a:bodyPr wrap="square" lIns="76200" rIns="76200" tIns="38100" bIns="38100"/>
                    <a:lstStyle/>
                    <a:p>
                      <a:pPr algn="l"/>
                      <a:r>
                        <a:rPr sz="1050" b="0">
                          <a:solidFill>
                            <a:srgbClr val="E7E9EE"/>
                          </a:solidFill>
                          <a:latin typeface="Arial"/>
                        </a:rPr>
                        <a:t>«В Перезвонить сидят 5 дней — забывают»</a:t>
                      </a:r>
                    </a:p>
                  </a:txBody>
                  <a:tcPr>
                    <a:solidFill>
                      <a:srgbClr val="0B0C0F"/>
                    </a:solidFill>
                  </a:tcPr>
                </a:tc>
              </a:tr>
              <a:tr h="317500">
                <a:tc>
                  <a:txBody>
                    <a:bodyPr wrap="square" lIns="76200" rIns="76200" tIns="38100" bIns="38100"/>
                    <a:lstStyle/>
                    <a:p>
                      <a:pPr algn="l"/>
                      <a:r>
                        <a:rPr sz="1050" b="1">
                          <a:solidFill>
                            <a:srgbClr val="E7E9EE"/>
                          </a:solidFill>
                          <a:latin typeface="Arial"/>
                        </a:rPr>
                        <a:t>⏲ Скорость отклика</a:t>
                      </a:r>
                    </a:p>
                  </a:txBody>
                  <a:tcPr>
                    <a:solidFill>
                      <a:srgbClr val="0D1628"/>
                    </a:solidFill>
                  </a:tcPr>
                </a:tc>
                <a:tc>
                  <a:txBody>
                    <a:bodyPr wrap="square" lIns="76200" rIns="76200" tIns="38100" bIns="38100"/>
                    <a:lstStyle/>
                    <a:p>
                      <a:pPr algn="l"/>
                      <a:r>
                        <a:rPr sz="1050" b="0">
                          <a:solidFill>
                            <a:srgbClr val="E7E9EE"/>
                          </a:solidFill>
                          <a:latin typeface="Arial"/>
                        </a:rPr>
                        <a:t>Кто быстрый, кто тянет?</a:t>
                      </a:r>
                    </a:p>
                  </a:txBody>
                  <a:tcPr>
                    <a:solidFill>
                      <a:srgbClr val="0D1628"/>
                    </a:solidFill>
                  </a:tcPr>
                </a:tc>
                <a:tc>
                  <a:txBody>
                    <a:bodyPr wrap="square" lIns="76200" rIns="76200" tIns="38100" bIns="38100"/>
                    <a:lstStyle/>
                    <a:p>
                      <a:pPr algn="l"/>
                      <a:r>
                        <a:rPr sz="1050" b="0">
                          <a:solidFill>
                            <a:srgbClr val="E7E9EE"/>
                          </a:solidFill>
                          <a:latin typeface="Arial"/>
                        </a:rPr>
                        <a:t>«Анна — 12 мин, Дамир — 94 мин»</a:t>
                      </a:r>
                    </a:p>
                  </a:txBody>
                  <a:tcPr>
                    <a:solidFill>
                      <a:srgbClr val="0D1628"/>
                    </a:solidFill>
                  </a:tcPr>
                </a:tc>
              </a:tr>
              <a:tr h="317500">
                <a:tc>
                  <a:txBody>
                    <a:bodyPr wrap="square" lIns="76200" rIns="76200" tIns="38100" bIns="38100"/>
                    <a:lstStyle/>
                    <a:p>
                      <a:pPr algn="l"/>
                      <a:r>
                        <a:rPr sz="1050" b="1">
                          <a:solidFill>
                            <a:srgbClr val="E7E9EE"/>
                          </a:solidFill>
                          <a:latin typeface="Arial"/>
                        </a:rPr>
                        <a:t>🌡 Heatmap входящих</a:t>
                      </a:r>
                    </a:p>
                  </a:txBody>
                  <a:tcPr>
                    <a:solidFill>
                      <a:srgbClr val="0B0C0F"/>
                    </a:solidFill>
                  </a:tcPr>
                </a:tc>
                <a:tc>
                  <a:txBody>
                    <a:bodyPr wrap="square" lIns="76200" rIns="76200" tIns="38100" bIns="38100"/>
                    <a:lstStyle/>
                    <a:p>
                      <a:pPr algn="l"/>
                      <a:r>
                        <a:rPr sz="1050" b="0">
                          <a:solidFill>
                            <a:srgbClr val="E7E9EE"/>
                          </a:solidFill>
                          <a:latin typeface="Arial"/>
                        </a:rPr>
                        <a:t>Когда приходят заявки?</a:t>
                      </a:r>
                    </a:p>
                  </a:txBody>
                  <a:tcPr>
                    <a:solidFill>
                      <a:srgbClr val="0B0C0F"/>
                    </a:solidFill>
                  </a:tcPr>
                </a:tc>
                <a:tc>
                  <a:txBody>
                    <a:bodyPr wrap="square" lIns="76200" rIns="76200" tIns="38100" bIns="38100"/>
                    <a:lstStyle/>
                    <a:p>
                      <a:pPr algn="l"/>
                      <a:r>
                        <a:rPr sz="1050" b="0">
                          <a:solidFill>
                            <a:srgbClr val="E7E9EE"/>
                          </a:solidFill>
                          <a:latin typeface="Arial"/>
                        </a:rPr>
                        <a:t>«Пик — вс 20:00, все офлайн → дежурства»</a:t>
                      </a:r>
                    </a:p>
                  </a:txBody>
                  <a:tcPr>
                    <a:solidFill>
                      <a:srgbClr val="0B0C0F"/>
                    </a:solidFill>
                  </a:tcPr>
                </a:tc>
              </a:tr>
              <a:tr h="317500">
                <a:tc>
                  <a:txBody>
                    <a:bodyPr wrap="square" lIns="76200" rIns="76200" tIns="38100" bIns="38100"/>
                    <a:lstStyle/>
                    <a:p>
                      <a:pPr algn="l"/>
                      <a:r>
                        <a:rPr sz="1050" b="1">
                          <a:solidFill>
                            <a:srgbClr val="E7E9EE"/>
                          </a:solidFill>
                          <a:latin typeface="Arial"/>
                        </a:rPr>
                        <a:t>📆 Когортный анализ</a:t>
                      </a:r>
                    </a:p>
                  </a:txBody>
                  <a:tcPr>
                    <a:solidFill>
                      <a:srgbClr val="0D1628"/>
                    </a:solidFill>
                  </a:tcPr>
                </a:tc>
                <a:tc>
                  <a:txBody>
                    <a:bodyPr wrap="square" lIns="76200" rIns="76200" tIns="38100" bIns="38100"/>
                    <a:lstStyle/>
                    <a:p>
                      <a:pPr algn="l"/>
                      <a:r>
                        <a:rPr sz="1050" b="0">
                          <a:solidFill>
                            <a:srgbClr val="E7E9EE"/>
                          </a:solidFill>
                          <a:latin typeface="Arial"/>
                        </a:rPr>
                        <a:t>Конверсия растёт или падает?</a:t>
                      </a:r>
                    </a:p>
                  </a:txBody>
                  <a:tcPr>
                    <a:solidFill>
                      <a:srgbClr val="0D1628"/>
                    </a:solidFill>
                  </a:tcPr>
                </a:tc>
                <a:tc>
                  <a:txBody>
                    <a:bodyPr wrap="square" lIns="76200" rIns="76200" tIns="38100" bIns="38100"/>
                    <a:lstStyle/>
                    <a:p>
                      <a:pPr algn="l"/>
                      <a:r>
                        <a:rPr sz="1050" b="0">
                          <a:solidFill>
                            <a:srgbClr val="E7E9EE"/>
                          </a:solidFill>
                          <a:latin typeface="Arial"/>
                        </a:rPr>
                        <a:t>«Май конвертится хуже марта на 7%»</a:t>
                      </a:r>
                    </a:p>
                  </a:txBody>
                  <a:tcPr>
                    <a:solidFill>
                      <a:srgbClr val="0D1628"/>
                    </a:solidFill>
                  </a:tcPr>
                </a:tc>
              </a:tr>
              <a:tr h="317500">
                <a:tc>
                  <a:txBody>
                    <a:bodyPr wrap="square" lIns="76200" rIns="76200" tIns="38100" bIns="38100"/>
                    <a:lstStyle/>
                    <a:p>
                      <a:pPr algn="l"/>
                      <a:r>
                        <a:rPr sz="1050" b="1">
                          <a:solidFill>
                            <a:srgbClr val="E7E9EE"/>
                          </a:solidFill>
                          <a:latin typeface="Arial"/>
                        </a:rPr>
                        <a:t>💸 ROI источников</a:t>
                      </a:r>
                    </a:p>
                  </a:txBody>
                  <a:tcPr>
                    <a:solidFill>
                      <a:srgbClr val="0B0C0F"/>
                    </a:solidFill>
                  </a:tcPr>
                </a:tc>
                <a:tc>
                  <a:txBody>
                    <a:bodyPr wrap="square" lIns="76200" rIns="76200" tIns="38100" bIns="38100"/>
                    <a:lstStyle/>
                    <a:p>
                      <a:pPr algn="l"/>
                      <a:r>
                        <a:rPr sz="1050" b="0">
                          <a:solidFill>
                            <a:srgbClr val="E7E9EE"/>
                          </a:solidFill>
                          <a:latin typeface="Arial"/>
                        </a:rPr>
                        <a:t>Какая реклама окупается?</a:t>
                      </a:r>
                    </a:p>
                  </a:txBody>
                  <a:tcPr>
                    <a:solidFill>
                      <a:srgbClr val="0B0C0F"/>
                    </a:solidFill>
                  </a:tcPr>
                </a:tc>
                <a:tc>
                  <a:txBody>
                    <a:bodyPr wrap="square" lIns="76200" rIns="76200" tIns="38100" bIns="38100"/>
                    <a:lstStyle/>
                    <a:p>
                      <a:pPr algn="l"/>
                      <a:r>
                        <a:rPr sz="1050" b="0">
                          <a:solidFill>
                            <a:srgbClr val="E7E9EE"/>
                          </a:solidFill>
                          <a:latin typeface="Arial"/>
                        </a:rPr>
                        <a:t>«Instagram: $500 → $12k. TikTok: $800 → $2k»</a:t>
                      </a:r>
                    </a:p>
                  </a:txBody>
                  <a:tcPr>
                    <a:solidFill>
                      <a:srgbClr val="0B0C0F"/>
                    </a:solidFill>
                  </a:tcPr>
                </a:tc>
              </a:tr>
              <a:tr h="317500">
                <a:tc>
                  <a:txBody>
                    <a:bodyPr wrap="square" lIns="76200" rIns="76200" tIns="38100" bIns="38100"/>
                    <a:lstStyle/>
                    <a:p>
                      <a:pPr algn="l"/>
                      <a:r>
                        <a:rPr sz="1050" b="1">
                          <a:solidFill>
                            <a:srgbClr val="E7E9EE"/>
                          </a:solidFill>
                          <a:latin typeface="Arial"/>
                        </a:rPr>
                        <a:t>📈 Дашборд CRM</a:t>
                      </a:r>
                    </a:p>
                  </a:txBody>
                  <a:tcPr>
                    <a:solidFill>
                      <a:srgbClr val="0D1628"/>
                    </a:solidFill>
                  </a:tcPr>
                </a:tc>
                <a:tc>
                  <a:txBody>
                    <a:bodyPr wrap="square" lIns="76200" rIns="76200" tIns="38100" bIns="38100"/>
                    <a:lstStyle/>
                    <a:p>
                      <a:pPr algn="l"/>
                      <a:r>
                        <a:rPr sz="1050" b="0">
                          <a:solidFill>
                            <a:srgbClr val="E7E9EE"/>
                          </a:solidFill>
                          <a:latin typeface="Arial"/>
                        </a:rPr>
                        <a:t>Общая картина за период?</a:t>
                      </a:r>
                    </a:p>
                  </a:txBody>
                  <a:tcPr>
                    <a:solidFill>
                      <a:srgbClr val="0D1628"/>
                    </a:solidFill>
                  </a:tcPr>
                </a:tc>
                <a:tc>
                  <a:txBody>
                    <a:bodyPr wrap="square" lIns="76200" rIns="76200" tIns="38100" bIns="38100"/>
                    <a:lstStyle/>
                    <a:p>
                      <a:pPr algn="l"/>
                      <a:r>
                        <a:rPr sz="1050" b="0">
                          <a:solidFill>
                            <a:srgbClr val="E7E9EE"/>
                          </a:solidFill>
                          <a:latin typeface="Arial"/>
                        </a:rPr>
                        <a:t>Лиды по дням, источникам + прогноз выручки</a:t>
                      </a:r>
                    </a:p>
                  </a:txBody>
                  <a:tcPr>
                    <a:solidFill>
                      <a:srgbClr val="0D1628"/>
                    </a:solidFill>
                  </a:tcPr>
                </a:tc>
              </a:tr>
              <a:tr h="317500">
                <a:tc>
                  <a:txBody>
                    <a:bodyPr wrap="square" lIns="76200" rIns="76200" tIns="38100" bIns="38100"/>
                    <a:lstStyle/>
                    <a:p>
                      <a:pPr algn="l"/>
                      <a:r>
                        <a:rPr sz="1050" b="1">
                          <a:solidFill>
                            <a:srgbClr val="E7E9EE"/>
                          </a:solidFill>
                          <a:latin typeface="Arial"/>
                        </a:rPr>
                        <a:t>👁 Посещения сайта</a:t>
                      </a:r>
                    </a:p>
                  </a:txBody>
                  <a:tcPr>
                    <a:solidFill>
                      <a:srgbClr val="0B0C0F"/>
                    </a:solidFill>
                  </a:tcPr>
                </a:tc>
                <a:tc>
                  <a:txBody>
                    <a:bodyPr wrap="square" lIns="76200" rIns="76200" tIns="38100" bIns="38100"/>
                    <a:lstStyle/>
                    <a:p>
                      <a:pPr algn="l"/>
                      <a:r>
                        <a:rPr sz="1050" b="0">
                          <a:solidFill>
                            <a:srgbClr val="E7E9EE"/>
                          </a:solidFill>
                          <a:latin typeface="Arial"/>
                        </a:rPr>
                        <a:t>Сколько людей заходит?</a:t>
                      </a:r>
                    </a:p>
                  </a:txBody>
                  <a:tcPr>
                    <a:solidFill>
                      <a:srgbClr val="0B0C0F"/>
                    </a:solidFill>
                  </a:tcPr>
                </a:tc>
                <a:tc>
                  <a:txBody>
                    <a:bodyPr wrap="square" lIns="76200" rIns="76200" tIns="38100" bIns="38100"/>
                    <a:lstStyle/>
                    <a:p>
                      <a:pPr algn="l"/>
                      <a:r>
                        <a:rPr sz="1050" b="0">
                          <a:solidFill>
                            <a:srgbClr val="E7E9EE"/>
                          </a:solidFill>
                          <a:latin typeface="Arial"/>
                        </a:rPr>
                        <a:t>Динамика трафика по дням</a:t>
                      </a:r>
                    </a:p>
                  </a:txBody>
                  <a:tcPr>
                    <a:solidFill>
                      <a:srgbClr val="0B0C0F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640080" y="4526280"/>
            <a:ext cx="5349240" cy="1737360"/>
          </a:xfrm>
          <a:prstGeom prst="roundRect">
            <a:avLst>
              <a:gd name="adj" fmla="val 6000"/>
            </a:avLst>
          </a:prstGeom>
          <a:solidFill>
            <a:srgbClr val="121419"/>
          </a:solidFill>
          <a:ln w="9525">
            <a:solidFill>
              <a:srgbClr val="2326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4663440"/>
            <a:ext cx="4937760" cy="1508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6366F1"/>
                </a:solidFill>
                <a:latin typeface="Arial"/>
              </a:rPr>
              <a:t>ПРИМЕР ВЫВОДА ИЗ HEATMAP</a:t>
            </a:r>
          </a:p>
          <a:p>
            <a:pPr algn="l"/>
            <a:r>
              <a:rPr sz="1150" b="0">
                <a:solidFill>
                  <a:srgbClr val="9AA1AE"/>
                </a:solidFill>
                <a:latin typeface="Arial"/>
              </a:rPr>
              <a:t>Воскресенье 18:00–22:00 — пик заявок (17/час), но вся команда офлайн.</a:t>
            </a:r>
          </a:p>
          <a:p>
            <a:pPr algn="l"/>
            <a:r>
              <a:rPr sz="1150" b="0">
                <a:solidFill>
                  <a:srgbClr val="9AA1AE"/>
                </a:solidFill>
                <a:latin typeface="Arial"/>
              </a:rPr>
              <a:t>Решение: дежурный менеджер по воскресеньям → +15–20 спасённых лидов в месяц.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2200" y="4526280"/>
            <a:ext cx="5349240" cy="1737360"/>
          </a:xfrm>
          <a:prstGeom prst="roundRect">
            <a:avLst>
              <a:gd name="adj" fmla="val 6000"/>
            </a:avLst>
          </a:prstGeom>
          <a:solidFill>
            <a:srgbClr val="121419"/>
          </a:solidFill>
          <a:ln w="9525">
            <a:solidFill>
              <a:srgbClr val="2326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0" y="4663440"/>
            <a:ext cx="4937760" cy="1508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6366F1"/>
                </a:solidFill>
                <a:latin typeface="Arial"/>
              </a:rPr>
              <a:t>ЭКСПОРТ В EXCEL</a:t>
            </a:r>
          </a:p>
          <a:p>
            <a:pPr algn="l"/>
            <a:r>
              <a:rPr sz="1150" b="0">
                <a:solidFill>
                  <a:srgbClr val="9AA1AE"/>
                </a:solidFill>
                <a:latin typeface="Arial"/>
              </a:rPr>
              <a:t>Любой период — одной кнопкой из Дашборда: все лиды с полями, статусами, источниками, суммами.</a:t>
            </a:r>
          </a:p>
          <a:p>
            <a:pPr algn="l"/>
            <a:r>
              <a:rPr sz="1150" b="0">
                <a:solidFill>
                  <a:srgbClr val="9AA1AE"/>
                </a:solidFill>
                <a:latin typeface="Arial"/>
              </a:rPr>
              <a:t>Для бухгалтерии и инвесторов.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6E7582"/>
                </a:solidFill>
                <a:latin typeface="Arial"/>
              </a:rPr>
              <a:t>GoGlobal · база знаний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79615" y="6473952"/>
            <a:ext cx="4572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>
                <a:solidFill>
                  <a:srgbClr val="6E7582"/>
                </a:solidFill>
                <a:latin typeface="Arial"/>
              </a:rPr>
              <a:t>VII · Аналитика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C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080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11535" y="164592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E7582"/>
                </a:solidFill>
                <a:latin typeface="Arial"/>
              </a:rPr>
              <a:t>25 / 36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84048"/>
            <a:ext cx="82296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6366F1"/>
                </a:solidFill>
                <a:latin typeface="Arial"/>
              </a:rPr>
              <a:t>VII · АДМИНКА И АНАЛИТИКА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58368"/>
            <a:ext cx="10911535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E7E9EE"/>
                </a:solidFill>
                <a:latin typeface="Arial"/>
              </a:rPr>
              <a:t>Управление командой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71600"/>
            <a:ext cx="5303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E7E9EE"/>
                </a:solidFill>
                <a:latin typeface="Arial"/>
              </a:rPr>
              <a:t>Создать менеджера — 2 минуты</a:t>
            </a:r>
          </a:p>
        </p:txBody>
      </p:sp>
      <p:sp>
        <p:nvSpPr>
          <p:cNvPr id="8" name="Oval 7"/>
          <p:cNvSpPr/>
          <p:nvPr/>
        </p:nvSpPr>
        <p:spPr>
          <a:xfrm>
            <a:off x="640080" y="1828800"/>
            <a:ext cx="292608" cy="292608"/>
          </a:xfrm>
          <a:prstGeom prst="ellipse">
            <a:avLst/>
          </a:prstGeom>
          <a:solidFill>
            <a:srgbClr val="121419"/>
          </a:solidFill>
          <a:ln w="12700">
            <a:solidFill>
              <a:srgbClr val="6366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6366F1"/>
                </a:solidFill>
                <a:latin typeface="Arial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" y="1792224"/>
            <a:ext cx="484632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E7E9EE"/>
                </a:solidFill>
                <a:latin typeface="Arial"/>
              </a:rPr>
              <a:t>Админка → «Менеджеры»</a:t>
            </a:r>
          </a:p>
          <a:p>
            <a:pPr algn="l"/>
            <a:r>
              <a:rPr sz="1050" b="0">
                <a:solidFill>
                  <a:srgbClr val="9AA1AE"/>
                </a:solidFill>
                <a:latin typeface="Arial"/>
              </a:rPr>
              <a:t>Раскрыть раздел</a:t>
            </a:r>
          </a:p>
        </p:txBody>
      </p:sp>
      <p:sp>
        <p:nvSpPr>
          <p:cNvPr id="10" name="Oval 9"/>
          <p:cNvSpPr/>
          <p:nvPr/>
        </p:nvSpPr>
        <p:spPr>
          <a:xfrm>
            <a:off x="640080" y="2395728"/>
            <a:ext cx="292608" cy="292608"/>
          </a:xfrm>
          <a:prstGeom prst="ellipse">
            <a:avLst/>
          </a:prstGeom>
          <a:solidFill>
            <a:srgbClr val="121419"/>
          </a:solidFill>
          <a:ln w="12700">
            <a:solidFill>
              <a:srgbClr val="6366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6366F1"/>
                </a:solidFill>
                <a:latin typeface="Arial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8992" y="2359152"/>
            <a:ext cx="484632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E7E9EE"/>
                </a:solidFill>
                <a:latin typeface="Arial"/>
              </a:rPr>
              <a:t>Заполнить форму</a:t>
            </a:r>
          </a:p>
          <a:p>
            <a:pPr algn="l"/>
            <a:r>
              <a:rPr sz="1050" b="0">
                <a:solidFill>
                  <a:srgbClr val="9AA1AE"/>
                </a:solidFill>
                <a:latin typeface="Arial"/>
              </a:rPr>
              <a:t>Имя, логин (латиницей), Telegram-тег</a:t>
            </a:r>
          </a:p>
        </p:txBody>
      </p:sp>
      <p:sp>
        <p:nvSpPr>
          <p:cNvPr id="12" name="Oval 11"/>
          <p:cNvSpPr/>
          <p:nvPr/>
        </p:nvSpPr>
        <p:spPr>
          <a:xfrm>
            <a:off x="640080" y="2962656"/>
            <a:ext cx="292608" cy="292608"/>
          </a:xfrm>
          <a:prstGeom prst="ellipse">
            <a:avLst/>
          </a:prstGeom>
          <a:solidFill>
            <a:srgbClr val="121419"/>
          </a:solidFill>
          <a:ln w="12700">
            <a:solidFill>
              <a:srgbClr val="6366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6366F1"/>
                </a:solidFill>
                <a:latin typeface="Arial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78992" y="2926080"/>
            <a:ext cx="484632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E7E9EE"/>
                </a:solidFill>
                <a:latin typeface="Arial"/>
              </a:rPr>
              <a:t>Выбрать роль</a:t>
            </a:r>
          </a:p>
          <a:p>
            <a:pPr algn="l"/>
            <a:r>
              <a:rPr sz="1050" b="0">
                <a:solidFill>
                  <a:srgbClr val="9AA1AE"/>
                </a:solidFill>
                <a:latin typeface="Arial"/>
              </a:rPr>
              <a:t>Менеджер / РОП / Партнёр</a:t>
            </a:r>
          </a:p>
        </p:txBody>
      </p:sp>
      <p:sp>
        <p:nvSpPr>
          <p:cNvPr id="14" name="Oval 13"/>
          <p:cNvSpPr/>
          <p:nvPr/>
        </p:nvSpPr>
        <p:spPr>
          <a:xfrm>
            <a:off x="640080" y="3529584"/>
            <a:ext cx="292608" cy="292608"/>
          </a:xfrm>
          <a:prstGeom prst="ellipse">
            <a:avLst/>
          </a:prstGeom>
          <a:solidFill>
            <a:srgbClr val="121419"/>
          </a:solidFill>
          <a:ln w="12700">
            <a:solidFill>
              <a:srgbClr val="6366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6366F1"/>
                </a:solidFill>
                <a:latin typeface="Arial"/>
              </a:rPr>
              <a:t>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78992" y="3493008"/>
            <a:ext cx="484632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E7E9EE"/>
                </a:solidFill>
                <a:latin typeface="Arial"/>
              </a:rPr>
              <a:t>«+ Создать»</a:t>
            </a:r>
          </a:p>
          <a:p>
            <a:pPr algn="l"/>
            <a:r>
              <a:rPr sz="1050" b="0">
                <a:solidFill>
                  <a:srgbClr val="9AA1AE"/>
                </a:solidFill>
                <a:latin typeface="Arial"/>
              </a:rPr>
              <a:t>Передать сотруднику логин и пароль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17920" y="1417320"/>
            <a:ext cx="5303520" cy="2651760"/>
          </a:xfrm>
          <a:prstGeom prst="roundRect">
            <a:avLst>
              <a:gd name="adj" fmla="val 6000"/>
            </a:avLst>
          </a:prstGeom>
          <a:solidFill>
            <a:srgbClr val="221012"/>
          </a:solidFill>
          <a:ln w="9525">
            <a:solidFill>
              <a:srgbClr val="7F1D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46520" y="1554480"/>
            <a:ext cx="4846320" cy="2377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FDA4AF"/>
                </a:solidFill>
                <a:latin typeface="Arial"/>
              </a:rPr>
              <a:t>УВОЛИТЬ = АРХИВИРОВАТЬ, НЕ УДАЛЯТЬ</a:t>
            </a:r>
          </a:p>
          <a:p>
            <a:pPr algn="l"/>
            <a:r>
              <a:rPr sz="1150" b="0">
                <a:solidFill>
                  <a:srgbClr val="9AA1AE"/>
                </a:solidFill>
                <a:latin typeface="Arial"/>
              </a:rPr>
              <a:t>Кнопка «Архивировать»:</a:t>
            </a:r>
          </a:p>
          <a:p>
            <a:pPr algn="l"/>
            <a:r>
              <a:rPr sz="1150" b="0">
                <a:solidFill>
                  <a:srgbClr val="9AA1AE"/>
                </a:solidFill>
                <a:latin typeface="Arial"/>
              </a:rPr>
              <a:t>• система спросит, кому передать открытые лиды</a:t>
            </a:r>
          </a:p>
          <a:p>
            <a:pPr algn="l"/>
            <a:r>
              <a:rPr sz="1150" b="0">
                <a:solidFill>
                  <a:srgbClr val="9AA1AE"/>
                </a:solidFill>
                <a:latin typeface="Arial"/>
              </a:rPr>
              <a:t>• доступ закрывается сразу</a:t>
            </a:r>
          </a:p>
          <a:p>
            <a:pPr algn="l"/>
            <a:r>
              <a:rPr sz="1150" b="0">
                <a:solidFill>
                  <a:srgbClr val="9AA1AE"/>
                </a:solidFill>
                <a:latin typeface="Arial"/>
              </a:rPr>
              <a:t>• история работы сохраняется</a:t>
            </a:r>
          </a:p>
          <a:p>
            <a:pPr algn="l"/>
            <a:r>
              <a:rPr sz="1150" b="1">
                <a:solidFill>
                  <a:srgbClr val="FDA4AF"/>
                </a:solidFill>
                <a:latin typeface="Arial"/>
              </a:rPr>
              <a:t>Никогда не удаляйте насовсем — сломается статистика прошлых периодов.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434340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7E9EE"/>
                </a:solidFill>
                <a:latin typeface="Arial"/>
              </a:rPr>
              <a:t>Авто-распределение: кому падают лиды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640080" y="4754880"/>
          <a:ext cx="10881360" cy="152400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4352544"/>
                <a:gridCol w="6528816"/>
              </a:tblGrid>
              <a:tr h="304800">
                <a:tc>
                  <a:txBody>
                    <a:bodyPr wrap="square" lIns="76200" rIns="76200" tIns="38100" bIns="38100"/>
                    <a:lstStyle/>
                    <a:p>
                      <a:pPr algn="l"/>
                      <a:r>
                        <a:rPr sz="1000" b="1">
                          <a:solidFill>
                            <a:srgbClr val="9AA1AE"/>
                          </a:solidFill>
                          <a:latin typeface="Arial"/>
                        </a:rPr>
                        <a:t>Правило (пример)</a:t>
                      </a:r>
                    </a:p>
                  </a:txBody>
                  <a:tcPr>
                    <a:solidFill>
                      <a:srgbClr val="121419"/>
                    </a:solidFill>
                  </a:tcPr>
                </a:tc>
                <a:tc>
                  <a:txBody>
                    <a:bodyPr wrap="square" lIns="76200" rIns="76200" tIns="38100" bIns="38100"/>
                    <a:lstStyle/>
                    <a:p>
                      <a:pPr algn="l"/>
                      <a:r>
                        <a:rPr sz="1000" b="1">
                          <a:solidFill>
                            <a:srgbClr val="9AA1AE"/>
                          </a:solidFill>
                          <a:latin typeface="Arial"/>
                        </a:rPr>
                        <a:t>Результат</a:t>
                      </a:r>
                    </a:p>
                  </a:txBody>
                  <a:tcPr>
                    <a:solidFill>
                      <a:srgbClr val="121419"/>
                    </a:solidFill>
                  </a:tcPr>
                </a:tc>
              </a:tr>
              <a:tr h="304800">
                <a:tc>
                  <a:txBody>
                    <a:bodyPr wrap="square" lIns="76200" rIns="76200" tIns="38100" bIns="38100"/>
                    <a:lstStyle/>
                    <a:p>
                      <a:pPr algn="l"/>
                      <a:r>
                        <a:rPr sz="1100" b="0">
                          <a:solidFill>
                            <a:srgbClr val="E7E9EE"/>
                          </a:solidFill>
                          <a:latin typeface="Arial"/>
                        </a:rPr>
                        <a:t>Страна = Япония → Анна</a:t>
                      </a:r>
                    </a:p>
                  </a:txBody>
                  <a:tcPr>
                    <a:solidFill>
                      <a:srgbClr val="0B0C0F"/>
                    </a:solidFill>
                  </a:tcPr>
                </a:tc>
                <a:tc>
                  <a:txBody>
                    <a:bodyPr wrap="square" lIns="76200" rIns="76200" tIns="38100" bIns="38100"/>
                    <a:lstStyle/>
                    <a:p>
                      <a:pPr algn="l"/>
                      <a:r>
                        <a:rPr sz="1100" b="0">
                          <a:solidFill>
                            <a:srgbClr val="E7E9EE"/>
                          </a:solidFill>
                          <a:latin typeface="Arial"/>
                        </a:rPr>
                        <a:t>«Японские» лиды идут Анне (спец по Японии)</a:t>
                      </a:r>
                    </a:p>
                  </a:txBody>
                  <a:tcPr>
                    <a:solidFill>
                      <a:srgbClr val="0B0C0F"/>
                    </a:solidFill>
                  </a:tcPr>
                </a:tc>
              </a:tr>
              <a:tr h="304800">
                <a:tc>
                  <a:txBody>
                    <a:bodyPr wrap="square" lIns="76200" rIns="76200" tIns="38100" bIns="38100"/>
                    <a:lstStyle/>
                    <a:p>
                      <a:pPr algn="l"/>
                      <a:r>
                        <a:rPr sz="1100" b="0">
                          <a:solidFill>
                            <a:srgbClr val="E7E9EE"/>
                          </a:solidFill>
                          <a:latin typeface="Arial"/>
                        </a:rPr>
                        <a:t>Источник = Instagram → Гулжан</a:t>
                      </a:r>
                    </a:p>
                  </a:txBody>
                  <a:tcPr>
                    <a:solidFill>
                      <a:srgbClr val="0D1628"/>
                    </a:solidFill>
                  </a:tcPr>
                </a:tc>
                <a:tc>
                  <a:txBody>
                    <a:bodyPr wrap="square" lIns="76200" rIns="76200" tIns="38100" bIns="38100"/>
                    <a:lstStyle/>
                    <a:p>
                      <a:pPr algn="l"/>
                      <a:r>
                        <a:rPr sz="1100" b="0">
                          <a:solidFill>
                            <a:srgbClr val="E7E9EE"/>
                          </a:solidFill>
                          <a:latin typeface="Arial"/>
                        </a:rPr>
                        <a:t>Лиды из Instagram — Гулжан (ведёт соцсети)</a:t>
                      </a:r>
                    </a:p>
                  </a:txBody>
                  <a:tcPr>
                    <a:solidFill>
                      <a:srgbClr val="0D1628"/>
                    </a:solidFill>
                  </a:tcPr>
                </a:tc>
              </a:tr>
              <a:tr h="304800">
                <a:tc>
                  <a:txBody>
                    <a:bodyPr wrap="square" lIns="76200" rIns="76200" tIns="38100" bIns="38100"/>
                    <a:lstStyle/>
                    <a:p>
                      <a:pPr algn="l"/>
                      <a:r>
                        <a:rPr sz="1100" b="0">
                          <a:solidFill>
                            <a:srgbClr val="E7E9EE"/>
                          </a:solidFill>
                          <a:latin typeface="Arial"/>
                        </a:rPr>
                        <a:t>Правил нет / не подошло</a:t>
                      </a:r>
                    </a:p>
                  </a:txBody>
                  <a:tcPr>
                    <a:solidFill>
                      <a:srgbClr val="0B0C0F"/>
                    </a:solidFill>
                  </a:tcPr>
                </a:tc>
                <a:tc>
                  <a:txBody>
                    <a:bodyPr wrap="square" lIns="76200" rIns="76200" tIns="38100" bIns="38100"/>
                    <a:lstStyle/>
                    <a:p>
                      <a:pPr algn="l"/>
                      <a:r>
                        <a:rPr sz="1100" b="0">
                          <a:solidFill>
                            <a:srgbClr val="E7E9EE"/>
                          </a:solidFill>
                          <a:latin typeface="Arial"/>
                        </a:rPr>
                        <a:t>Очередь по кругу между «🟢 в сети»</a:t>
                      </a:r>
                    </a:p>
                  </a:txBody>
                  <a:tcPr>
                    <a:solidFill>
                      <a:srgbClr val="0B0C0F"/>
                    </a:solidFill>
                  </a:tcPr>
                </a:tc>
              </a:tr>
              <a:tr h="304800">
                <a:tc>
                  <a:txBody>
                    <a:bodyPr wrap="square" lIns="76200" rIns="76200" tIns="38100" bIns="38100"/>
                    <a:lstStyle/>
                    <a:p>
                      <a:pPr algn="l"/>
                      <a:r>
                        <a:rPr sz="1100" b="0">
                          <a:solidFill>
                            <a:srgbClr val="E7E9EE"/>
                          </a:solidFill>
                          <a:latin typeface="Arial"/>
                        </a:rPr>
                        <a:t>Менеджер из правила офлайн</a:t>
                      </a:r>
                    </a:p>
                  </a:txBody>
                  <a:tcPr>
                    <a:solidFill>
                      <a:srgbClr val="0D1628"/>
                    </a:solidFill>
                  </a:tcPr>
                </a:tc>
                <a:tc>
                  <a:txBody>
                    <a:bodyPr wrap="square" lIns="76200" rIns="76200" tIns="38100" bIns="38100"/>
                    <a:lstStyle/>
                    <a:p>
                      <a:pPr algn="l"/>
                      <a:r>
                        <a:rPr sz="1100" b="0">
                          <a:solidFill>
                            <a:srgbClr val="E7E9EE"/>
                          </a:solidFill>
                          <a:latin typeface="Arial"/>
                        </a:rPr>
                        <a:t>Лид в общую очередь — не теряется</a:t>
                      </a:r>
                    </a:p>
                  </a:txBody>
                  <a:tcPr>
                    <a:solidFill>
                      <a:srgbClr val="0D1628"/>
                    </a:solidFill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6E7582"/>
                </a:solidFill>
                <a:latin typeface="Arial"/>
              </a:rPr>
              <a:t>GoGlobal · база знаний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79615" y="6473952"/>
            <a:ext cx="4572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>
                <a:solidFill>
                  <a:srgbClr val="6E7582"/>
                </a:solidFill>
                <a:latin typeface="Arial"/>
              </a:rPr>
              <a:t>VII · Команда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C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080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11535" y="164592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E7582"/>
                </a:solidFill>
                <a:latin typeface="Arial"/>
              </a:rPr>
              <a:t>26 / 36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84048"/>
            <a:ext cx="82296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6366F1"/>
                </a:solidFill>
                <a:latin typeface="Arial"/>
              </a:rPr>
              <a:t>VII · АДМИНКА И АНАЛИТИКА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58368"/>
            <a:ext cx="10911535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E7E9EE"/>
                </a:solidFill>
                <a:latin typeface="Arial"/>
              </a:rPr>
              <a:t>Комиссии и журнал аудита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71600"/>
            <a:ext cx="5303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E7E9EE"/>
                </a:solidFill>
                <a:latin typeface="Arial"/>
              </a:rPr>
              <a:t>💵 Комиссии и выплаты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828800"/>
          <a:ext cx="5303519" cy="132080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2305878"/>
                <a:gridCol w="2997641"/>
              </a:tblGrid>
              <a:tr h="330200">
                <a:tc>
                  <a:txBody>
                    <a:bodyPr wrap="square" lIns="76200" rIns="76200" tIns="38100" bIns="38100"/>
                    <a:lstStyle/>
                    <a:p>
                      <a:pPr algn="l"/>
                      <a:r>
                        <a:rPr sz="1000" b="1">
                          <a:solidFill>
                            <a:srgbClr val="9AA1AE"/>
                          </a:solidFill>
                          <a:latin typeface="Arial"/>
                        </a:rPr>
                        <a:t>Правило</a:t>
                      </a:r>
                    </a:p>
                  </a:txBody>
                  <a:tcPr>
                    <a:solidFill>
                      <a:srgbClr val="121419"/>
                    </a:solidFill>
                  </a:tcPr>
                </a:tc>
                <a:tc>
                  <a:txBody>
                    <a:bodyPr wrap="square" lIns="76200" rIns="76200" tIns="38100" bIns="38100"/>
                    <a:lstStyle/>
                    <a:p>
                      <a:pPr algn="l"/>
                      <a:r>
                        <a:rPr sz="1000" b="1">
                          <a:solidFill>
                            <a:srgbClr val="9AA1AE"/>
                          </a:solidFill>
                          <a:latin typeface="Arial"/>
                        </a:rPr>
                        <a:t>Пример</a:t>
                      </a:r>
                    </a:p>
                  </a:txBody>
                  <a:tcPr>
                    <a:solidFill>
                      <a:srgbClr val="121419"/>
                    </a:solidFill>
                  </a:tcPr>
                </a:tc>
              </a:tr>
              <a:tr h="330200">
                <a:tc>
                  <a:txBody>
                    <a:bodyPr wrap="square" lIns="76200" rIns="76200" tIns="38100" bIns="38100"/>
                    <a:lstStyle/>
                    <a:p>
                      <a:pPr algn="l"/>
                      <a:r>
                        <a:rPr sz="1100" b="0">
                          <a:solidFill>
                            <a:srgbClr val="E7E9EE"/>
                          </a:solidFill>
                          <a:latin typeface="Arial"/>
                        </a:rPr>
                        <a:t>Процент от сделки</a:t>
                      </a:r>
                    </a:p>
                  </a:txBody>
                  <a:tcPr>
                    <a:solidFill>
                      <a:srgbClr val="0B0C0F"/>
                    </a:solidFill>
                  </a:tcPr>
                </a:tc>
                <a:tc>
                  <a:txBody>
                    <a:bodyPr wrap="square" lIns="76200" rIns="76200" tIns="38100" bIns="38100"/>
                    <a:lstStyle/>
                    <a:p>
                      <a:pPr algn="l"/>
                      <a:r>
                        <a:rPr sz="1100" b="0">
                          <a:solidFill>
                            <a:srgbClr val="E7E9EE"/>
                          </a:solidFill>
                          <a:latin typeface="Arial"/>
                        </a:rPr>
                        <a:t>5% от суммы Won-контракта</a:t>
                      </a:r>
                    </a:p>
                  </a:txBody>
                  <a:tcPr>
                    <a:solidFill>
                      <a:srgbClr val="0B0C0F"/>
                    </a:solidFill>
                  </a:tcPr>
                </a:tc>
              </a:tr>
              <a:tr h="330200">
                <a:tc>
                  <a:txBody>
                    <a:bodyPr wrap="square" lIns="76200" rIns="76200" tIns="38100" bIns="38100"/>
                    <a:lstStyle/>
                    <a:p>
                      <a:pPr algn="l"/>
                      <a:r>
                        <a:rPr sz="1100" b="0">
                          <a:solidFill>
                            <a:srgbClr val="E7E9EE"/>
                          </a:solidFill>
                          <a:latin typeface="Arial"/>
                        </a:rPr>
                        <a:t>Фикс за сделку</a:t>
                      </a:r>
                    </a:p>
                  </a:txBody>
                  <a:tcPr>
                    <a:solidFill>
                      <a:srgbClr val="0D1628"/>
                    </a:solidFill>
                  </a:tcPr>
                </a:tc>
                <a:tc>
                  <a:txBody>
                    <a:bodyPr wrap="square" lIns="76200" rIns="76200" tIns="38100" bIns="38100"/>
                    <a:lstStyle/>
                    <a:p>
                      <a:pPr algn="l"/>
                      <a:r>
                        <a:rPr sz="1100" b="0">
                          <a:solidFill>
                            <a:srgbClr val="E7E9EE"/>
                          </a:solidFill>
                          <a:latin typeface="Arial"/>
                        </a:rPr>
                        <a:t>$100 за каждый Won</a:t>
                      </a:r>
                    </a:p>
                  </a:txBody>
                  <a:tcPr>
                    <a:solidFill>
                      <a:srgbClr val="0D1628"/>
                    </a:solidFill>
                  </a:tcPr>
                </a:tc>
              </a:tr>
              <a:tr h="330200">
                <a:tc>
                  <a:txBody>
                    <a:bodyPr wrap="square" lIns="76200" rIns="76200" tIns="38100" bIns="38100"/>
                    <a:lstStyle/>
                    <a:p>
                      <a:pPr algn="l"/>
                      <a:r>
                        <a:rPr sz="1100" b="0">
                          <a:solidFill>
                            <a:srgbClr val="E7E9EE"/>
                          </a:solidFill>
                          <a:latin typeface="Arial"/>
                        </a:rPr>
                        <a:t>Для партнёров</a:t>
                      </a:r>
                    </a:p>
                  </a:txBody>
                  <a:tcPr>
                    <a:solidFill>
                      <a:srgbClr val="0B0C0F"/>
                    </a:solidFill>
                  </a:tcPr>
                </a:tc>
                <a:tc>
                  <a:txBody>
                    <a:bodyPr wrap="square" lIns="76200" rIns="76200" tIns="38100" bIns="38100"/>
                    <a:lstStyle/>
                    <a:p>
                      <a:pPr algn="l"/>
                      <a:r>
                        <a:rPr sz="1100" b="0">
                          <a:solidFill>
                            <a:srgbClr val="E7E9EE"/>
                          </a:solidFill>
                          <a:latin typeface="Arial"/>
                        </a:rPr>
                        <a:t>3% от приведённого реферала</a:t>
                      </a:r>
                    </a:p>
                  </a:txBody>
                  <a:tcPr>
                    <a:solidFill>
                      <a:srgbClr val="0B0C0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40080" y="3611880"/>
            <a:ext cx="53035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9AA1AE"/>
                </a:solidFill>
                <a:latin typeface="Arial"/>
              </a:rPr>
              <a:t>Система сама считает сумму к выплате по каждому менеджеру за период.</a:t>
            </a:r>
          </a:p>
          <a:p>
            <a:pPr algn="l"/>
            <a:r>
              <a:rPr sz="1150" b="0">
                <a:solidFill>
                  <a:srgbClr val="9AA1AE"/>
                </a:solidFill>
                <a:latin typeface="Arial"/>
              </a:rPr>
              <a:t>РОП открывает раздел — видит готовые цифры.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0" y="1371600"/>
            <a:ext cx="5303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E7E9EE"/>
                </a:solidFill>
                <a:latin typeface="Arial"/>
              </a:rPr>
              <a:t>🕒 Журнал аудита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1828800"/>
            <a:ext cx="5303520" cy="2377440"/>
          </a:xfrm>
          <a:prstGeom prst="roundRect">
            <a:avLst>
              <a:gd name="adj" fmla="val 6000"/>
            </a:avLst>
          </a:prstGeom>
          <a:solidFill>
            <a:srgbClr val="0A1322"/>
          </a:solidFill>
          <a:ln w="9525">
            <a:solidFill>
              <a:srgbClr val="2326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46520" y="2011680"/>
            <a:ext cx="4846320" cy="2103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9AA1AE"/>
                </a:solidFill>
                <a:latin typeface="Arial"/>
              </a:rPr>
              <a:t>14:02  Анна сменила статус #1247</a:t>
            </a:r>
          </a:p>
          <a:p>
            <a:pPr algn="l"/>
            <a:r>
              <a:rPr sz="1100" b="0">
                <a:solidFill>
                  <a:srgbClr val="6E7582"/>
                </a:solidFill>
                <a:latin typeface="Arial"/>
              </a:rPr>
              <a:t>           «Новый → В работе»</a:t>
            </a:r>
          </a:p>
          <a:p>
            <a:pPr algn="l"/>
            <a:r>
              <a:rPr sz="1100" b="0">
                <a:solidFill>
                  <a:srgbClr val="9AA1AE"/>
                </a:solidFill>
                <a:latin typeface="Arial"/>
              </a:rPr>
              <a:t>14:05  Анна загрузила «passport.pdf»</a:t>
            </a:r>
          </a:p>
          <a:p>
            <a:pPr algn="l"/>
            <a:r>
              <a:rPr sz="1100" b="0">
                <a:solidFill>
                  <a:srgbClr val="9AA1AE"/>
                </a:solidFill>
                <a:latin typeface="Arial"/>
              </a:rPr>
              <a:t>14:31  Бек (РОП) переназначил #1198</a:t>
            </a:r>
          </a:p>
          <a:p>
            <a:pPr algn="l"/>
            <a:r>
              <a:rPr sz="1100" b="0">
                <a:solidFill>
                  <a:srgbClr val="6E7582"/>
                </a:solidFill>
                <a:latin typeface="Arial"/>
              </a:rPr>
              <a:t>           «Дамир → Гулжан»</a:t>
            </a:r>
          </a:p>
          <a:p>
            <a:pPr algn="l"/>
            <a:r>
              <a:rPr sz="1100" b="0">
                <a:solidFill>
                  <a:srgbClr val="FDA4AF"/>
                </a:solidFill>
                <a:latin typeface="Arial"/>
              </a:rPr>
              <a:t>15:10  Система: SLA-просрочка #1201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4663440"/>
            <a:ext cx="10881360" cy="1188720"/>
          </a:xfrm>
          <a:prstGeom prst="roundRect">
            <a:avLst>
              <a:gd name="adj" fmla="val 6000"/>
            </a:avLst>
          </a:prstGeom>
          <a:solidFill>
            <a:srgbClr val="121419"/>
          </a:solidFill>
          <a:ln w="9525">
            <a:solidFill>
              <a:srgbClr val="2326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" y="4818888"/>
            <a:ext cx="104241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6366F1"/>
                </a:solidFill>
                <a:latin typeface="Arial"/>
              </a:rPr>
              <a:t>ЗАЧЕМ</a:t>
            </a:r>
          </a:p>
          <a:p>
            <a:pPr algn="l"/>
            <a:r>
              <a:rPr sz="1200" b="0">
                <a:solidFill>
                  <a:srgbClr val="9AA1AE"/>
                </a:solidFill>
                <a:latin typeface="Arial"/>
              </a:rPr>
              <a:t>Спор «кто упустил клиента» решается за минуту — открыл аудит лида и видишь всю историю действий каждого сотрудника.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6E7582"/>
                </a:solidFill>
                <a:latin typeface="Arial"/>
              </a:rPr>
              <a:t>GoGlobal · база знаний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79615" y="6473952"/>
            <a:ext cx="4572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>
                <a:solidFill>
                  <a:srgbClr val="6E7582"/>
                </a:solidFill>
                <a:latin typeface="Arial"/>
              </a:rPr>
              <a:t>VII · Комиссии и аудит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C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080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11535" y="164592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E7582"/>
                </a:solidFill>
                <a:latin typeface="Arial"/>
              </a:rPr>
              <a:t>27 / 36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84048"/>
            <a:ext cx="82296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6366F1"/>
                </a:solidFill>
                <a:latin typeface="Arial"/>
              </a:rPr>
              <a:t>VII · АДМИНКА И АНАЛИТИКА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58368"/>
            <a:ext cx="10911535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E7E9EE"/>
                </a:solidFill>
                <a:latin typeface="Arial"/>
              </a:rPr>
              <a:t>Сохранность данных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417320"/>
            <a:ext cx="3520440" cy="1463040"/>
          </a:xfrm>
          <a:prstGeom prst="roundRect">
            <a:avLst>
              <a:gd name="adj" fmla="val 6000"/>
            </a:avLst>
          </a:prstGeom>
          <a:solidFill>
            <a:srgbClr val="121419"/>
          </a:solidFill>
          <a:ln w="9525">
            <a:solidFill>
              <a:srgbClr val="2326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554480"/>
            <a:ext cx="3154680" cy="1234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7E9EE"/>
                </a:solidFill>
                <a:latin typeface="Arial"/>
              </a:rPr>
              <a:t>💾 Авто-бэкап</a:t>
            </a:r>
          </a:p>
          <a:p>
            <a:pPr algn="l"/>
            <a:r>
              <a:rPr sz="1050" b="0">
                <a:solidFill>
                  <a:srgbClr val="9AA1AE"/>
                </a:solidFill>
                <a:latin typeface="Arial"/>
              </a:rPr>
              <a:t>Ежедневная копия базы автоматически, на стороне хостинга. Сгорел сервер — данные восстановимы.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43400" y="1417320"/>
            <a:ext cx="3520440" cy="1463040"/>
          </a:xfrm>
          <a:prstGeom prst="roundRect">
            <a:avLst>
              <a:gd name="adj" fmla="val 6000"/>
            </a:avLst>
          </a:prstGeom>
          <a:solidFill>
            <a:srgbClr val="121419"/>
          </a:solidFill>
          <a:ln w="9525">
            <a:solidFill>
              <a:srgbClr val="2326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26280" y="1554480"/>
            <a:ext cx="3154680" cy="1234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7E9EE"/>
                </a:solidFill>
                <a:latin typeface="Arial"/>
              </a:rPr>
              <a:t>📦 Ручной экспорт</a:t>
            </a:r>
          </a:p>
          <a:p>
            <a:pPr algn="l"/>
            <a:r>
              <a:rPr sz="1050" b="0">
                <a:solidFill>
                  <a:srgbClr val="9AA1AE"/>
                </a:solidFill>
                <a:latin typeface="Arial"/>
              </a:rPr>
              <a:t>«Утилиты и бэкапы»: одна кнопка — полный архив. Раз в месяц — в облако компании.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46720" y="1417320"/>
            <a:ext cx="3520440" cy="1463040"/>
          </a:xfrm>
          <a:prstGeom prst="roundRect">
            <a:avLst>
              <a:gd name="adj" fmla="val 6000"/>
            </a:avLst>
          </a:prstGeom>
          <a:solidFill>
            <a:srgbClr val="121419"/>
          </a:solidFill>
          <a:ln w="9525">
            <a:solidFill>
              <a:srgbClr val="2326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0" y="1554480"/>
            <a:ext cx="3154680" cy="1234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7E9EE"/>
                </a:solidFill>
                <a:latin typeface="Arial"/>
              </a:rPr>
              <a:t>📊 Excel-выгрузки</a:t>
            </a:r>
          </a:p>
          <a:p>
            <a:pPr algn="l"/>
            <a:r>
              <a:rPr sz="1050" b="0">
                <a:solidFill>
                  <a:srgbClr val="9AA1AE"/>
                </a:solidFill>
                <a:latin typeface="Arial"/>
              </a:rPr>
              <a:t>Все лиды за период — в Excel из Дашборда. Для бухгалтерии и отчётов.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15468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7E9EE"/>
                </a:solidFill>
                <a:latin typeface="Arial"/>
              </a:rPr>
              <a:t>Безопасность доступов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640080" y="3566160"/>
          <a:ext cx="10881359" cy="190500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3348110"/>
                <a:gridCol w="7533249"/>
              </a:tblGrid>
              <a:tr h="317500">
                <a:tc>
                  <a:txBody>
                    <a:bodyPr wrap="square" lIns="76200" rIns="76200" tIns="38100" bIns="38100"/>
                    <a:lstStyle/>
                    <a:p>
                      <a:pPr algn="l"/>
                      <a:r>
                        <a:rPr sz="1000" b="1">
                          <a:solidFill>
                            <a:srgbClr val="9AA1AE"/>
                          </a:solidFill>
                          <a:latin typeface="Arial"/>
                        </a:rPr>
                        <a:t>Что</a:t>
                      </a:r>
                    </a:p>
                  </a:txBody>
                  <a:tcPr>
                    <a:solidFill>
                      <a:srgbClr val="121419"/>
                    </a:solidFill>
                  </a:tcPr>
                </a:tc>
                <a:tc>
                  <a:txBody>
                    <a:bodyPr wrap="square" lIns="76200" rIns="76200" tIns="38100" bIns="38100"/>
                    <a:lstStyle/>
                    <a:p>
                      <a:pPr algn="l"/>
                      <a:r>
                        <a:rPr sz="1000" b="1">
                          <a:solidFill>
                            <a:srgbClr val="9AA1AE"/>
                          </a:solidFill>
                          <a:latin typeface="Arial"/>
                        </a:rPr>
                        <a:t>Как устроено</a:t>
                      </a:r>
                    </a:p>
                  </a:txBody>
                  <a:tcPr>
                    <a:solidFill>
                      <a:srgbClr val="121419"/>
                    </a:solidFill>
                  </a:tcPr>
                </a:tc>
              </a:tr>
              <a:tr h="317500">
                <a:tc>
                  <a:txBody>
                    <a:bodyPr wrap="square" lIns="76200" rIns="76200" tIns="38100" bIns="38100"/>
                    <a:lstStyle/>
                    <a:p>
                      <a:pPr algn="l"/>
                      <a:r>
                        <a:rPr sz="1100" b="0">
                          <a:solidFill>
                            <a:srgbClr val="E7E9EE"/>
                          </a:solidFill>
                          <a:latin typeface="Arial"/>
                        </a:rPr>
                        <a:t>Пароль админки</a:t>
                      </a:r>
                    </a:p>
                  </a:txBody>
                  <a:tcPr>
                    <a:solidFill>
                      <a:srgbClr val="0B0C0F"/>
                    </a:solidFill>
                  </a:tcPr>
                </a:tc>
                <a:tc>
                  <a:txBody>
                    <a:bodyPr wrap="square" lIns="76200" rIns="76200" tIns="38100" bIns="38100"/>
                    <a:lstStyle/>
                    <a:p>
                      <a:pPr algn="l"/>
                      <a:r>
                        <a:rPr sz="1100" b="0">
                          <a:solidFill>
                            <a:srgbClr val="E7E9EE"/>
                          </a:solidFill>
                          <a:latin typeface="Arial"/>
                        </a:rPr>
                        <a:t>Один общий, у админа. Менять раз в квартал</a:t>
                      </a:r>
                    </a:p>
                  </a:txBody>
                  <a:tcPr>
                    <a:solidFill>
                      <a:srgbClr val="0B0C0F"/>
                    </a:solidFill>
                  </a:tcPr>
                </a:tc>
              </a:tr>
              <a:tr h="317500">
                <a:tc>
                  <a:txBody>
                    <a:bodyPr wrap="square" lIns="76200" rIns="76200" tIns="38100" bIns="38100"/>
                    <a:lstStyle/>
                    <a:p>
                      <a:pPr algn="l"/>
                      <a:r>
                        <a:rPr sz="1100" b="0">
                          <a:solidFill>
                            <a:srgbClr val="E7E9EE"/>
                          </a:solidFill>
                          <a:latin typeface="Arial"/>
                        </a:rPr>
                        <a:t>Пароли менеджеров</a:t>
                      </a:r>
                    </a:p>
                  </a:txBody>
                  <a:tcPr>
                    <a:solidFill>
                      <a:srgbClr val="0D1628"/>
                    </a:solidFill>
                  </a:tcPr>
                </a:tc>
                <a:tc>
                  <a:txBody>
                    <a:bodyPr wrap="square" lIns="76200" rIns="76200" tIns="38100" bIns="38100"/>
                    <a:lstStyle/>
                    <a:p>
                      <a:pPr algn="l"/>
                      <a:r>
                        <a:rPr sz="1100" b="0">
                          <a:solidFill>
                            <a:srgbClr val="E7E9EE"/>
                          </a:solidFill>
                          <a:latin typeface="Arial"/>
                        </a:rPr>
                        <a:t>Личный логин у каждого; пароль выдаёт админ</a:t>
                      </a:r>
                    </a:p>
                  </a:txBody>
                  <a:tcPr>
                    <a:solidFill>
                      <a:srgbClr val="0D1628"/>
                    </a:solidFill>
                  </a:tcPr>
                </a:tc>
              </a:tr>
              <a:tr h="317500">
                <a:tc>
                  <a:txBody>
                    <a:bodyPr wrap="square" lIns="76200" rIns="76200" tIns="38100" bIns="38100"/>
                    <a:lstStyle/>
                    <a:p>
                      <a:pPr algn="l"/>
                      <a:r>
                        <a:rPr sz="1100" b="0">
                          <a:solidFill>
                            <a:srgbClr val="E7E9EE"/>
                          </a:solidFill>
                          <a:latin typeface="Arial"/>
                        </a:rPr>
                        <a:t>Вход в CRM</a:t>
                      </a:r>
                    </a:p>
                  </a:txBody>
                  <a:tcPr>
                    <a:solidFill>
                      <a:srgbClr val="0B0C0F"/>
                    </a:solidFill>
                  </a:tcPr>
                </a:tc>
                <a:tc>
                  <a:txBody>
                    <a:bodyPr wrap="square" lIns="76200" rIns="76200" tIns="38100" bIns="38100"/>
                    <a:lstStyle/>
                    <a:p>
                      <a:pPr algn="l"/>
                      <a:r>
                        <a:rPr sz="1100" b="0">
                          <a:solidFill>
                            <a:srgbClr val="E7E9EE"/>
                          </a:solidFill>
                          <a:latin typeface="Arial"/>
                        </a:rPr>
                        <a:t>Сессия 12 часов — хватает на весь рабочий день</a:t>
                      </a:r>
                    </a:p>
                  </a:txBody>
                  <a:tcPr>
                    <a:solidFill>
                      <a:srgbClr val="0B0C0F"/>
                    </a:solidFill>
                  </a:tcPr>
                </a:tc>
              </a:tr>
              <a:tr h="317500">
                <a:tc>
                  <a:txBody>
                    <a:bodyPr wrap="square" lIns="76200" rIns="76200" tIns="38100" bIns="38100"/>
                    <a:lstStyle/>
                    <a:p>
                      <a:pPr algn="l"/>
                      <a:r>
                        <a:rPr sz="1100" b="0">
                          <a:solidFill>
                            <a:srgbClr val="E7E9EE"/>
                          </a:solidFill>
                          <a:latin typeface="Arial"/>
                        </a:rPr>
                        <a:t>Уволенный сотрудник</a:t>
                      </a:r>
                    </a:p>
                  </a:txBody>
                  <a:tcPr>
                    <a:solidFill>
                      <a:srgbClr val="0D1628"/>
                    </a:solidFill>
                  </a:tcPr>
                </a:tc>
                <a:tc>
                  <a:txBody>
                    <a:bodyPr wrap="square" lIns="76200" rIns="76200" tIns="38100" bIns="38100"/>
                    <a:lstStyle/>
                    <a:p>
                      <a:pPr algn="l"/>
                      <a:r>
                        <a:rPr sz="1100" b="0">
                          <a:solidFill>
                            <a:srgbClr val="E7E9EE"/>
                          </a:solidFill>
                          <a:latin typeface="Arial"/>
                        </a:rPr>
                        <a:t>Архивация мгновенно закрывает доступ</a:t>
                      </a:r>
                    </a:p>
                  </a:txBody>
                  <a:tcPr>
                    <a:solidFill>
                      <a:srgbClr val="0D1628"/>
                    </a:solidFill>
                  </a:tcPr>
                </a:tc>
              </a:tr>
              <a:tr h="317500">
                <a:tc>
                  <a:txBody>
                    <a:bodyPr wrap="square" lIns="76200" rIns="76200" tIns="38100" bIns="38100"/>
                    <a:lstStyle/>
                    <a:p>
                      <a:pPr algn="l"/>
                      <a:r>
                        <a:rPr sz="1100" b="0">
                          <a:solidFill>
                            <a:srgbClr val="E7E9EE"/>
                          </a:solidFill>
                          <a:latin typeface="Arial"/>
                        </a:rPr>
                        <a:t>Документы клиентов</a:t>
                      </a:r>
                    </a:p>
                  </a:txBody>
                  <a:tcPr>
                    <a:solidFill>
                      <a:srgbClr val="0B0C0F"/>
                    </a:solidFill>
                  </a:tcPr>
                </a:tc>
                <a:tc>
                  <a:txBody>
                    <a:bodyPr wrap="square" lIns="76200" rIns="76200" tIns="38100" bIns="38100"/>
                    <a:lstStyle/>
                    <a:p>
                      <a:pPr algn="l"/>
                      <a:r>
                        <a:rPr sz="1100" b="0">
                          <a:solidFill>
                            <a:srgbClr val="E7E9EE"/>
                          </a:solidFill>
                          <a:latin typeface="Arial"/>
                        </a:rPr>
                        <a:t>На сервере платформы, доступ только из CRM</a:t>
                      </a:r>
                    </a:p>
                  </a:txBody>
                  <a:tcPr>
                    <a:solidFill>
                      <a:srgbClr val="0B0C0F"/>
                    </a:solidFill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6E7582"/>
                </a:solidFill>
                <a:latin typeface="Arial"/>
              </a:rPr>
              <a:t>GoGlobal · база знаний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79615" y="6473952"/>
            <a:ext cx="4572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>
                <a:solidFill>
                  <a:srgbClr val="6E7582"/>
                </a:solidFill>
                <a:latin typeface="Arial"/>
              </a:rPr>
              <a:t>VII · Данные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C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080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11535" y="164592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E7582"/>
                </a:solidFill>
                <a:latin typeface="Arial"/>
              </a:rPr>
              <a:t>28 / 36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84048"/>
            <a:ext cx="82296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6366F1"/>
                </a:solidFill>
                <a:latin typeface="Arial"/>
              </a:rPr>
              <a:t>VIII · ПУТЬ КЛИЕНТА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58368"/>
            <a:ext cx="10911535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E7E9EE"/>
                </a:solidFill>
                <a:latin typeface="Arial"/>
              </a:rPr>
              <a:t>От заявки до отъезда — таймлайн</a:t>
            </a:r>
          </a:p>
        </p:txBody>
      </p:sp>
      <p:sp>
        <p:nvSpPr>
          <p:cNvPr id="7" name="Rectangle 6"/>
          <p:cNvSpPr/>
          <p:nvPr/>
        </p:nvSpPr>
        <p:spPr>
          <a:xfrm>
            <a:off x="868680" y="1554480"/>
            <a:ext cx="25400" cy="4663440"/>
          </a:xfrm>
          <a:prstGeom prst="rect">
            <a:avLst/>
          </a:prstGeom>
          <a:solidFill>
            <a:srgbClr val="2326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758952" y="1554480"/>
            <a:ext cx="237744" cy="237744"/>
          </a:xfrm>
          <a:prstGeom prst="ellipse">
            <a:avLst/>
          </a:prstGeom>
          <a:solidFill>
            <a:srgbClr val="0B0C0F"/>
          </a:solidFill>
          <a:ln w="22225">
            <a:solidFill>
              <a:srgbClr val="6366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234440" y="150876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1">
                <a:solidFill>
                  <a:srgbClr val="E7E9EE"/>
                </a:solidFill>
                <a:latin typeface="Arial"/>
              </a:rPr>
              <a:t>День 0 · 📨 Заявка на сайте</a:t>
            </a:r>
          </a:p>
          <a:p>
            <a:pPr algn="l"/>
            <a:r>
              <a:rPr sz="1100" b="0">
                <a:solidFill>
                  <a:srgbClr val="9AA1AE"/>
                </a:solidFill>
                <a:latin typeface="Arial"/>
              </a:rPr>
              <a:t>Айгуль заполнила форму → лид #1247 «Новый» упал Анне (правило «Япония → Анна») → push + SLA 3 ч</a:t>
            </a:r>
          </a:p>
        </p:txBody>
      </p:sp>
      <p:sp>
        <p:nvSpPr>
          <p:cNvPr id="10" name="Oval 9"/>
          <p:cNvSpPr/>
          <p:nvPr/>
        </p:nvSpPr>
        <p:spPr>
          <a:xfrm>
            <a:off x="758952" y="2231136"/>
            <a:ext cx="237744" cy="237744"/>
          </a:xfrm>
          <a:prstGeom prst="ellipse">
            <a:avLst/>
          </a:prstGeom>
          <a:solidFill>
            <a:srgbClr val="0B0C0F"/>
          </a:solidFill>
          <a:ln w="22225">
            <a:solidFill>
              <a:srgbClr val="6366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234440" y="2185416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1">
                <a:solidFill>
                  <a:srgbClr val="E7E9EE"/>
                </a:solidFill>
                <a:latin typeface="Arial"/>
              </a:rPr>
              <a:t>День 0, +20 мин · 💬 Первый контакт</a:t>
            </a:r>
          </a:p>
          <a:p>
            <a:pPr algn="l"/>
            <a:r>
              <a:rPr sz="1100" b="0">
                <a:solidFill>
                  <a:srgbClr val="9AA1AE"/>
                </a:solidFill>
                <a:latin typeface="Arial"/>
              </a:rPr>
              <a:t>Кнопка WhatsApp → шаблон «Приветствие» → разговор → статус «В работе»</a:t>
            </a:r>
          </a:p>
        </p:txBody>
      </p:sp>
      <p:sp>
        <p:nvSpPr>
          <p:cNvPr id="12" name="Oval 11"/>
          <p:cNvSpPr/>
          <p:nvPr/>
        </p:nvSpPr>
        <p:spPr>
          <a:xfrm>
            <a:off x="758952" y="2907792"/>
            <a:ext cx="237744" cy="237744"/>
          </a:xfrm>
          <a:prstGeom prst="ellipse">
            <a:avLst/>
          </a:prstGeom>
          <a:solidFill>
            <a:srgbClr val="0B0C0F"/>
          </a:solidFill>
          <a:ln w="22225">
            <a:solidFill>
              <a:srgbClr val="6366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34440" y="2862072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1">
                <a:solidFill>
                  <a:srgbClr val="E7E9EE"/>
                </a:solidFill>
                <a:latin typeface="Arial"/>
              </a:rPr>
              <a:t>День 2 · 🤝 Встреча в офисе</a:t>
            </a:r>
          </a:p>
          <a:p>
            <a:pPr algn="l"/>
            <a:r>
              <a:rPr sz="1100" b="0">
                <a:solidFill>
                  <a:srgbClr val="9AA1AE"/>
                </a:solidFill>
                <a:latin typeface="Arial"/>
              </a:rPr>
              <a:t>Статус «Подойдёт в офис» + дата → встреча в календаре → бюджет $15k</a:t>
            </a:r>
          </a:p>
        </p:txBody>
      </p:sp>
      <p:sp>
        <p:nvSpPr>
          <p:cNvPr id="14" name="Oval 13"/>
          <p:cNvSpPr/>
          <p:nvPr/>
        </p:nvSpPr>
        <p:spPr>
          <a:xfrm>
            <a:off x="758952" y="3584448"/>
            <a:ext cx="237744" cy="237744"/>
          </a:xfrm>
          <a:prstGeom prst="ellipse">
            <a:avLst/>
          </a:prstGeom>
          <a:solidFill>
            <a:srgbClr val="0B0C0F"/>
          </a:solidFill>
          <a:ln w="22225">
            <a:solidFill>
              <a:srgbClr val="6366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4440" y="353872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1">
                <a:solidFill>
                  <a:srgbClr val="E7E9EE"/>
                </a:solidFill>
                <a:latin typeface="Arial"/>
              </a:rPr>
              <a:t>День 3 · 📎 Документы и сделка</a:t>
            </a:r>
          </a:p>
          <a:p>
            <a:pPr algn="l"/>
            <a:r>
              <a:rPr sz="1100" b="0">
                <a:solidFill>
                  <a:srgbClr val="9AA1AE"/>
                </a:solidFill>
                <a:latin typeface="Arial"/>
              </a:rPr>
              <a:t>Паспорт и аттестат — в «Файлы». Сделка: $15 000, вероятность 70%, метка Hot</a:t>
            </a:r>
          </a:p>
        </p:txBody>
      </p:sp>
      <p:sp>
        <p:nvSpPr>
          <p:cNvPr id="16" name="Oval 15"/>
          <p:cNvSpPr/>
          <p:nvPr/>
        </p:nvSpPr>
        <p:spPr>
          <a:xfrm>
            <a:off x="758952" y="4261104"/>
            <a:ext cx="237744" cy="237744"/>
          </a:xfrm>
          <a:prstGeom prst="ellipse">
            <a:avLst/>
          </a:prstGeom>
          <a:solidFill>
            <a:srgbClr val="0B0C0F"/>
          </a:solidFill>
          <a:ln w="22225">
            <a:solidFill>
              <a:srgbClr val="6366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234440" y="4215384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1">
                <a:solidFill>
                  <a:srgbClr val="E7E9EE"/>
                </a:solidFill>
                <a:latin typeface="Arial"/>
              </a:rPr>
              <a:t>День 7 · 🎉 Контракт — Won</a:t>
            </a:r>
          </a:p>
          <a:p>
            <a:pPr algn="l"/>
            <a:r>
              <a:rPr sz="1100" b="0">
                <a:solidFill>
                  <a:srgbClr val="9AA1AE"/>
                </a:solidFill>
                <a:latin typeface="Arial"/>
              </a:rPr>
              <a:t>Лид перешёл во вторую воронку «Этапы клиента» → +1 в Leaderboard Анны</a:t>
            </a:r>
          </a:p>
        </p:txBody>
      </p:sp>
      <p:sp>
        <p:nvSpPr>
          <p:cNvPr id="18" name="Oval 17"/>
          <p:cNvSpPr/>
          <p:nvPr/>
        </p:nvSpPr>
        <p:spPr>
          <a:xfrm>
            <a:off x="758952" y="4937760"/>
            <a:ext cx="237744" cy="237744"/>
          </a:xfrm>
          <a:prstGeom prst="ellipse">
            <a:avLst/>
          </a:prstGeom>
          <a:solidFill>
            <a:srgbClr val="0B0C0F"/>
          </a:solidFill>
          <a:ln w="22225">
            <a:solidFill>
              <a:srgbClr val="6366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34440" y="48920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1">
                <a:solidFill>
                  <a:srgbClr val="E7E9EE"/>
                </a:solidFill>
                <a:latin typeface="Arial"/>
              </a:rPr>
              <a:t>Месяцы 1–6 · 🎓 Сопровождение</a:t>
            </a:r>
          </a:p>
          <a:p>
            <a:pPr algn="l"/>
            <a:r>
              <a:rPr sz="1100" b="0">
                <a:solidFill>
                  <a:srgbClr val="9AA1AE"/>
                </a:solidFill>
                <a:latin typeface="Arial"/>
              </a:rPr>
              <a:t>Оплата 1 → Документы → Языковой экзамен → Собеседование → Зачисление в Toyo University → Виза → Оплата → Отъезд</a:t>
            </a:r>
          </a:p>
        </p:txBody>
      </p:sp>
      <p:sp>
        <p:nvSpPr>
          <p:cNvPr id="20" name="Oval 19"/>
          <p:cNvSpPr/>
          <p:nvPr/>
        </p:nvSpPr>
        <p:spPr>
          <a:xfrm>
            <a:off x="758952" y="5614416"/>
            <a:ext cx="237744" cy="237744"/>
          </a:xfrm>
          <a:prstGeom prst="ellipse">
            <a:avLst/>
          </a:prstGeom>
          <a:solidFill>
            <a:srgbClr val="0B0C0F"/>
          </a:solidFill>
          <a:ln w="22225">
            <a:solidFill>
              <a:srgbClr val="6366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4440" y="5568696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1">
                <a:solidFill>
                  <a:srgbClr val="E7E9EE"/>
                </a:solidFill>
                <a:latin typeface="Arial"/>
              </a:rPr>
              <a:t>Месяц 6 · ✈️ Отъезд</a:t>
            </a:r>
          </a:p>
          <a:p>
            <a:pPr algn="l"/>
            <a:r>
              <a:rPr sz="1100" b="0">
                <a:solidFill>
                  <a:srgbClr val="9AA1AE"/>
                </a:solidFill>
                <a:latin typeface="Arial"/>
              </a:rPr>
              <a:t>Клиентка в Японии. Карточка остаётся в истории — для отзывов и рефералов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6E7582"/>
                </a:solidFill>
                <a:latin typeface="Arial"/>
              </a:rPr>
              <a:t>GoGlobal · база знаний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79615" y="6473952"/>
            <a:ext cx="4572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>
                <a:solidFill>
                  <a:srgbClr val="6E7582"/>
                </a:solidFill>
                <a:latin typeface="Arial"/>
              </a:rPr>
              <a:t>VIII · Путь клиента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C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080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11535" y="164592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E7582"/>
                </a:solidFill>
                <a:latin typeface="Arial"/>
              </a:rPr>
              <a:t>29 / 36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84048"/>
            <a:ext cx="82296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6366F1"/>
                </a:solidFill>
                <a:latin typeface="Arial"/>
              </a:rPr>
              <a:t>VIII · ПУТЬ КЛИЕНТА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58368"/>
            <a:ext cx="10911535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E7E9EE"/>
                </a:solidFill>
                <a:latin typeface="Arial"/>
              </a:rPr>
              <a:t>Что фиксируется на каждом шаге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417320"/>
          <a:ext cx="10881360" cy="254000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3200400"/>
                <a:gridCol w="3840480"/>
                <a:gridCol w="3840480"/>
              </a:tblGrid>
              <a:tr h="317500">
                <a:tc>
                  <a:txBody>
                    <a:bodyPr wrap="square" lIns="76200" rIns="76200" tIns="38100" bIns="38100"/>
                    <a:lstStyle/>
                    <a:p>
                      <a:pPr algn="l"/>
                      <a:r>
                        <a:rPr sz="1000" b="1">
                          <a:solidFill>
                            <a:srgbClr val="9AA1AE"/>
                          </a:solidFill>
                          <a:latin typeface="Arial"/>
                        </a:rPr>
                        <a:t>Шаг</a:t>
                      </a:r>
                    </a:p>
                  </a:txBody>
                  <a:tcPr>
                    <a:solidFill>
                      <a:srgbClr val="121419"/>
                    </a:solidFill>
                  </a:tcPr>
                </a:tc>
                <a:tc>
                  <a:txBody>
                    <a:bodyPr wrap="square" lIns="76200" rIns="76200" tIns="38100" bIns="38100"/>
                    <a:lstStyle/>
                    <a:p>
                      <a:pPr algn="l"/>
                      <a:r>
                        <a:rPr sz="1000" b="1">
                          <a:solidFill>
                            <a:srgbClr val="9AA1AE"/>
                          </a:solidFill>
                          <a:latin typeface="Arial"/>
                        </a:rPr>
                        <a:t>Что записала система</a:t>
                      </a:r>
                    </a:p>
                  </a:txBody>
                  <a:tcPr>
                    <a:solidFill>
                      <a:srgbClr val="121419"/>
                    </a:solidFill>
                  </a:tcPr>
                </a:tc>
                <a:tc>
                  <a:txBody>
                    <a:bodyPr wrap="square" lIns="76200" rIns="76200" tIns="38100" bIns="38100"/>
                    <a:lstStyle/>
                    <a:p>
                      <a:pPr algn="l"/>
                      <a:r>
                        <a:rPr sz="1000" b="1">
                          <a:solidFill>
                            <a:srgbClr val="9AA1AE"/>
                          </a:solidFill>
                          <a:latin typeface="Arial"/>
                        </a:rPr>
                        <a:t>Где видно потом</a:t>
                      </a:r>
                    </a:p>
                  </a:txBody>
                  <a:tcPr>
                    <a:solidFill>
                      <a:srgbClr val="121419"/>
                    </a:solidFill>
                  </a:tcPr>
                </a:tc>
              </a:tr>
              <a:tr h="317500">
                <a:tc>
                  <a:txBody>
                    <a:bodyPr wrap="square" lIns="76200" rIns="76200" tIns="38100" bIns="38100"/>
                    <a:lstStyle/>
                    <a:p>
                      <a:pPr algn="l"/>
                      <a:r>
                        <a:rPr sz="1100" b="0">
                          <a:solidFill>
                            <a:srgbClr val="E7E9EE"/>
                          </a:solidFill>
                          <a:latin typeface="Arial"/>
                        </a:rPr>
                        <a:t>Заявка пришла</a:t>
                      </a:r>
                    </a:p>
                  </a:txBody>
                  <a:tcPr>
                    <a:solidFill>
                      <a:srgbClr val="0B0C0F"/>
                    </a:solidFill>
                  </a:tcPr>
                </a:tc>
                <a:tc>
                  <a:txBody>
                    <a:bodyPr wrap="square" lIns="76200" rIns="76200" tIns="38100" bIns="38100"/>
                    <a:lstStyle/>
                    <a:p>
                      <a:pPr algn="l"/>
                      <a:r>
                        <a:rPr sz="1100" b="0">
                          <a:solidFill>
                            <a:srgbClr val="E7E9EE"/>
                          </a:solidFill>
                          <a:latin typeface="Arial"/>
                        </a:rPr>
                        <a:t>Время, источник, UTM</a:t>
                      </a:r>
                    </a:p>
                  </a:txBody>
                  <a:tcPr>
                    <a:solidFill>
                      <a:srgbClr val="0B0C0F"/>
                    </a:solidFill>
                  </a:tcPr>
                </a:tc>
                <a:tc>
                  <a:txBody>
                    <a:bodyPr wrap="square" lIns="76200" rIns="76200" tIns="38100" bIns="38100"/>
                    <a:lstStyle/>
                    <a:p>
                      <a:pPr algn="l"/>
                      <a:r>
                        <a:rPr sz="1100" b="0">
                          <a:solidFill>
                            <a:srgbClr val="E7E9EE"/>
                          </a:solidFill>
                          <a:latin typeface="Arial"/>
                        </a:rPr>
                        <a:t>Heatmap · ROI источников</a:t>
                      </a:r>
                    </a:p>
                  </a:txBody>
                  <a:tcPr>
                    <a:solidFill>
                      <a:srgbClr val="0B0C0F"/>
                    </a:solidFill>
                  </a:tcPr>
                </a:tc>
              </a:tr>
              <a:tr h="317500">
                <a:tc>
                  <a:txBody>
                    <a:bodyPr wrap="square" lIns="76200" rIns="76200" tIns="38100" bIns="38100"/>
                    <a:lstStyle/>
                    <a:p>
                      <a:pPr algn="l"/>
                      <a:r>
                        <a:rPr sz="1100" b="0">
                          <a:solidFill>
                            <a:srgbClr val="E7E9EE"/>
                          </a:solidFill>
                          <a:latin typeface="Arial"/>
                        </a:rPr>
                        <a:t>Первый ответ</a:t>
                      </a:r>
                    </a:p>
                  </a:txBody>
                  <a:tcPr>
                    <a:solidFill>
                      <a:srgbClr val="0D1628"/>
                    </a:solidFill>
                  </a:tcPr>
                </a:tc>
                <a:tc>
                  <a:txBody>
                    <a:bodyPr wrap="square" lIns="76200" rIns="76200" tIns="38100" bIns="38100"/>
                    <a:lstStyle/>
                    <a:p>
                      <a:pPr algn="l"/>
                      <a:r>
                        <a:rPr sz="1100" b="0">
                          <a:solidFill>
                            <a:srgbClr val="E7E9EE"/>
                          </a:solidFill>
                          <a:latin typeface="Arial"/>
                        </a:rPr>
                        <a:t>Время реакции менеджера</a:t>
                      </a:r>
                    </a:p>
                  </a:txBody>
                  <a:tcPr>
                    <a:solidFill>
                      <a:srgbClr val="0D1628"/>
                    </a:solidFill>
                  </a:tcPr>
                </a:tc>
                <a:tc>
                  <a:txBody>
                    <a:bodyPr wrap="square" lIns="76200" rIns="76200" tIns="38100" bIns="38100"/>
                    <a:lstStyle/>
                    <a:p>
                      <a:pPr algn="l"/>
                      <a:r>
                        <a:rPr sz="1100" b="0">
                          <a:solidFill>
                            <a:srgbClr val="E7E9EE"/>
                          </a:solidFill>
                          <a:latin typeface="Arial"/>
                        </a:rPr>
                        <a:t>Скорость отклика · SLA</a:t>
                      </a:r>
                    </a:p>
                  </a:txBody>
                  <a:tcPr>
                    <a:solidFill>
                      <a:srgbClr val="0D1628"/>
                    </a:solidFill>
                  </a:tcPr>
                </a:tc>
              </a:tr>
              <a:tr h="317500">
                <a:tc>
                  <a:txBody>
                    <a:bodyPr wrap="square" lIns="76200" rIns="76200" tIns="38100" bIns="38100"/>
                    <a:lstStyle/>
                    <a:p>
                      <a:pPr algn="l"/>
                      <a:r>
                        <a:rPr sz="1100" b="0">
                          <a:solidFill>
                            <a:srgbClr val="E7E9EE"/>
                          </a:solidFill>
                          <a:latin typeface="Arial"/>
                        </a:rPr>
                        <a:t>Каждый звонок/WhatsApp</a:t>
                      </a:r>
                    </a:p>
                  </a:txBody>
                  <a:tcPr>
                    <a:solidFill>
                      <a:srgbClr val="0B0C0F"/>
                    </a:solidFill>
                  </a:tcPr>
                </a:tc>
                <a:tc>
                  <a:txBody>
                    <a:bodyPr wrap="square" lIns="76200" rIns="76200" tIns="38100" bIns="38100"/>
                    <a:lstStyle/>
                    <a:p>
                      <a:pPr algn="l"/>
                      <a:r>
                        <a:rPr sz="1100" b="0">
                          <a:solidFill>
                            <a:srgbClr val="E7E9EE"/>
                          </a:solidFill>
                          <a:latin typeface="Arial"/>
                        </a:rPr>
                        <a:t>Касание: канал + время</a:t>
                      </a:r>
                    </a:p>
                  </a:txBody>
                  <a:tcPr>
                    <a:solidFill>
                      <a:srgbClr val="0B0C0F"/>
                    </a:solidFill>
                  </a:tcPr>
                </a:tc>
                <a:tc>
                  <a:txBody>
                    <a:bodyPr wrap="square" lIns="76200" rIns="76200" tIns="38100" bIns="38100"/>
                    <a:lstStyle/>
                    <a:p>
                      <a:pPr algn="l"/>
                      <a:r>
                        <a:rPr sz="1100" b="0">
                          <a:solidFill>
                            <a:srgbClr val="E7E9EE"/>
                          </a:solidFill>
                          <a:latin typeface="Arial"/>
                        </a:rPr>
                        <a:t>Leaderboard (касания/день)</a:t>
                      </a:r>
                    </a:p>
                  </a:txBody>
                  <a:tcPr>
                    <a:solidFill>
                      <a:srgbClr val="0B0C0F"/>
                    </a:solidFill>
                  </a:tcPr>
                </a:tc>
              </a:tr>
              <a:tr h="317500">
                <a:tc>
                  <a:txBody>
                    <a:bodyPr wrap="square" lIns="76200" rIns="76200" tIns="38100" bIns="38100"/>
                    <a:lstStyle/>
                    <a:p>
                      <a:pPr algn="l"/>
                      <a:r>
                        <a:rPr sz="1100" b="0">
                          <a:solidFill>
                            <a:srgbClr val="E7E9EE"/>
                          </a:solidFill>
                          <a:latin typeface="Arial"/>
                        </a:rPr>
                        <a:t>Смена статуса</a:t>
                      </a:r>
                    </a:p>
                  </a:txBody>
                  <a:tcPr>
                    <a:solidFill>
                      <a:srgbClr val="0D1628"/>
                    </a:solidFill>
                  </a:tcPr>
                </a:tc>
                <a:tc>
                  <a:txBody>
                    <a:bodyPr wrap="square" lIns="76200" rIns="76200" tIns="38100" bIns="38100"/>
                    <a:lstStyle/>
                    <a:p>
                      <a:pPr algn="l"/>
                      <a:r>
                        <a:rPr sz="1100" b="0">
                          <a:solidFill>
                            <a:srgbClr val="E7E9EE"/>
                          </a:solidFill>
                          <a:latin typeface="Arial"/>
                        </a:rPr>
                        <a:t>Кто, когда, из какого в какой</a:t>
                      </a:r>
                    </a:p>
                  </a:txBody>
                  <a:tcPr>
                    <a:solidFill>
                      <a:srgbClr val="0D1628"/>
                    </a:solidFill>
                  </a:tcPr>
                </a:tc>
                <a:tc>
                  <a:txBody>
                    <a:bodyPr wrap="square" lIns="76200" rIns="76200" tIns="38100" bIns="38100"/>
                    <a:lstStyle/>
                    <a:p>
                      <a:pPr algn="l"/>
                      <a:r>
                        <a:rPr sz="1100" b="0">
                          <a:solidFill>
                            <a:srgbClr val="E7E9EE"/>
                          </a:solidFill>
                          <a:latin typeface="Arial"/>
                        </a:rPr>
                        <a:t>Время в статусах · Аудит</a:t>
                      </a:r>
                    </a:p>
                  </a:txBody>
                  <a:tcPr>
                    <a:solidFill>
                      <a:srgbClr val="0D1628"/>
                    </a:solidFill>
                  </a:tcPr>
                </a:tc>
              </a:tr>
              <a:tr h="317500">
                <a:tc>
                  <a:txBody>
                    <a:bodyPr wrap="square" lIns="76200" rIns="76200" tIns="38100" bIns="38100"/>
                    <a:lstStyle/>
                    <a:p>
                      <a:pPr algn="l"/>
                      <a:r>
                        <a:rPr sz="1100" b="0">
                          <a:solidFill>
                            <a:srgbClr val="E7E9EE"/>
                          </a:solidFill>
                          <a:latin typeface="Arial"/>
                        </a:rPr>
                        <a:t>Сумма сделки</a:t>
                      </a:r>
                    </a:p>
                  </a:txBody>
                  <a:tcPr>
                    <a:solidFill>
                      <a:srgbClr val="0B0C0F"/>
                    </a:solidFill>
                  </a:tcPr>
                </a:tc>
                <a:tc>
                  <a:txBody>
                    <a:bodyPr wrap="square" lIns="76200" rIns="76200" tIns="38100" bIns="38100"/>
                    <a:lstStyle/>
                    <a:p>
                      <a:pPr algn="l"/>
                      <a:r>
                        <a:rPr sz="1100" b="0">
                          <a:solidFill>
                            <a:srgbClr val="E7E9EE"/>
                          </a:solidFill>
                          <a:latin typeface="Arial"/>
                        </a:rPr>
                        <a:t>$ и вероятность</a:t>
                      </a:r>
                    </a:p>
                  </a:txBody>
                  <a:tcPr>
                    <a:solidFill>
                      <a:srgbClr val="0B0C0F"/>
                    </a:solidFill>
                  </a:tcPr>
                </a:tc>
                <a:tc>
                  <a:txBody>
                    <a:bodyPr wrap="square" lIns="76200" rIns="76200" tIns="38100" bIns="38100"/>
                    <a:lstStyle/>
                    <a:p>
                      <a:pPr algn="l"/>
                      <a:r>
                        <a:rPr sz="1100" b="0">
                          <a:solidFill>
                            <a:srgbClr val="E7E9EE"/>
                          </a:solidFill>
                          <a:latin typeface="Arial"/>
                        </a:rPr>
                        <a:t>Прогноз выручки в Дашборде</a:t>
                      </a:r>
                    </a:p>
                  </a:txBody>
                  <a:tcPr>
                    <a:solidFill>
                      <a:srgbClr val="0B0C0F"/>
                    </a:solidFill>
                  </a:tcPr>
                </a:tc>
              </a:tr>
              <a:tr h="317500">
                <a:tc>
                  <a:txBody>
                    <a:bodyPr wrap="square" lIns="76200" rIns="76200" tIns="38100" bIns="38100"/>
                    <a:lstStyle/>
                    <a:p>
                      <a:pPr algn="l"/>
                      <a:r>
                        <a:rPr sz="1100" b="0">
                          <a:solidFill>
                            <a:srgbClr val="E7E9EE"/>
                          </a:solidFill>
                          <a:latin typeface="Arial"/>
                        </a:rPr>
                        <a:t>Won/Lost</a:t>
                      </a:r>
                    </a:p>
                  </a:txBody>
                  <a:tcPr>
                    <a:solidFill>
                      <a:srgbClr val="0D1628"/>
                    </a:solidFill>
                  </a:tcPr>
                </a:tc>
                <a:tc>
                  <a:txBody>
                    <a:bodyPr wrap="square" lIns="76200" rIns="76200" tIns="38100" bIns="38100"/>
                    <a:lstStyle/>
                    <a:p>
                      <a:pPr algn="l"/>
                      <a:r>
                        <a:rPr sz="1100" b="0">
                          <a:solidFill>
                            <a:srgbClr val="E7E9EE"/>
                          </a:solidFill>
                          <a:latin typeface="Arial"/>
                        </a:rPr>
                        <a:t>Результат + причина отказа</a:t>
                      </a:r>
                    </a:p>
                  </a:txBody>
                  <a:tcPr>
                    <a:solidFill>
                      <a:srgbClr val="0D1628"/>
                    </a:solidFill>
                  </a:tcPr>
                </a:tc>
                <a:tc>
                  <a:txBody>
                    <a:bodyPr wrap="square" lIns="76200" rIns="76200" tIns="38100" bIns="38100"/>
                    <a:lstStyle/>
                    <a:p>
                      <a:pPr algn="l"/>
                      <a:r>
                        <a:rPr sz="1100" b="0">
                          <a:solidFill>
                            <a:srgbClr val="E7E9EE"/>
                          </a:solidFill>
                          <a:latin typeface="Arial"/>
                        </a:rPr>
                        <a:t>Конверсия · Причины отказов</a:t>
                      </a:r>
                    </a:p>
                  </a:txBody>
                  <a:tcPr>
                    <a:solidFill>
                      <a:srgbClr val="0D1628"/>
                    </a:solidFill>
                  </a:tcPr>
                </a:tc>
              </a:tr>
              <a:tr h="317500">
                <a:tc>
                  <a:txBody>
                    <a:bodyPr wrap="square" lIns="76200" rIns="76200" tIns="38100" bIns="38100"/>
                    <a:lstStyle/>
                    <a:p>
                      <a:pPr algn="l"/>
                      <a:r>
                        <a:rPr sz="1100" b="0">
                          <a:solidFill>
                            <a:srgbClr val="E7E9EE"/>
                          </a:solidFill>
                          <a:latin typeface="Arial"/>
                        </a:rPr>
                        <a:t>Этапы после Won</a:t>
                      </a:r>
                    </a:p>
                  </a:txBody>
                  <a:tcPr>
                    <a:solidFill>
                      <a:srgbClr val="0B0C0F"/>
                    </a:solidFill>
                  </a:tcPr>
                </a:tc>
                <a:tc>
                  <a:txBody>
                    <a:bodyPr wrap="square" lIns="76200" rIns="76200" tIns="38100" bIns="38100"/>
                    <a:lstStyle/>
                    <a:p>
                      <a:pPr algn="l"/>
                      <a:r>
                        <a:rPr sz="1100" b="0">
                          <a:solidFill>
                            <a:srgbClr val="E7E9EE"/>
                          </a:solidFill>
                          <a:latin typeface="Arial"/>
                        </a:rPr>
                        <a:t>Прогресс сопровождения</a:t>
                      </a:r>
                    </a:p>
                  </a:txBody>
                  <a:tcPr>
                    <a:solidFill>
                      <a:srgbClr val="0B0C0F"/>
                    </a:solidFill>
                  </a:tcPr>
                </a:tc>
                <a:tc>
                  <a:txBody>
                    <a:bodyPr wrap="square" lIns="76200" rIns="76200" tIns="38100" bIns="38100"/>
                    <a:lstStyle/>
                    <a:p>
                      <a:pPr algn="l"/>
                      <a:r>
                        <a:rPr sz="1100" b="0">
                          <a:solidFill>
                            <a:srgbClr val="E7E9EE"/>
                          </a:solidFill>
                          <a:latin typeface="Arial"/>
                        </a:rPr>
                        <a:t>Канбан «Этапы клиентов»</a:t>
                      </a:r>
                    </a:p>
                  </a:txBody>
                  <a:tcPr>
                    <a:solidFill>
                      <a:srgbClr val="0B0C0F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640080" y="4572000"/>
            <a:ext cx="5349240" cy="1645920"/>
          </a:xfrm>
          <a:prstGeom prst="roundRect">
            <a:avLst>
              <a:gd name="adj" fmla="val 6000"/>
            </a:avLst>
          </a:prstGeom>
          <a:solidFill>
            <a:srgbClr val="121419"/>
          </a:solidFill>
          <a:ln w="9525">
            <a:solidFill>
              <a:srgbClr val="2326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4709160"/>
            <a:ext cx="4937760" cy="1417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6366F1"/>
                </a:solidFill>
                <a:latin typeface="Arial"/>
              </a:rPr>
              <a:t>ГЛАВНАЯ МЫСЛЬ</a:t>
            </a:r>
          </a:p>
          <a:p>
            <a:pPr algn="l"/>
            <a:r>
              <a:rPr sz="1150" b="0">
                <a:solidFill>
                  <a:srgbClr val="9AA1AE"/>
                </a:solidFill>
                <a:latin typeface="Arial"/>
              </a:rPr>
              <a:t>Менеджер просто работает — звонит, пишет, двигает статусы. Вся аналитика собирается сама.</a:t>
            </a:r>
          </a:p>
          <a:p>
            <a:pPr algn="l"/>
            <a:r>
              <a:rPr sz="1150" b="1">
                <a:solidFill>
                  <a:srgbClr val="E7E9EE"/>
                </a:solidFill>
                <a:latin typeface="Arial"/>
              </a:rPr>
              <a:t>Никто ничего не заполняет «для отчёта».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2200" y="4572000"/>
            <a:ext cx="5349240" cy="1645920"/>
          </a:xfrm>
          <a:prstGeom prst="roundRect">
            <a:avLst>
              <a:gd name="adj" fmla="val 6000"/>
            </a:avLst>
          </a:prstGeom>
          <a:solidFill>
            <a:srgbClr val="121419"/>
          </a:solidFill>
          <a:ln w="9525">
            <a:solidFill>
              <a:srgbClr val="2326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0" y="4709160"/>
            <a:ext cx="4937760" cy="1417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86EFAC"/>
                </a:solidFill>
                <a:latin typeface="Arial"/>
              </a:rPr>
              <a:t>ДЛЯ КЛИЕНТА ЭТО ЗНАЧИТ</a:t>
            </a:r>
          </a:p>
          <a:p>
            <a:pPr algn="l"/>
            <a:r>
              <a:rPr sz="1150" b="0">
                <a:solidFill>
                  <a:srgbClr val="9AA1AE"/>
                </a:solidFill>
                <a:latin typeface="Arial"/>
              </a:rPr>
              <a:t>Его не «теряют»: любой менеджер откроет карточку и за 30 секунд поймёт всю историю —</a:t>
            </a:r>
          </a:p>
          <a:p>
            <a:pPr algn="l"/>
            <a:r>
              <a:rPr sz="1150" b="0">
                <a:solidFill>
                  <a:srgbClr val="9AA1AE"/>
                </a:solidFill>
                <a:latin typeface="Arial"/>
              </a:rPr>
              <a:t>кто что обещал, какие документы есть, что дальше.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6E7582"/>
                </a:solidFill>
                <a:latin typeface="Arial"/>
              </a:rPr>
              <a:t>GoGlobal · база знаний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79615" y="6473952"/>
            <a:ext cx="4572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>
                <a:solidFill>
                  <a:srgbClr val="6E7582"/>
                </a:solidFill>
                <a:latin typeface="Arial"/>
              </a:rPr>
              <a:t>VIII · Метрики пути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C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080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11535" y="164592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E7582"/>
                </a:solidFill>
                <a:latin typeface="Arial"/>
              </a:rPr>
              <a:t>30 / 36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84048"/>
            <a:ext cx="82296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6366F1"/>
                </a:solidFill>
                <a:latin typeface="Arial"/>
              </a:rPr>
              <a:t>IX · ИСТОРИИ ИЗ ПРАКТИКИ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58368"/>
            <a:ext cx="10911535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E7E9EE"/>
                </a:solidFill>
                <a:latin typeface="Arial"/>
              </a:rPr>
              <a:t>История 1 · Утро менеджера Анны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371600"/>
            <a:ext cx="5303520" cy="914400"/>
          </a:xfrm>
          <a:prstGeom prst="roundRect">
            <a:avLst>
              <a:gd name="adj" fmla="val 6000"/>
            </a:avLst>
          </a:prstGeom>
          <a:solidFill>
            <a:srgbClr val="121419"/>
          </a:solidFill>
          <a:ln w="9525">
            <a:solidFill>
              <a:srgbClr val="2326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481328"/>
            <a:ext cx="49377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E7E9EE"/>
                </a:solidFill>
                <a:latin typeface="Arial"/>
              </a:rPr>
              <a:t>Анна Иванова</a:t>
            </a:r>
            <a:r>
              <a:rPr sz="1100" b="0">
                <a:solidFill>
                  <a:srgbClr val="6E7582"/>
                </a:solidFill>
                <a:latin typeface="Arial"/>
              </a:rPr>
              <a:t>  · менеджер · 18 won за неделю</a:t>
            </a:r>
          </a:p>
          <a:p>
            <a:pPr algn="l"/>
            <a:r>
              <a:rPr sz="1150" b="0">
                <a:solidFill>
                  <a:srgbClr val="9AA1AE"/>
                </a:solidFill>
                <a:latin typeface="Arial"/>
              </a:rPr>
              <a:t>«Я не думаю утром, что делать первым. CRM уже подумала за меня».</a:t>
            </a:r>
          </a:p>
        </p:txBody>
      </p:sp>
      <p:sp>
        <p:nvSpPr>
          <p:cNvPr id="9" name="Oval 8"/>
          <p:cNvSpPr/>
          <p:nvPr/>
        </p:nvSpPr>
        <p:spPr>
          <a:xfrm>
            <a:off x="640080" y="2560320"/>
            <a:ext cx="292608" cy="292608"/>
          </a:xfrm>
          <a:prstGeom prst="ellipse">
            <a:avLst/>
          </a:prstGeom>
          <a:solidFill>
            <a:srgbClr val="121419"/>
          </a:solidFill>
          <a:ln w="12700">
            <a:solidFill>
              <a:srgbClr val="6366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6366F1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8992" y="2523744"/>
            <a:ext cx="4846320" cy="58521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1">
                <a:solidFill>
                  <a:srgbClr val="E7E9EE"/>
                </a:solidFill>
                <a:latin typeface="Arial"/>
              </a:rPr>
              <a:t>09:00 · Открыла /lidy</a:t>
            </a:r>
          </a:p>
          <a:p>
            <a:pPr algn="l"/>
            <a:r>
              <a:rPr sz="1000" b="0">
                <a:solidFill>
                  <a:srgbClr val="9AA1AE"/>
                </a:solidFill>
                <a:latin typeface="Arial"/>
              </a:rPr>
              <a:t>«Мой день»: 3 встречи, 5 горячих, 2 просрочки</a:t>
            </a:r>
          </a:p>
        </p:txBody>
      </p:sp>
      <p:sp>
        <p:nvSpPr>
          <p:cNvPr id="11" name="Oval 10"/>
          <p:cNvSpPr/>
          <p:nvPr/>
        </p:nvSpPr>
        <p:spPr>
          <a:xfrm>
            <a:off x="640080" y="3145536"/>
            <a:ext cx="292608" cy="292608"/>
          </a:xfrm>
          <a:prstGeom prst="ellipse">
            <a:avLst/>
          </a:prstGeom>
          <a:solidFill>
            <a:srgbClr val="121419"/>
          </a:solidFill>
          <a:ln w="12700">
            <a:solidFill>
              <a:srgbClr val="6366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6366F1"/>
                </a:solidFill>
                <a:latin typeface="Arial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78992" y="3108960"/>
            <a:ext cx="4846320" cy="58521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1">
                <a:solidFill>
                  <a:srgbClr val="E7E9EE"/>
                </a:solidFill>
                <a:latin typeface="Arial"/>
              </a:rPr>
              <a:t>09:02 · Inbox 0</a:t>
            </a:r>
          </a:p>
          <a:p>
            <a:pPr algn="l"/>
            <a:r>
              <a:rPr sz="1000" b="0">
                <a:solidFill>
                  <a:srgbClr val="9AA1AE"/>
                </a:solidFill>
                <a:latin typeface="Arial"/>
              </a:rPr>
              <a:t>Из 47 лидов осталось 8 требующих действия</a:t>
            </a:r>
          </a:p>
        </p:txBody>
      </p:sp>
      <p:sp>
        <p:nvSpPr>
          <p:cNvPr id="13" name="Oval 12"/>
          <p:cNvSpPr/>
          <p:nvPr/>
        </p:nvSpPr>
        <p:spPr>
          <a:xfrm>
            <a:off x="640080" y="3730752"/>
            <a:ext cx="292608" cy="292608"/>
          </a:xfrm>
          <a:prstGeom prst="ellipse">
            <a:avLst/>
          </a:prstGeom>
          <a:solidFill>
            <a:srgbClr val="121419"/>
          </a:solidFill>
          <a:ln w="12700">
            <a:solidFill>
              <a:srgbClr val="6366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6366F1"/>
                </a:solidFill>
                <a:latin typeface="Arial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992" y="3694176"/>
            <a:ext cx="4846320" cy="58521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1">
                <a:solidFill>
                  <a:srgbClr val="E7E9EE"/>
                </a:solidFill>
                <a:latin typeface="Arial"/>
              </a:rPr>
              <a:t>09:05 · Закрыла просрочки</a:t>
            </a:r>
          </a:p>
          <a:p>
            <a:pPr algn="l"/>
            <a:r>
              <a:rPr sz="1000" b="0">
                <a:solidFill>
                  <a:srgbClr val="9AA1AE"/>
                </a:solidFill>
                <a:latin typeface="Arial"/>
              </a:rPr>
              <a:t>2 звонка — задачи закрыты</a:t>
            </a:r>
          </a:p>
        </p:txBody>
      </p:sp>
      <p:sp>
        <p:nvSpPr>
          <p:cNvPr id="15" name="Oval 14"/>
          <p:cNvSpPr/>
          <p:nvPr/>
        </p:nvSpPr>
        <p:spPr>
          <a:xfrm>
            <a:off x="640080" y="4315968"/>
            <a:ext cx="292608" cy="292608"/>
          </a:xfrm>
          <a:prstGeom prst="ellipse">
            <a:avLst/>
          </a:prstGeom>
          <a:solidFill>
            <a:srgbClr val="121419"/>
          </a:solidFill>
          <a:ln w="12700">
            <a:solidFill>
              <a:srgbClr val="6366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6366F1"/>
                </a:solidFill>
                <a:latin typeface="Arial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78992" y="4279392"/>
            <a:ext cx="4846320" cy="58521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1">
                <a:solidFill>
                  <a:srgbClr val="E7E9EE"/>
                </a:solidFill>
                <a:latin typeface="Arial"/>
              </a:rPr>
              <a:t>09:20 · Новые лиды</a:t>
            </a:r>
          </a:p>
          <a:p>
            <a:pPr algn="l"/>
            <a:r>
              <a:rPr sz="1000" b="0">
                <a:solidFill>
                  <a:srgbClr val="9AA1AE"/>
                </a:solidFill>
                <a:latin typeface="Arial"/>
              </a:rPr>
              <a:t>3 шаблона «Приветствие» в WhatsApp</a:t>
            </a:r>
          </a:p>
        </p:txBody>
      </p:sp>
      <p:sp>
        <p:nvSpPr>
          <p:cNvPr id="17" name="Oval 16"/>
          <p:cNvSpPr/>
          <p:nvPr/>
        </p:nvSpPr>
        <p:spPr>
          <a:xfrm>
            <a:off x="640080" y="4901184"/>
            <a:ext cx="292608" cy="292608"/>
          </a:xfrm>
          <a:prstGeom prst="ellipse">
            <a:avLst/>
          </a:prstGeom>
          <a:solidFill>
            <a:srgbClr val="121419"/>
          </a:solidFill>
          <a:ln w="12700">
            <a:solidFill>
              <a:srgbClr val="6366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6366F1"/>
                </a:solidFill>
                <a:latin typeface="Arial"/>
              </a:rPr>
              <a:t>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78992" y="4864608"/>
            <a:ext cx="4846320" cy="58521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1">
                <a:solidFill>
                  <a:srgbClr val="E7E9EE"/>
                </a:solidFill>
                <a:latin typeface="Arial"/>
              </a:rPr>
              <a:t>10:00 · Уехала на встречу</a:t>
            </a:r>
          </a:p>
          <a:p>
            <a:pPr algn="l"/>
            <a:r>
              <a:rPr sz="1000" b="0">
                <a:solidFill>
                  <a:srgbClr val="9AA1AE"/>
                </a:solidFill>
                <a:latin typeface="Arial"/>
              </a:rPr>
              <a:t>Тумблер «не в сети» — лиды идут коллегам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17920" y="1463040"/>
            <a:ext cx="2560320" cy="868680"/>
          </a:xfrm>
          <a:prstGeom prst="roundRect">
            <a:avLst>
              <a:gd name="adj" fmla="val 6000"/>
            </a:avLst>
          </a:prstGeom>
          <a:solidFill>
            <a:srgbClr val="121419"/>
          </a:solidFill>
          <a:ln w="9525">
            <a:solidFill>
              <a:srgbClr val="2326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55080" y="1554480"/>
            <a:ext cx="228600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1">
                <a:solidFill>
                  <a:srgbClr val="6E7582"/>
                </a:solidFill>
                <a:latin typeface="Arial"/>
              </a:rPr>
              <a:t>ОБРАБОТАНО</a:t>
            </a:r>
          </a:p>
          <a:p>
            <a:pPr algn="l"/>
            <a:r>
              <a:rPr sz="2200" b="1">
                <a:solidFill>
                  <a:srgbClr val="E7E9EE"/>
                </a:solidFill>
                <a:latin typeface="Arial"/>
              </a:rPr>
              <a:t>12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15400" y="1463040"/>
            <a:ext cx="2560320" cy="868680"/>
          </a:xfrm>
          <a:prstGeom prst="roundRect">
            <a:avLst>
              <a:gd name="adj" fmla="val 6000"/>
            </a:avLst>
          </a:prstGeom>
          <a:solidFill>
            <a:srgbClr val="121419"/>
          </a:solidFill>
          <a:ln w="9525">
            <a:solidFill>
              <a:srgbClr val="2326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052560" y="1554480"/>
            <a:ext cx="228600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1">
                <a:solidFill>
                  <a:srgbClr val="6E7582"/>
                </a:solidFill>
                <a:latin typeface="Arial"/>
              </a:rPr>
              <a:t>КАСАНИЙ</a:t>
            </a:r>
          </a:p>
          <a:p>
            <a:pPr algn="l"/>
            <a:r>
              <a:rPr sz="2200" b="1">
                <a:solidFill>
                  <a:srgbClr val="E7E9EE"/>
                </a:solidFill>
                <a:latin typeface="Arial"/>
              </a:rPr>
              <a:t>28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17920" y="2468880"/>
            <a:ext cx="2560320" cy="868680"/>
          </a:xfrm>
          <a:prstGeom prst="roundRect">
            <a:avLst>
              <a:gd name="adj" fmla="val 6000"/>
            </a:avLst>
          </a:prstGeom>
          <a:solidFill>
            <a:srgbClr val="121419"/>
          </a:solidFill>
          <a:ln w="9525">
            <a:solidFill>
              <a:srgbClr val="2326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55080" y="2560320"/>
            <a:ext cx="228600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1">
                <a:solidFill>
                  <a:srgbClr val="6E7582"/>
                </a:solidFill>
                <a:latin typeface="Arial"/>
              </a:rPr>
              <a:t>WON</a:t>
            </a:r>
          </a:p>
          <a:p>
            <a:pPr algn="l"/>
            <a:r>
              <a:rPr sz="2200" b="1">
                <a:solidFill>
                  <a:srgbClr val="86EFAC"/>
                </a:solidFill>
                <a:latin typeface="Arial"/>
              </a:rPr>
              <a:t>2 · $24.5k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915400" y="2468880"/>
            <a:ext cx="2560320" cy="868680"/>
          </a:xfrm>
          <a:prstGeom prst="roundRect">
            <a:avLst>
              <a:gd name="adj" fmla="val 6000"/>
            </a:avLst>
          </a:prstGeom>
          <a:solidFill>
            <a:srgbClr val="121419"/>
          </a:solidFill>
          <a:ln w="9525">
            <a:solidFill>
              <a:srgbClr val="2326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052560" y="2560320"/>
            <a:ext cx="228600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1">
                <a:solidFill>
                  <a:srgbClr val="6E7582"/>
                </a:solidFill>
                <a:latin typeface="Arial"/>
              </a:rPr>
              <a:t>INBOX 0</a:t>
            </a:r>
          </a:p>
          <a:p>
            <a:pPr algn="l"/>
            <a:r>
              <a:rPr sz="2200" b="1">
                <a:solidFill>
                  <a:srgbClr val="86EFAC"/>
                </a:solidFill>
                <a:latin typeface="Arial"/>
              </a:rPr>
              <a:t>✓ пуст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17920" y="3611880"/>
            <a:ext cx="5303520" cy="2103120"/>
          </a:xfrm>
          <a:prstGeom prst="roundRect">
            <a:avLst>
              <a:gd name="adj" fmla="val 6000"/>
            </a:avLst>
          </a:prstGeom>
          <a:solidFill>
            <a:srgbClr val="121419"/>
          </a:solidFill>
          <a:ln w="9525">
            <a:solidFill>
              <a:srgbClr val="2326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46520" y="3749039"/>
            <a:ext cx="4846320" cy="187451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86EFAC"/>
                </a:solidFill>
                <a:latin typeface="Arial"/>
              </a:rPr>
              <a:t>ПОЧЕМУ ЭТО РАБОТАЕТ</a:t>
            </a:r>
          </a:p>
          <a:p>
            <a:pPr algn="l"/>
            <a:r>
              <a:rPr sz="1200" b="1">
                <a:solidFill>
                  <a:srgbClr val="E7E9EE"/>
                </a:solidFill>
                <a:latin typeface="Arial"/>
              </a:rPr>
              <a:t>Система всегда показывает следующий шаг.</a:t>
            </a:r>
          </a:p>
          <a:p>
            <a:pPr algn="l"/>
            <a:r>
              <a:rPr sz="1150" b="0">
                <a:solidFill>
                  <a:srgbClr val="9AA1AE"/>
                </a:solidFill>
                <a:latin typeface="Arial"/>
              </a:rPr>
              <a:t>Меньше решений «что делать» → меньше усталость → выше конверсия.</a:t>
            </a:r>
          </a:p>
          <a:p>
            <a:pPr algn="l"/>
            <a:r>
              <a:rPr sz="1150" b="0">
                <a:solidFill>
                  <a:srgbClr val="9AA1AE"/>
                </a:solidFill>
                <a:latin typeface="Arial"/>
              </a:rPr>
              <a:t>Все 28 касаний зачтены в статистику автоматически.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6E7582"/>
                </a:solidFill>
                <a:latin typeface="Arial"/>
              </a:rPr>
              <a:t>GoGlobal · база знаний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979615" y="6473952"/>
            <a:ext cx="4572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>
                <a:solidFill>
                  <a:srgbClr val="6E7582"/>
                </a:solidFill>
                <a:latin typeface="Arial"/>
              </a:rPr>
              <a:t>IX · История 1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C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080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11535" y="164592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E7582"/>
                </a:solidFill>
                <a:latin typeface="Arial"/>
              </a:rPr>
              <a:t>31 / 36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84048"/>
            <a:ext cx="82296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6366F1"/>
                </a:solidFill>
                <a:latin typeface="Arial"/>
              </a:rPr>
              <a:t>IX · ИСТОРИИ ИЗ ПРАКТИКИ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58368"/>
            <a:ext cx="10911535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E7E9EE"/>
                </a:solidFill>
                <a:latin typeface="Arial"/>
              </a:rPr>
              <a:t>История 2 · Понедельник РОПа Бека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371600"/>
            <a:ext cx="5303520" cy="1371600"/>
          </a:xfrm>
          <a:prstGeom prst="roundRect">
            <a:avLst>
              <a:gd name="adj" fmla="val 6000"/>
            </a:avLst>
          </a:prstGeom>
          <a:solidFill>
            <a:srgbClr val="001B3D"/>
          </a:solidFill>
          <a:ln w="9525">
            <a:solidFill>
              <a:srgbClr val="0C4A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481328"/>
            <a:ext cx="493776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Arial"/>
              </a:rPr>
              <a:t>📊 GoGlobal · утренний отчёт</a:t>
            </a:r>
          </a:p>
          <a:p>
            <a:pPr algn="l"/>
            <a:r>
              <a:rPr sz="1150" b="0">
                <a:solidFill>
                  <a:srgbClr val="9AA1AE"/>
                </a:solidFill>
                <a:latin typeface="Arial"/>
              </a:rPr>
              <a:t>За выходные: 23 лида, 3 Won ($12 500), 1 Lost</a:t>
            </a:r>
          </a:p>
          <a:p>
            <a:pPr algn="l"/>
            <a:r>
              <a:rPr sz="1150" b="0">
                <a:solidFill>
                  <a:srgbClr val="9AA1AE"/>
                </a:solidFill>
                <a:latin typeface="Arial"/>
              </a:rPr>
              <a:t>⚠️ Просрочено SLA: 2 · 📋 Просроченных задач: 4</a:t>
            </a:r>
          </a:p>
          <a:p>
            <a:pPr algn="l"/>
            <a:r>
              <a:rPr sz="1150" b="0">
                <a:solidFill>
                  <a:srgbClr val="FDE68A"/>
                </a:solidFill>
                <a:latin typeface="Arial"/>
              </a:rPr>
              <a:t>⚪ Офлайн &gt;24ч: Дамир</a:t>
            </a:r>
          </a:p>
        </p:txBody>
      </p:sp>
      <p:sp>
        <p:nvSpPr>
          <p:cNvPr id="9" name="Oval 8"/>
          <p:cNvSpPr/>
          <p:nvPr/>
        </p:nvSpPr>
        <p:spPr>
          <a:xfrm>
            <a:off x="640080" y="3017520"/>
            <a:ext cx="292608" cy="292608"/>
          </a:xfrm>
          <a:prstGeom prst="ellipse">
            <a:avLst/>
          </a:prstGeom>
          <a:solidFill>
            <a:srgbClr val="121419"/>
          </a:solidFill>
          <a:ln w="12700">
            <a:solidFill>
              <a:srgbClr val="6366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6366F1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8992" y="2980944"/>
            <a:ext cx="4846320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1">
                <a:solidFill>
                  <a:srgbClr val="E7E9EE"/>
                </a:solidFill>
                <a:latin typeface="Arial"/>
              </a:rPr>
              <a:t>09:05 · Светофор: 🟡</a:t>
            </a:r>
          </a:p>
          <a:p>
            <a:pPr algn="l"/>
            <a:r>
              <a:rPr sz="1000" b="0">
                <a:solidFill>
                  <a:srgbClr val="9AA1AE"/>
                </a:solidFill>
                <a:latin typeface="Arial"/>
              </a:rPr>
              <a:t>Причина — SLA 72% из-за Дамира</a:t>
            </a:r>
          </a:p>
        </p:txBody>
      </p:sp>
      <p:sp>
        <p:nvSpPr>
          <p:cNvPr id="11" name="Oval 10"/>
          <p:cNvSpPr/>
          <p:nvPr/>
        </p:nvSpPr>
        <p:spPr>
          <a:xfrm>
            <a:off x="640080" y="3621024"/>
            <a:ext cx="292608" cy="292608"/>
          </a:xfrm>
          <a:prstGeom prst="ellipse">
            <a:avLst/>
          </a:prstGeom>
          <a:solidFill>
            <a:srgbClr val="121419"/>
          </a:solidFill>
          <a:ln w="12700">
            <a:solidFill>
              <a:srgbClr val="6366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6366F1"/>
                </a:solidFill>
                <a:latin typeface="Arial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78992" y="3584448"/>
            <a:ext cx="4846320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1">
                <a:solidFill>
                  <a:srgbClr val="E7E9EE"/>
                </a:solidFill>
                <a:latin typeface="Arial"/>
              </a:rPr>
              <a:t>09:10 · Leaderboard</a:t>
            </a:r>
          </a:p>
          <a:p>
            <a:pPr algn="l"/>
            <a:r>
              <a:rPr sz="1000" b="0">
                <a:solidFill>
                  <a:srgbClr val="9AA1AE"/>
                </a:solidFill>
                <a:latin typeface="Arial"/>
              </a:rPr>
              <a:t>У Дамира 94 мин отклик — кандидат на 1-на-1</a:t>
            </a:r>
          </a:p>
        </p:txBody>
      </p:sp>
      <p:sp>
        <p:nvSpPr>
          <p:cNvPr id="13" name="Oval 12"/>
          <p:cNvSpPr/>
          <p:nvPr/>
        </p:nvSpPr>
        <p:spPr>
          <a:xfrm>
            <a:off x="640080" y="4224528"/>
            <a:ext cx="292608" cy="292608"/>
          </a:xfrm>
          <a:prstGeom prst="ellipse">
            <a:avLst/>
          </a:prstGeom>
          <a:solidFill>
            <a:srgbClr val="121419"/>
          </a:solidFill>
          <a:ln w="12700">
            <a:solidFill>
              <a:srgbClr val="6366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6366F1"/>
                </a:solidFill>
                <a:latin typeface="Arial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992" y="4187952"/>
            <a:ext cx="4846320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1">
                <a:solidFill>
                  <a:srgbClr val="E7E9EE"/>
                </a:solidFill>
                <a:latin typeface="Arial"/>
              </a:rPr>
              <a:t>09:20 · Звонок Дамиру</a:t>
            </a:r>
          </a:p>
          <a:p>
            <a:pPr algn="l"/>
            <a:r>
              <a:rPr sz="1000" b="0">
                <a:solidFill>
                  <a:srgbClr val="9AA1AE"/>
                </a:solidFill>
                <a:latin typeface="Arial"/>
              </a:rPr>
              <a:t>Он в больнице — нужно передать лиды</a:t>
            </a:r>
          </a:p>
        </p:txBody>
      </p:sp>
      <p:sp>
        <p:nvSpPr>
          <p:cNvPr id="15" name="Oval 14"/>
          <p:cNvSpPr/>
          <p:nvPr/>
        </p:nvSpPr>
        <p:spPr>
          <a:xfrm>
            <a:off x="640080" y="4828032"/>
            <a:ext cx="292608" cy="292608"/>
          </a:xfrm>
          <a:prstGeom prst="ellipse">
            <a:avLst/>
          </a:prstGeom>
          <a:solidFill>
            <a:srgbClr val="121419"/>
          </a:solidFill>
          <a:ln w="12700">
            <a:solidFill>
              <a:srgbClr val="6366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6366F1"/>
                </a:solidFill>
                <a:latin typeface="Arial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78992" y="4791456"/>
            <a:ext cx="4846320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1">
                <a:solidFill>
                  <a:srgbClr val="E7E9EE"/>
                </a:solidFill>
                <a:latin typeface="Arial"/>
              </a:rPr>
              <a:t>09:25 · Массовая передача</a:t>
            </a:r>
          </a:p>
          <a:p>
            <a:pPr algn="l"/>
            <a:r>
              <a:rPr sz="1000" b="0">
                <a:solidFill>
                  <a:srgbClr val="9AA1AE"/>
                </a:solidFill>
                <a:latin typeface="Arial"/>
              </a:rPr>
              <a:t>Фильтр «Дамир + Hot» → 5 лидов → Анне за 30 сек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17920" y="1417320"/>
            <a:ext cx="5303520" cy="2011680"/>
          </a:xfrm>
          <a:prstGeom prst="roundRect">
            <a:avLst>
              <a:gd name="adj" fmla="val 6000"/>
            </a:avLst>
          </a:prstGeom>
          <a:solidFill>
            <a:srgbClr val="0A1322"/>
          </a:solidFill>
          <a:ln w="9525">
            <a:solidFill>
              <a:srgbClr val="2326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46520" y="1554480"/>
            <a:ext cx="4846320" cy="1783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6366F1"/>
                </a:solidFill>
                <a:latin typeface="Arial"/>
              </a:rPr>
              <a:t>АВТО-СЦЕНАРИЙ НА ВРЕМЯ БОЛЕЗНИ</a:t>
            </a:r>
          </a:p>
          <a:p>
            <a:pPr algn="l"/>
            <a:r>
              <a:rPr sz="1150" b="0">
                <a:solidFill>
                  <a:srgbClr val="9AA1AE"/>
                </a:solidFill>
                <a:latin typeface="Arial"/>
              </a:rPr>
              <a:t>ЕСЛИ лид Дамира в статусе «Перезвонить» &gt; 24ч</a:t>
            </a:r>
          </a:p>
          <a:p>
            <a:pPr algn="l"/>
            <a:r>
              <a:rPr sz="1150" b="0">
                <a:solidFill>
                  <a:srgbClr val="9AA1AE"/>
                </a:solidFill>
                <a:latin typeface="Arial"/>
              </a:rPr>
              <a:t>ТО уведомить РОПа в Telegram</a:t>
            </a:r>
          </a:p>
          <a:p>
            <a:pPr algn="l"/>
            <a:r>
              <a:rPr sz="1150" b="0">
                <a:solidFill>
                  <a:srgbClr val="86EFAC"/>
                </a:solidFill>
                <a:latin typeface="Arial"/>
              </a:rPr>
              <a:t>Ничего не «протухнет» незаметно, пока Дамир болеет.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17920" y="3657600"/>
            <a:ext cx="5303520" cy="2057400"/>
          </a:xfrm>
          <a:prstGeom prst="roundRect">
            <a:avLst>
              <a:gd name="adj" fmla="val 6000"/>
            </a:avLst>
          </a:prstGeom>
          <a:solidFill>
            <a:srgbClr val="121419"/>
          </a:solidFill>
          <a:ln w="9525">
            <a:solidFill>
              <a:srgbClr val="2326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46520" y="3794760"/>
            <a:ext cx="48463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86EFAC"/>
                </a:solidFill>
                <a:latin typeface="Arial"/>
              </a:rPr>
              <a:t>ИТОГ ПОНЕДЕЛЬНИКА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46520" y="4114800"/>
            <a:ext cx="484632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1">
                <a:solidFill>
                  <a:srgbClr val="6366F1"/>
                </a:solidFill>
                <a:latin typeface="Arial"/>
              </a:rPr>
              <a:t>•  </a:t>
            </a:r>
            <a:r>
              <a:rPr sz="1100" b="0">
                <a:solidFill>
                  <a:srgbClr val="9AA1AE"/>
                </a:solidFill>
                <a:latin typeface="Arial"/>
              </a:rPr>
              <a:t>Проблема найдена за 5 минут (не в пятницу)</a:t>
            </a:r>
          </a:p>
          <a:p>
            <a:pPr>
              <a:spcAft>
                <a:spcPts val="400"/>
              </a:spcAft>
            </a:pPr>
            <a:r>
              <a:rPr sz="1100" b="1">
                <a:solidFill>
                  <a:srgbClr val="6366F1"/>
                </a:solidFill>
                <a:latin typeface="Arial"/>
              </a:rPr>
              <a:t>•  </a:t>
            </a:r>
            <a:r>
              <a:rPr sz="1100" b="0">
                <a:solidFill>
                  <a:srgbClr val="9AA1AE"/>
                </a:solidFill>
                <a:latin typeface="Arial"/>
              </a:rPr>
              <a:t>5 горячих лидов спасены передачей</a:t>
            </a:r>
          </a:p>
          <a:p>
            <a:pPr>
              <a:spcAft>
                <a:spcPts val="400"/>
              </a:spcAft>
            </a:pPr>
            <a:r>
              <a:rPr sz="1100" b="1">
                <a:solidFill>
                  <a:srgbClr val="6366F1"/>
                </a:solidFill>
                <a:latin typeface="Arial"/>
              </a:rPr>
              <a:t>•  </a:t>
            </a:r>
            <a:r>
              <a:rPr sz="1100" b="0">
                <a:solidFill>
                  <a:srgbClr val="9AA1AE"/>
                </a:solidFill>
                <a:latin typeface="Arial"/>
              </a:rPr>
              <a:t>Контроль на время болезни — автоматический</a:t>
            </a:r>
          </a:p>
          <a:p>
            <a:pPr>
              <a:spcAft>
                <a:spcPts val="400"/>
              </a:spcAft>
            </a:pPr>
            <a:r>
              <a:rPr sz="1100" b="1">
                <a:solidFill>
                  <a:srgbClr val="6366F1"/>
                </a:solidFill>
                <a:latin typeface="Arial"/>
              </a:rPr>
              <a:t>•  </a:t>
            </a:r>
            <a:r>
              <a:rPr sz="1100" b="0">
                <a:solidFill>
                  <a:srgbClr val="9AA1AE"/>
                </a:solidFill>
                <a:latin typeface="Arial"/>
              </a:rPr>
              <a:t>Ни одной таблицы Excel не открыто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6E7582"/>
                </a:solidFill>
                <a:latin typeface="Arial"/>
              </a:rPr>
              <a:t>GoGlobal · база знаний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79615" y="6473952"/>
            <a:ext cx="4572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>
                <a:solidFill>
                  <a:srgbClr val="6E7582"/>
                </a:solidFill>
                <a:latin typeface="Arial"/>
              </a:rPr>
              <a:t>IX · История 2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C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080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11535" y="164592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E7582"/>
                </a:solidFill>
                <a:latin typeface="Arial"/>
              </a:rPr>
              <a:t>32 / 36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84048"/>
            <a:ext cx="82296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6366F1"/>
                </a:solidFill>
                <a:latin typeface="Arial"/>
              </a:rPr>
              <a:t>IX · ИСТОРИИ ИЗ ПРАКТИКИ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58368"/>
            <a:ext cx="10911535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E7E9EE"/>
                </a:solidFill>
                <a:latin typeface="Arial"/>
              </a:rPr>
              <a:t>История 3 · Партнёр приводит реферала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371600"/>
            <a:ext cx="5303520" cy="1005840"/>
          </a:xfrm>
          <a:prstGeom prst="roundRect">
            <a:avLst>
              <a:gd name="adj" fmla="val 6000"/>
            </a:avLst>
          </a:prstGeom>
          <a:solidFill>
            <a:srgbClr val="121419"/>
          </a:solidFill>
          <a:ln w="9525">
            <a:solidFill>
              <a:srgbClr val="2326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481328"/>
            <a:ext cx="49377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E7E9EE"/>
                </a:solidFill>
                <a:latin typeface="Arial"/>
              </a:rPr>
              <a:t>Нурлан</a:t>
            </a:r>
            <a:r>
              <a:rPr sz="1100" b="0">
                <a:solidFill>
                  <a:srgbClr val="6E7582"/>
                </a:solidFill>
                <a:latin typeface="Arial"/>
              </a:rPr>
              <a:t>  · партнёр · преподаватель английского</a:t>
            </a:r>
          </a:p>
          <a:p>
            <a:pPr algn="l"/>
            <a:r>
              <a:rPr sz="1150" b="0">
                <a:solidFill>
                  <a:srgbClr val="9AA1AE"/>
                </a:solidFill>
                <a:latin typeface="Arial"/>
              </a:rPr>
              <a:t>«Просто завожу учеников в систему — и получаю процент».</a:t>
            </a:r>
          </a:p>
        </p:txBody>
      </p:sp>
      <p:sp>
        <p:nvSpPr>
          <p:cNvPr id="9" name="Oval 8"/>
          <p:cNvSpPr/>
          <p:nvPr/>
        </p:nvSpPr>
        <p:spPr>
          <a:xfrm>
            <a:off x="640080" y="2606040"/>
            <a:ext cx="292608" cy="292608"/>
          </a:xfrm>
          <a:prstGeom prst="ellipse">
            <a:avLst/>
          </a:prstGeom>
          <a:solidFill>
            <a:srgbClr val="121419"/>
          </a:solidFill>
          <a:ln w="12700">
            <a:solidFill>
              <a:srgbClr val="6366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6366F1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8992" y="2569464"/>
            <a:ext cx="4846320" cy="6217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1">
                <a:solidFill>
                  <a:srgbClr val="E7E9EE"/>
                </a:solidFill>
                <a:latin typeface="Arial"/>
              </a:rPr>
              <a:t>Ученица спросила про Корею</a:t>
            </a:r>
          </a:p>
          <a:p>
            <a:pPr algn="l"/>
            <a:r>
              <a:rPr sz="1000" b="0">
                <a:solidFill>
                  <a:srgbClr val="9AA1AE"/>
                </a:solidFill>
                <a:latin typeface="Arial"/>
              </a:rPr>
              <a:t>«Передам тебя проверенному агентству»</a:t>
            </a:r>
          </a:p>
        </p:txBody>
      </p:sp>
      <p:sp>
        <p:nvSpPr>
          <p:cNvPr id="11" name="Oval 10"/>
          <p:cNvSpPr/>
          <p:nvPr/>
        </p:nvSpPr>
        <p:spPr>
          <a:xfrm>
            <a:off x="640080" y="3227832"/>
            <a:ext cx="292608" cy="292608"/>
          </a:xfrm>
          <a:prstGeom prst="ellipse">
            <a:avLst/>
          </a:prstGeom>
          <a:solidFill>
            <a:srgbClr val="121419"/>
          </a:solidFill>
          <a:ln w="12700">
            <a:solidFill>
              <a:srgbClr val="6366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6366F1"/>
                </a:solidFill>
                <a:latin typeface="Arial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78992" y="3191256"/>
            <a:ext cx="4846320" cy="6217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1">
                <a:solidFill>
                  <a:srgbClr val="E7E9EE"/>
                </a:solidFill>
                <a:latin typeface="Arial"/>
              </a:rPr>
              <a:t>Вошёл в /lidy под своим логином</a:t>
            </a:r>
          </a:p>
          <a:p>
            <a:pPr algn="l"/>
            <a:r>
              <a:rPr sz="1000" b="0">
                <a:solidFill>
                  <a:srgbClr val="9AA1AE"/>
                </a:solidFill>
                <a:latin typeface="Arial"/>
              </a:rPr>
              <a:t>Роль «партнёр» — видит только своих</a:t>
            </a:r>
          </a:p>
        </p:txBody>
      </p:sp>
      <p:sp>
        <p:nvSpPr>
          <p:cNvPr id="13" name="Oval 12"/>
          <p:cNvSpPr/>
          <p:nvPr/>
        </p:nvSpPr>
        <p:spPr>
          <a:xfrm>
            <a:off x="640080" y="3849624"/>
            <a:ext cx="292608" cy="292608"/>
          </a:xfrm>
          <a:prstGeom prst="ellipse">
            <a:avLst/>
          </a:prstGeom>
          <a:solidFill>
            <a:srgbClr val="121419"/>
          </a:solidFill>
          <a:ln w="12700">
            <a:solidFill>
              <a:srgbClr val="6366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6366F1"/>
                </a:solidFill>
                <a:latin typeface="Arial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992" y="3813048"/>
            <a:ext cx="4846320" cy="6217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1">
                <a:solidFill>
                  <a:srgbClr val="E7E9EE"/>
                </a:solidFill>
                <a:latin typeface="Arial"/>
              </a:rPr>
              <a:t>«+ Лид»: имя и телефон</a:t>
            </a:r>
          </a:p>
          <a:p>
            <a:pPr algn="l"/>
            <a:r>
              <a:rPr sz="1000" b="0">
                <a:solidFill>
                  <a:srgbClr val="9AA1AE"/>
                </a:solidFill>
                <a:latin typeface="Arial"/>
              </a:rPr>
              <a:t>Лид помечен «от партнёра Нурлана»</a:t>
            </a:r>
          </a:p>
        </p:txBody>
      </p:sp>
      <p:sp>
        <p:nvSpPr>
          <p:cNvPr id="15" name="Oval 14"/>
          <p:cNvSpPr/>
          <p:nvPr/>
        </p:nvSpPr>
        <p:spPr>
          <a:xfrm>
            <a:off x="640080" y="4471416"/>
            <a:ext cx="292608" cy="292608"/>
          </a:xfrm>
          <a:prstGeom prst="ellipse">
            <a:avLst/>
          </a:prstGeom>
          <a:solidFill>
            <a:srgbClr val="121419"/>
          </a:solidFill>
          <a:ln w="12700">
            <a:solidFill>
              <a:srgbClr val="6366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6366F1"/>
                </a:solidFill>
                <a:latin typeface="Arial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78992" y="4434840"/>
            <a:ext cx="4846320" cy="6217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1">
                <a:solidFill>
                  <a:srgbClr val="E7E9EE"/>
                </a:solidFill>
                <a:latin typeface="Arial"/>
              </a:rPr>
              <a:t>Сделка Won $12 000</a:t>
            </a:r>
          </a:p>
          <a:p>
            <a:pPr algn="l"/>
            <a:r>
              <a:rPr sz="1000" b="0">
                <a:solidFill>
                  <a:srgbClr val="9AA1AE"/>
                </a:solidFill>
                <a:latin typeface="Arial"/>
              </a:rPr>
              <a:t>Комиссия посчиталась сама: 3% = $360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6217920" y="1463040"/>
          <a:ext cx="5303519" cy="165100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1697126"/>
                <a:gridCol w="3606393"/>
              </a:tblGrid>
              <a:tr h="330200">
                <a:tc>
                  <a:txBody>
                    <a:bodyPr wrap="square" lIns="76200" rIns="76200" tIns="38100" bIns="38100"/>
                    <a:lstStyle/>
                    <a:p>
                      <a:pPr algn="l"/>
                      <a:r>
                        <a:rPr sz="950" b="1">
                          <a:solidFill>
                            <a:srgbClr val="9AA1AE"/>
                          </a:solidFill>
                          <a:latin typeface="Arial"/>
                        </a:rPr>
                        <a:t>Кто</a:t>
                      </a:r>
                    </a:p>
                  </a:txBody>
                  <a:tcPr>
                    <a:solidFill>
                      <a:srgbClr val="121419"/>
                    </a:solidFill>
                  </a:tcPr>
                </a:tc>
                <a:tc>
                  <a:txBody>
                    <a:bodyPr wrap="square" lIns="76200" rIns="76200" tIns="38100" bIns="38100"/>
                    <a:lstStyle/>
                    <a:p>
                      <a:pPr algn="l"/>
                      <a:r>
                        <a:rPr sz="950" b="1">
                          <a:solidFill>
                            <a:srgbClr val="9AA1AE"/>
                          </a:solidFill>
                          <a:latin typeface="Arial"/>
                        </a:rPr>
                        <a:t>Что видит</a:t>
                      </a:r>
                    </a:p>
                  </a:txBody>
                  <a:tcPr>
                    <a:solidFill>
                      <a:srgbClr val="121419"/>
                    </a:solidFill>
                  </a:tcPr>
                </a:tc>
              </a:tr>
              <a:tr h="330200">
                <a:tc>
                  <a:txBody>
                    <a:bodyPr wrap="square" lIns="76200" rIns="76200" tIns="38100" bIns="38100"/>
                    <a:lstStyle/>
                    <a:p>
                      <a:pPr algn="l"/>
                      <a:r>
                        <a:rPr sz="1050" b="1">
                          <a:solidFill>
                            <a:srgbClr val="E7E9EE"/>
                          </a:solidFill>
                          <a:latin typeface="Arial"/>
                        </a:rPr>
                        <a:t>Нурлан (партнёр)</a:t>
                      </a:r>
                    </a:p>
                  </a:txBody>
                  <a:tcPr>
                    <a:solidFill>
                      <a:srgbClr val="0B0C0F"/>
                    </a:solidFill>
                  </a:tcPr>
                </a:tc>
                <a:tc>
                  <a:txBody>
                    <a:bodyPr wrap="square" lIns="76200" rIns="76200" tIns="38100" bIns="38100"/>
                    <a:lstStyle/>
                    <a:p>
                      <a:pPr algn="l"/>
                      <a:r>
                        <a:rPr sz="1050" b="0">
                          <a:solidFill>
                            <a:srgbClr val="E7E9EE"/>
                          </a:solidFill>
                          <a:latin typeface="Arial"/>
                        </a:rPr>
                        <a:t>Только своих рефералов, их статусы, свою комиссию</a:t>
                      </a:r>
                    </a:p>
                  </a:txBody>
                  <a:tcPr>
                    <a:solidFill>
                      <a:srgbClr val="0B0C0F"/>
                    </a:solidFill>
                  </a:tcPr>
                </a:tc>
              </a:tr>
              <a:tr h="330200">
                <a:tc>
                  <a:txBody>
                    <a:bodyPr wrap="square" lIns="76200" rIns="76200" tIns="38100" bIns="38100"/>
                    <a:lstStyle/>
                    <a:p>
                      <a:pPr algn="l"/>
                      <a:r>
                        <a:rPr sz="1050" b="1">
                          <a:solidFill>
                            <a:srgbClr val="E7E9EE"/>
                          </a:solidFill>
                          <a:latin typeface="Arial"/>
                        </a:rPr>
                        <a:t>Менеджер</a:t>
                      </a:r>
                    </a:p>
                  </a:txBody>
                  <a:tcPr>
                    <a:solidFill>
                      <a:srgbClr val="0D1628"/>
                    </a:solidFill>
                  </a:tcPr>
                </a:tc>
                <a:tc>
                  <a:txBody>
                    <a:bodyPr wrap="square" lIns="76200" rIns="76200" tIns="38100" bIns="38100"/>
                    <a:lstStyle/>
                    <a:p>
                      <a:pPr algn="l"/>
                      <a:r>
                        <a:rPr sz="1050" b="0">
                          <a:solidFill>
                            <a:srgbClr val="E7E9EE"/>
                          </a:solidFill>
                          <a:latin typeface="Arial"/>
                        </a:rPr>
                        <a:t>Обычный лид с источником «партнёр: Нурлан»</a:t>
                      </a:r>
                    </a:p>
                  </a:txBody>
                  <a:tcPr>
                    <a:solidFill>
                      <a:srgbClr val="0D1628"/>
                    </a:solidFill>
                  </a:tcPr>
                </a:tc>
              </a:tr>
              <a:tr h="330200">
                <a:tc>
                  <a:txBody>
                    <a:bodyPr wrap="square" lIns="76200" rIns="76200" tIns="38100" bIns="38100"/>
                    <a:lstStyle/>
                    <a:p>
                      <a:pPr algn="l"/>
                      <a:r>
                        <a:rPr sz="1050" b="1">
                          <a:solidFill>
                            <a:srgbClr val="E7E9EE"/>
                          </a:solidFill>
                          <a:latin typeface="Arial"/>
                        </a:rPr>
                        <a:t>РОП</a:t>
                      </a:r>
                    </a:p>
                  </a:txBody>
                  <a:tcPr>
                    <a:solidFill>
                      <a:srgbClr val="0B0C0F"/>
                    </a:solidFill>
                  </a:tcPr>
                </a:tc>
                <a:tc>
                  <a:txBody>
                    <a:bodyPr wrap="square" lIns="76200" rIns="76200" tIns="38100" bIns="38100"/>
                    <a:lstStyle/>
                    <a:p>
                      <a:pPr algn="l"/>
                      <a:r>
                        <a:rPr sz="1050" b="0">
                          <a:solidFill>
                            <a:srgbClr val="E7E9EE"/>
                          </a:solidFill>
                          <a:latin typeface="Arial"/>
                        </a:rPr>
                        <a:t>Канал «партнёры» в ROI: лиды, конверсия, выручка</a:t>
                      </a:r>
                    </a:p>
                  </a:txBody>
                  <a:tcPr>
                    <a:solidFill>
                      <a:srgbClr val="0B0C0F"/>
                    </a:solidFill>
                  </a:tcPr>
                </a:tc>
              </a:tr>
              <a:tr h="330200">
                <a:tc>
                  <a:txBody>
                    <a:bodyPr wrap="square" lIns="76200" rIns="76200" tIns="38100" bIns="38100"/>
                    <a:lstStyle/>
                    <a:p>
                      <a:pPr algn="l"/>
                      <a:r>
                        <a:rPr sz="1050" b="1">
                          <a:solidFill>
                            <a:srgbClr val="E7E9EE"/>
                          </a:solidFill>
                          <a:latin typeface="Arial"/>
                        </a:rPr>
                        <a:t>Админ</a:t>
                      </a:r>
                    </a:p>
                  </a:txBody>
                  <a:tcPr>
                    <a:solidFill>
                      <a:srgbClr val="0D1628"/>
                    </a:solidFill>
                  </a:tcPr>
                </a:tc>
                <a:tc>
                  <a:txBody>
                    <a:bodyPr wrap="square" lIns="76200" rIns="76200" tIns="38100" bIns="38100"/>
                    <a:lstStyle/>
                    <a:p>
                      <a:pPr algn="l"/>
                      <a:r>
                        <a:rPr sz="1050" b="0">
                          <a:solidFill>
                            <a:srgbClr val="E7E9EE"/>
                          </a:solidFill>
                          <a:latin typeface="Arial"/>
                        </a:rPr>
                        <a:t>Сумму комиссий к выплате за период</a:t>
                      </a:r>
                    </a:p>
                  </a:txBody>
                  <a:tcPr>
                    <a:solidFill>
                      <a:srgbClr val="0D1628"/>
                    </a:solidFill>
                  </a:tcPr>
                </a:tc>
              </a:tr>
            </a:tbl>
          </a:graphicData>
        </a:graphic>
      </p:graphicFrame>
      <p:sp>
        <p:nvSpPr>
          <p:cNvPr id="18" name="Rounded Rectangle 17"/>
          <p:cNvSpPr/>
          <p:nvPr/>
        </p:nvSpPr>
        <p:spPr>
          <a:xfrm>
            <a:off x="6217920" y="4023360"/>
            <a:ext cx="5303520" cy="1691640"/>
          </a:xfrm>
          <a:prstGeom prst="roundRect">
            <a:avLst>
              <a:gd name="adj" fmla="val 6000"/>
            </a:avLst>
          </a:prstGeom>
          <a:solidFill>
            <a:srgbClr val="121419"/>
          </a:solidFill>
          <a:ln w="9525">
            <a:solidFill>
              <a:srgbClr val="2326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46520" y="4160520"/>
            <a:ext cx="484632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86EFAC"/>
                </a:solidFill>
                <a:latin typeface="Arial"/>
              </a:rPr>
              <a:t>ЗАЧЕМ ЭТО БИЗНЕСУ</a:t>
            </a:r>
          </a:p>
          <a:p>
            <a:pPr algn="l"/>
            <a:r>
              <a:rPr sz="1150" b="0">
                <a:solidFill>
                  <a:srgbClr val="9AA1AE"/>
                </a:solidFill>
                <a:latin typeface="Arial"/>
              </a:rPr>
              <a:t>Партнёрская сеть = бесплатный канал лидов с оплатой за результат.</a:t>
            </a:r>
          </a:p>
          <a:p>
            <a:pPr algn="l"/>
            <a:r>
              <a:rPr sz="1150" b="0">
                <a:solidFill>
                  <a:srgbClr val="9AA1AE"/>
                </a:solidFill>
                <a:latin typeface="Arial"/>
              </a:rPr>
              <a:t>Преподаватели, выпускники, блогеры — все через одну систему, без чатов и табличек.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6E7582"/>
                </a:solidFill>
                <a:latin typeface="Arial"/>
              </a:rPr>
              <a:t>GoGlobal · база знаний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79615" y="6473952"/>
            <a:ext cx="4572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>
                <a:solidFill>
                  <a:srgbClr val="6E7582"/>
                </a:solidFill>
                <a:latin typeface="Arial"/>
              </a:rPr>
              <a:t>IX · История 3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C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080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11535" y="164592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E7582"/>
                </a:solidFill>
                <a:latin typeface="Arial"/>
              </a:rPr>
              <a:t>33 / 36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84048"/>
            <a:ext cx="82296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6366F1"/>
                </a:solidFill>
                <a:latin typeface="Arial"/>
              </a:rPr>
              <a:t>X · КАРТА ДЕЙСТВИЙ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58368"/>
            <a:ext cx="10911535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E7E9EE"/>
                </a:solidFill>
                <a:latin typeface="Arial"/>
              </a:rPr>
              <a:t>«Хочу сделать X — куда идти?»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71600"/>
          <a:ext cx="10881359" cy="419100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4286596"/>
                <a:gridCol w="4286596"/>
                <a:gridCol w="2308167"/>
              </a:tblGrid>
              <a:tr h="279400">
                <a:tc>
                  <a:txBody>
                    <a:bodyPr wrap="square" lIns="76200" rIns="76200" tIns="38100" bIns="38100"/>
                    <a:lstStyle/>
                    <a:p>
                      <a:pPr algn="l"/>
                      <a:r>
                        <a:rPr sz="950" b="1">
                          <a:solidFill>
                            <a:srgbClr val="9AA1AE"/>
                          </a:solidFill>
                          <a:latin typeface="Arial"/>
                        </a:rPr>
                        <a:t>Хочу…</a:t>
                      </a:r>
                    </a:p>
                  </a:txBody>
                  <a:tcPr>
                    <a:solidFill>
                      <a:srgbClr val="121419"/>
                    </a:solidFill>
                  </a:tcPr>
                </a:tc>
                <a:tc>
                  <a:txBody>
                    <a:bodyPr wrap="square" lIns="76200" rIns="76200" tIns="38100" bIns="38100"/>
                    <a:lstStyle/>
                    <a:p>
                      <a:pPr algn="l"/>
                      <a:r>
                        <a:rPr sz="950" b="1">
                          <a:solidFill>
                            <a:srgbClr val="9AA1AE"/>
                          </a:solidFill>
                          <a:latin typeface="Arial"/>
                        </a:rPr>
                        <a:t>Куда идти</a:t>
                      </a:r>
                    </a:p>
                  </a:txBody>
                  <a:tcPr>
                    <a:solidFill>
                      <a:srgbClr val="121419"/>
                    </a:solidFill>
                  </a:tcPr>
                </a:tc>
                <a:tc>
                  <a:txBody>
                    <a:bodyPr wrap="square" lIns="76200" rIns="76200" tIns="38100" bIns="38100"/>
                    <a:lstStyle/>
                    <a:p>
                      <a:pPr algn="l"/>
                      <a:r>
                        <a:rPr sz="950" b="1">
                          <a:solidFill>
                            <a:srgbClr val="9AA1AE"/>
                          </a:solidFill>
                          <a:latin typeface="Arial"/>
                        </a:rPr>
                        <a:t>Кто может</a:t>
                      </a:r>
                    </a:p>
                  </a:txBody>
                  <a:tcPr>
                    <a:solidFill>
                      <a:srgbClr val="121419"/>
                    </a:solidFill>
                  </a:tcPr>
                </a:tc>
              </a:tr>
              <a:tr h="279400">
                <a:tc>
                  <a:txBody>
                    <a:bodyPr wrap="square" lIns="76200" rIns="76200" tIns="38100" bIns="38100"/>
                    <a:lstStyle/>
                    <a:p>
                      <a:pPr algn="l"/>
                      <a:r>
                        <a:rPr sz="1050" b="0">
                          <a:solidFill>
                            <a:srgbClr val="E7E9EE"/>
                          </a:solidFill>
                          <a:latin typeface="Arial"/>
                        </a:rPr>
                        <a:t>Изменить цены/тексты на сайте</a:t>
                      </a:r>
                    </a:p>
                  </a:txBody>
                  <a:tcPr>
                    <a:solidFill>
                      <a:srgbClr val="0B0C0F"/>
                    </a:solidFill>
                  </a:tcPr>
                </a:tc>
                <a:tc>
                  <a:txBody>
                    <a:bodyPr wrap="square" lIns="76200" rIns="76200" tIns="38100" bIns="38100"/>
                    <a:lstStyle/>
                    <a:p>
                      <a:pPr algn="l"/>
                      <a:r>
                        <a:rPr sz="1050" b="0">
                          <a:solidFill>
                            <a:srgbClr val="E7E9EE"/>
                          </a:solidFill>
                          <a:latin typeface="Arial"/>
                        </a:rPr>
                        <a:t>/admin → Контент сайта</a:t>
                      </a:r>
                    </a:p>
                  </a:txBody>
                  <a:tcPr>
                    <a:solidFill>
                      <a:srgbClr val="0B0C0F"/>
                    </a:solidFill>
                  </a:tcPr>
                </a:tc>
                <a:tc>
                  <a:txBody>
                    <a:bodyPr wrap="square" lIns="76200" rIns="76200" tIns="38100" bIns="38100"/>
                    <a:lstStyle/>
                    <a:p>
                      <a:pPr algn="l"/>
                      <a:r>
                        <a:rPr sz="1050" b="0">
                          <a:solidFill>
                            <a:srgbClr val="E7E9EE"/>
                          </a:solidFill>
                          <a:latin typeface="Arial"/>
                        </a:rPr>
                        <a:t>Админ</a:t>
                      </a:r>
                    </a:p>
                  </a:txBody>
                  <a:tcPr>
                    <a:solidFill>
                      <a:srgbClr val="0B0C0F"/>
                    </a:solidFill>
                  </a:tcPr>
                </a:tc>
              </a:tr>
              <a:tr h="279400">
                <a:tc>
                  <a:txBody>
                    <a:bodyPr wrap="square" lIns="76200" rIns="76200" tIns="38100" bIns="38100"/>
                    <a:lstStyle/>
                    <a:p>
                      <a:pPr algn="l"/>
                      <a:r>
                        <a:rPr sz="1050" b="0">
                          <a:solidFill>
                            <a:srgbClr val="E7E9EE"/>
                          </a:solidFill>
                          <a:latin typeface="Arial"/>
                        </a:rPr>
                        <a:t>Добавить вуз или страну</a:t>
                      </a:r>
                    </a:p>
                  </a:txBody>
                  <a:tcPr>
                    <a:solidFill>
                      <a:srgbClr val="0D1628"/>
                    </a:solidFill>
                  </a:tcPr>
                </a:tc>
                <a:tc>
                  <a:txBody>
                    <a:bodyPr wrap="square" lIns="76200" rIns="76200" tIns="38100" bIns="38100"/>
                    <a:lstStyle/>
                    <a:p>
                      <a:pPr algn="l"/>
                      <a:r>
                        <a:rPr sz="1050" b="0">
                          <a:solidFill>
                            <a:srgbClr val="E7E9EE"/>
                          </a:solidFill>
                          <a:latin typeface="Arial"/>
                        </a:rPr>
                        <a:t>/admin → Страны и Университеты</a:t>
                      </a:r>
                    </a:p>
                  </a:txBody>
                  <a:tcPr>
                    <a:solidFill>
                      <a:srgbClr val="0D1628"/>
                    </a:solidFill>
                  </a:tcPr>
                </a:tc>
                <a:tc>
                  <a:txBody>
                    <a:bodyPr wrap="square" lIns="76200" rIns="76200" tIns="38100" bIns="38100"/>
                    <a:lstStyle/>
                    <a:p>
                      <a:pPr algn="l"/>
                      <a:r>
                        <a:rPr sz="1050" b="0">
                          <a:solidFill>
                            <a:srgbClr val="E7E9EE"/>
                          </a:solidFill>
                          <a:latin typeface="Arial"/>
                        </a:rPr>
                        <a:t>Админ</a:t>
                      </a:r>
                    </a:p>
                  </a:txBody>
                  <a:tcPr>
                    <a:solidFill>
                      <a:srgbClr val="0D1628"/>
                    </a:solidFill>
                  </a:tcPr>
                </a:tc>
              </a:tr>
              <a:tr h="279400">
                <a:tc>
                  <a:txBody>
                    <a:bodyPr wrap="square" lIns="76200" rIns="76200" tIns="38100" bIns="38100"/>
                    <a:lstStyle/>
                    <a:p>
                      <a:pPr algn="l"/>
                      <a:r>
                        <a:rPr sz="1050" b="0">
                          <a:solidFill>
                            <a:srgbClr val="E7E9EE"/>
                          </a:solidFill>
                          <a:latin typeface="Arial"/>
                        </a:rPr>
                        <a:t>Создать сотрудника</a:t>
                      </a:r>
                    </a:p>
                  </a:txBody>
                  <a:tcPr>
                    <a:solidFill>
                      <a:srgbClr val="0B0C0F"/>
                    </a:solidFill>
                  </a:tcPr>
                </a:tc>
                <a:tc>
                  <a:txBody>
                    <a:bodyPr wrap="square" lIns="76200" rIns="76200" tIns="38100" bIns="38100"/>
                    <a:lstStyle/>
                    <a:p>
                      <a:pPr algn="l"/>
                      <a:r>
                        <a:rPr sz="1050" b="0">
                          <a:solidFill>
                            <a:srgbClr val="E7E9EE"/>
                          </a:solidFill>
                          <a:latin typeface="Arial"/>
                        </a:rPr>
                        <a:t>/admin → Менеджеры</a:t>
                      </a:r>
                    </a:p>
                  </a:txBody>
                  <a:tcPr>
                    <a:solidFill>
                      <a:srgbClr val="0B0C0F"/>
                    </a:solidFill>
                  </a:tcPr>
                </a:tc>
                <a:tc>
                  <a:txBody>
                    <a:bodyPr wrap="square" lIns="76200" rIns="76200" tIns="38100" bIns="38100"/>
                    <a:lstStyle/>
                    <a:p>
                      <a:pPr algn="l"/>
                      <a:r>
                        <a:rPr sz="1050" b="0">
                          <a:solidFill>
                            <a:srgbClr val="E7E9EE"/>
                          </a:solidFill>
                          <a:latin typeface="Arial"/>
                        </a:rPr>
                        <a:t>Админ</a:t>
                      </a:r>
                    </a:p>
                  </a:txBody>
                  <a:tcPr>
                    <a:solidFill>
                      <a:srgbClr val="0B0C0F"/>
                    </a:solidFill>
                  </a:tcPr>
                </a:tc>
              </a:tr>
              <a:tr h="279400">
                <a:tc>
                  <a:txBody>
                    <a:bodyPr wrap="square" lIns="76200" rIns="76200" tIns="38100" bIns="38100"/>
                    <a:lstStyle/>
                    <a:p>
                      <a:pPr algn="l"/>
                      <a:r>
                        <a:rPr sz="1050" b="0">
                          <a:solidFill>
                            <a:srgbClr val="E7E9EE"/>
                          </a:solidFill>
                          <a:latin typeface="Arial"/>
                        </a:rPr>
                        <a:t>Перестроить воронку</a:t>
                      </a:r>
                    </a:p>
                  </a:txBody>
                  <a:tcPr>
                    <a:solidFill>
                      <a:srgbClr val="0D1628"/>
                    </a:solidFill>
                  </a:tcPr>
                </a:tc>
                <a:tc>
                  <a:txBody>
                    <a:bodyPr wrap="square" lIns="76200" rIns="76200" tIns="38100" bIns="38100"/>
                    <a:lstStyle/>
                    <a:p>
                      <a:pPr algn="l"/>
                      <a:r>
                        <a:rPr sz="1050" b="0">
                          <a:solidFill>
                            <a:srgbClr val="E7E9EE"/>
                          </a:solidFill>
                          <a:latin typeface="Arial"/>
                        </a:rPr>
                        <a:t>/admin → Статусы лидов</a:t>
                      </a:r>
                    </a:p>
                  </a:txBody>
                  <a:tcPr>
                    <a:solidFill>
                      <a:srgbClr val="0D1628"/>
                    </a:solidFill>
                  </a:tcPr>
                </a:tc>
                <a:tc>
                  <a:txBody>
                    <a:bodyPr wrap="square" lIns="76200" rIns="76200" tIns="38100" bIns="38100"/>
                    <a:lstStyle/>
                    <a:p>
                      <a:pPr algn="l"/>
                      <a:r>
                        <a:rPr sz="1050" b="0">
                          <a:solidFill>
                            <a:srgbClr val="E7E9EE"/>
                          </a:solidFill>
                          <a:latin typeface="Arial"/>
                        </a:rPr>
                        <a:t>Админ</a:t>
                      </a:r>
                    </a:p>
                  </a:txBody>
                  <a:tcPr>
                    <a:solidFill>
                      <a:srgbClr val="0D1628"/>
                    </a:solidFill>
                  </a:tcPr>
                </a:tc>
              </a:tr>
              <a:tr h="279400">
                <a:tc>
                  <a:txBody>
                    <a:bodyPr wrap="square" lIns="76200" rIns="76200" tIns="38100" bIns="38100"/>
                    <a:lstStyle/>
                    <a:p>
                      <a:pPr algn="l"/>
                      <a:r>
                        <a:rPr sz="1050" b="0">
                          <a:solidFill>
                            <a:srgbClr val="E7E9EE"/>
                          </a:solidFill>
                          <a:latin typeface="Arial"/>
                        </a:rPr>
                        <a:t>Шаблон WhatsApp</a:t>
                      </a:r>
                    </a:p>
                  </a:txBody>
                  <a:tcPr>
                    <a:solidFill>
                      <a:srgbClr val="0B0C0F"/>
                    </a:solidFill>
                  </a:tcPr>
                </a:tc>
                <a:tc>
                  <a:txBody>
                    <a:bodyPr wrap="square" lIns="76200" rIns="76200" tIns="38100" bIns="38100"/>
                    <a:lstStyle/>
                    <a:p>
                      <a:pPr algn="l"/>
                      <a:r>
                        <a:rPr sz="1050" b="0">
                          <a:solidFill>
                            <a:srgbClr val="E7E9EE"/>
                          </a:solidFill>
                          <a:latin typeface="Arial"/>
                        </a:rPr>
                        <a:t>/admin → Шаблоны ответов</a:t>
                      </a:r>
                    </a:p>
                  </a:txBody>
                  <a:tcPr>
                    <a:solidFill>
                      <a:srgbClr val="0B0C0F"/>
                    </a:solidFill>
                  </a:tcPr>
                </a:tc>
                <a:tc>
                  <a:txBody>
                    <a:bodyPr wrap="square" lIns="76200" rIns="76200" tIns="38100" bIns="38100"/>
                    <a:lstStyle/>
                    <a:p>
                      <a:pPr algn="l"/>
                      <a:r>
                        <a:rPr sz="1050" b="0">
                          <a:solidFill>
                            <a:srgbClr val="E7E9EE"/>
                          </a:solidFill>
                          <a:latin typeface="Arial"/>
                        </a:rPr>
                        <a:t>Админ</a:t>
                      </a:r>
                    </a:p>
                  </a:txBody>
                  <a:tcPr>
                    <a:solidFill>
                      <a:srgbClr val="0B0C0F"/>
                    </a:solidFill>
                  </a:tcPr>
                </a:tc>
              </a:tr>
              <a:tr h="279400">
                <a:tc>
                  <a:txBody>
                    <a:bodyPr wrap="square" lIns="76200" rIns="76200" tIns="38100" bIns="38100"/>
                    <a:lstStyle/>
                    <a:p>
                      <a:pPr algn="l"/>
                      <a:r>
                        <a:rPr sz="1050" b="0">
                          <a:solidFill>
                            <a:srgbClr val="E7E9EE"/>
                          </a:solidFill>
                          <a:latin typeface="Arial"/>
                        </a:rPr>
                        <a:t>«Японские лиды — Анне»</a:t>
                      </a:r>
                    </a:p>
                  </a:txBody>
                  <a:tcPr>
                    <a:solidFill>
                      <a:srgbClr val="0D1628"/>
                    </a:solidFill>
                  </a:tcPr>
                </a:tc>
                <a:tc>
                  <a:txBody>
                    <a:bodyPr wrap="square" lIns="76200" rIns="76200" tIns="38100" bIns="38100"/>
                    <a:lstStyle/>
                    <a:p>
                      <a:pPr algn="l"/>
                      <a:r>
                        <a:rPr sz="1050" b="0">
                          <a:solidFill>
                            <a:srgbClr val="E7E9EE"/>
                          </a:solidFill>
                          <a:latin typeface="Arial"/>
                        </a:rPr>
                        <a:t>/admin → Авто-распределение</a:t>
                      </a:r>
                    </a:p>
                  </a:txBody>
                  <a:tcPr>
                    <a:solidFill>
                      <a:srgbClr val="0D1628"/>
                    </a:solidFill>
                  </a:tcPr>
                </a:tc>
                <a:tc>
                  <a:txBody>
                    <a:bodyPr wrap="square" lIns="76200" rIns="76200" tIns="38100" bIns="38100"/>
                    <a:lstStyle/>
                    <a:p>
                      <a:pPr algn="l"/>
                      <a:r>
                        <a:rPr sz="1050" b="0">
                          <a:solidFill>
                            <a:srgbClr val="E7E9EE"/>
                          </a:solidFill>
                          <a:latin typeface="Arial"/>
                        </a:rPr>
                        <a:t>Админ</a:t>
                      </a:r>
                    </a:p>
                  </a:txBody>
                  <a:tcPr>
                    <a:solidFill>
                      <a:srgbClr val="0D1628"/>
                    </a:solidFill>
                  </a:tcPr>
                </a:tc>
              </a:tr>
              <a:tr h="279400">
                <a:tc>
                  <a:txBody>
                    <a:bodyPr wrap="square" lIns="76200" rIns="76200" tIns="38100" bIns="38100"/>
                    <a:lstStyle/>
                    <a:p>
                      <a:pPr algn="l"/>
                      <a:r>
                        <a:rPr sz="1050" b="0">
                          <a:solidFill>
                            <a:srgbClr val="E7E9EE"/>
                          </a:solidFill>
                          <a:latin typeface="Arial"/>
                        </a:rPr>
                        <a:t>Рейтинг команды</a:t>
                      </a:r>
                    </a:p>
                  </a:txBody>
                  <a:tcPr>
                    <a:solidFill>
                      <a:srgbClr val="0B0C0F"/>
                    </a:solidFill>
                  </a:tcPr>
                </a:tc>
                <a:tc>
                  <a:txBody>
                    <a:bodyPr wrap="square" lIns="76200" rIns="76200" tIns="38100" bIns="38100"/>
                    <a:lstStyle/>
                    <a:p>
                      <a:pPr algn="l"/>
                      <a:r>
                        <a:rPr sz="1050" b="0">
                          <a:solidFill>
                            <a:srgbClr val="E7E9EE"/>
                          </a:solidFill>
                          <a:latin typeface="Arial"/>
                        </a:rPr>
                        <a:t>/admin → Leaderboard</a:t>
                      </a:r>
                    </a:p>
                  </a:txBody>
                  <a:tcPr>
                    <a:solidFill>
                      <a:srgbClr val="0B0C0F"/>
                    </a:solidFill>
                  </a:tcPr>
                </a:tc>
                <a:tc>
                  <a:txBody>
                    <a:bodyPr wrap="square" lIns="76200" rIns="76200" tIns="38100" bIns="38100"/>
                    <a:lstStyle/>
                    <a:p>
                      <a:pPr algn="l"/>
                      <a:r>
                        <a:rPr sz="1050" b="0">
                          <a:solidFill>
                            <a:srgbClr val="E7E9EE"/>
                          </a:solidFill>
                          <a:latin typeface="Arial"/>
                        </a:rPr>
                        <a:t>Админ · РОП</a:t>
                      </a:r>
                    </a:p>
                  </a:txBody>
                  <a:tcPr>
                    <a:solidFill>
                      <a:srgbClr val="0B0C0F"/>
                    </a:solidFill>
                  </a:tcPr>
                </a:tc>
              </a:tr>
              <a:tr h="279400">
                <a:tc>
                  <a:txBody>
                    <a:bodyPr wrap="square" lIns="76200" rIns="76200" tIns="38100" bIns="38100"/>
                    <a:lstStyle/>
                    <a:p>
                      <a:pPr algn="l"/>
                      <a:r>
                        <a:rPr sz="1050" b="0">
                          <a:solidFill>
                            <a:srgbClr val="E7E9EE"/>
                          </a:solidFill>
                          <a:latin typeface="Arial"/>
                        </a:rPr>
                        <a:t>Подготовиться к 1-на-1</a:t>
                      </a:r>
                    </a:p>
                  </a:txBody>
                  <a:tcPr>
                    <a:solidFill>
                      <a:srgbClr val="0D1628"/>
                    </a:solidFill>
                  </a:tcPr>
                </a:tc>
                <a:tc>
                  <a:txBody>
                    <a:bodyPr wrap="square" lIns="76200" rIns="76200" tIns="38100" bIns="38100"/>
                    <a:lstStyle/>
                    <a:p>
                      <a:pPr algn="l"/>
                      <a:r>
                        <a:rPr sz="1050" b="0">
                          <a:solidFill>
                            <a:srgbClr val="E7E9EE"/>
                          </a:solidFill>
                          <a:latin typeface="Arial"/>
                        </a:rPr>
                        <a:t>/admin → 1-на-1 отчёт</a:t>
                      </a:r>
                    </a:p>
                  </a:txBody>
                  <a:tcPr>
                    <a:solidFill>
                      <a:srgbClr val="0D1628"/>
                    </a:solidFill>
                  </a:tcPr>
                </a:tc>
                <a:tc>
                  <a:txBody>
                    <a:bodyPr wrap="square" lIns="76200" rIns="76200" tIns="38100" bIns="38100"/>
                    <a:lstStyle/>
                    <a:p>
                      <a:pPr algn="l"/>
                      <a:r>
                        <a:rPr sz="1050" b="0">
                          <a:solidFill>
                            <a:srgbClr val="E7E9EE"/>
                          </a:solidFill>
                          <a:latin typeface="Arial"/>
                        </a:rPr>
                        <a:t>РОП</a:t>
                      </a:r>
                    </a:p>
                  </a:txBody>
                  <a:tcPr>
                    <a:solidFill>
                      <a:srgbClr val="0D1628"/>
                    </a:solidFill>
                  </a:tcPr>
                </a:tc>
              </a:tr>
              <a:tr h="279400">
                <a:tc>
                  <a:txBody>
                    <a:bodyPr wrap="square" lIns="76200" rIns="76200" tIns="38100" bIns="38100"/>
                    <a:lstStyle/>
                    <a:p>
                      <a:pPr algn="l"/>
                      <a:r>
                        <a:rPr sz="1050" b="0">
                          <a:solidFill>
                            <a:srgbClr val="E7E9EE"/>
                          </a:solidFill>
                          <a:latin typeface="Arial"/>
                        </a:rPr>
                        <a:t>Обработать лида</a:t>
                      </a:r>
                    </a:p>
                  </a:txBody>
                  <a:tcPr>
                    <a:solidFill>
                      <a:srgbClr val="0B0C0F"/>
                    </a:solidFill>
                  </a:tcPr>
                </a:tc>
                <a:tc>
                  <a:txBody>
                    <a:bodyPr wrap="square" lIns="76200" rIns="76200" tIns="38100" bIns="38100"/>
                    <a:lstStyle/>
                    <a:p>
                      <a:pPr algn="l"/>
                      <a:r>
                        <a:rPr sz="1050" b="0">
                          <a:solidFill>
                            <a:srgbClr val="E7E9EE"/>
                          </a:solidFill>
                          <a:latin typeface="Arial"/>
                        </a:rPr>
                        <a:t>/lidy → карточка лида</a:t>
                      </a:r>
                    </a:p>
                  </a:txBody>
                  <a:tcPr>
                    <a:solidFill>
                      <a:srgbClr val="0B0C0F"/>
                    </a:solidFill>
                  </a:tcPr>
                </a:tc>
                <a:tc>
                  <a:txBody>
                    <a:bodyPr wrap="square" lIns="76200" rIns="76200" tIns="38100" bIns="38100"/>
                    <a:lstStyle/>
                    <a:p>
                      <a:pPr algn="l"/>
                      <a:r>
                        <a:rPr sz="1050" b="0">
                          <a:solidFill>
                            <a:srgbClr val="E7E9EE"/>
                          </a:solidFill>
                          <a:latin typeface="Arial"/>
                        </a:rPr>
                        <a:t>Менеджер · РОП</a:t>
                      </a:r>
                    </a:p>
                  </a:txBody>
                  <a:tcPr>
                    <a:solidFill>
                      <a:srgbClr val="0B0C0F"/>
                    </a:solidFill>
                  </a:tcPr>
                </a:tc>
              </a:tr>
              <a:tr h="279400">
                <a:tc>
                  <a:txBody>
                    <a:bodyPr wrap="square" lIns="76200" rIns="76200" tIns="38100" bIns="38100"/>
                    <a:lstStyle/>
                    <a:p>
                      <a:pPr algn="l"/>
                      <a:r>
                        <a:rPr sz="1050" b="0">
                          <a:solidFill>
                            <a:srgbClr val="E7E9EE"/>
                          </a:solidFill>
                          <a:latin typeface="Arial"/>
                        </a:rPr>
                        <a:t>Сменить статус</a:t>
                      </a:r>
                    </a:p>
                  </a:txBody>
                  <a:tcPr>
                    <a:solidFill>
                      <a:srgbClr val="0D1628"/>
                    </a:solidFill>
                  </a:tcPr>
                </a:tc>
                <a:tc>
                  <a:txBody>
                    <a:bodyPr wrap="square" lIns="76200" rIns="76200" tIns="38100" bIns="38100"/>
                    <a:lstStyle/>
                    <a:p>
                      <a:pPr algn="l"/>
                      <a:r>
                        <a:rPr sz="1050" b="0">
                          <a:solidFill>
                            <a:srgbClr val="E7E9EE"/>
                          </a:solidFill>
                          <a:latin typeface="Arial"/>
                        </a:rPr>
                        <a:t>Карточка → Обзор, или канбан</a:t>
                      </a:r>
                    </a:p>
                  </a:txBody>
                  <a:tcPr>
                    <a:solidFill>
                      <a:srgbClr val="0D1628"/>
                    </a:solidFill>
                  </a:tcPr>
                </a:tc>
                <a:tc>
                  <a:txBody>
                    <a:bodyPr wrap="square" lIns="76200" rIns="76200" tIns="38100" bIns="38100"/>
                    <a:lstStyle/>
                    <a:p>
                      <a:pPr algn="l"/>
                      <a:r>
                        <a:rPr sz="1050" b="0">
                          <a:solidFill>
                            <a:srgbClr val="E7E9EE"/>
                          </a:solidFill>
                          <a:latin typeface="Arial"/>
                        </a:rPr>
                        <a:t>Менеджер</a:t>
                      </a:r>
                    </a:p>
                  </a:txBody>
                  <a:tcPr>
                    <a:solidFill>
                      <a:srgbClr val="0D1628"/>
                    </a:solidFill>
                  </a:tcPr>
                </a:tc>
              </a:tr>
              <a:tr h="279400">
                <a:tc>
                  <a:txBody>
                    <a:bodyPr wrap="square" lIns="76200" rIns="76200" tIns="38100" bIns="38100"/>
                    <a:lstStyle/>
                    <a:p>
                      <a:pPr algn="l"/>
                      <a:r>
                        <a:rPr sz="1050" b="0">
                          <a:solidFill>
                            <a:srgbClr val="E7E9EE"/>
                          </a:solidFill>
                          <a:latin typeface="Arial"/>
                        </a:rPr>
                        <a:t>Передать лид коллеге</a:t>
                      </a:r>
                    </a:p>
                  </a:txBody>
                  <a:tcPr>
                    <a:solidFill>
                      <a:srgbClr val="0B0C0F"/>
                    </a:solidFill>
                  </a:tcPr>
                </a:tc>
                <a:tc>
                  <a:txBody>
                    <a:bodyPr wrap="square" lIns="76200" rIns="76200" tIns="38100" bIns="38100"/>
                    <a:lstStyle/>
                    <a:p>
                      <a:pPr algn="l"/>
                      <a:r>
                        <a:rPr sz="1050" b="0">
                          <a:solidFill>
                            <a:srgbClr val="E7E9EE"/>
                          </a:solidFill>
                          <a:latin typeface="Arial"/>
                        </a:rPr>
                        <a:t>Карточка → Обзор → Передача</a:t>
                      </a:r>
                    </a:p>
                  </a:txBody>
                  <a:tcPr>
                    <a:solidFill>
                      <a:srgbClr val="0B0C0F"/>
                    </a:solidFill>
                  </a:tcPr>
                </a:tc>
                <a:tc>
                  <a:txBody>
                    <a:bodyPr wrap="square" lIns="76200" rIns="76200" tIns="38100" bIns="38100"/>
                    <a:lstStyle/>
                    <a:p>
                      <a:pPr algn="l"/>
                      <a:r>
                        <a:rPr sz="1050" b="0">
                          <a:solidFill>
                            <a:srgbClr val="E7E9EE"/>
                          </a:solidFill>
                          <a:latin typeface="Arial"/>
                        </a:rPr>
                        <a:t>Менеджер</a:t>
                      </a:r>
                    </a:p>
                  </a:txBody>
                  <a:tcPr>
                    <a:solidFill>
                      <a:srgbClr val="0B0C0F"/>
                    </a:solidFill>
                  </a:tcPr>
                </a:tc>
              </a:tr>
              <a:tr h="279400">
                <a:tc>
                  <a:txBody>
                    <a:bodyPr wrap="square" lIns="76200" rIns="76200" tIns="38100" bIns="38100"/>
                    <a:lstStyle/>
                    <a:p>
                      <a:pPr algn="l"/>
                      <a:r>
                        <a:rPr sz="1050" b="0">
                          <a:solidFill>
                            <a:srgbClr val="E7E9EE"/>
                          </a:solidFill>
                          <a:latin typeface="Arial"/>
                        </a:rPr>
                        <a:t>Загрузить паспорт клиента</a:t>
                      </a:r>
                    </a:p>
                  </a:txBody>
                  <a:tcPr>
                    <a:solidFill>
                      <a:srgbClr val="0D1628"/>
                    </a:solidFill>
                  </a:tcPr>
                </a:tc>
                <a:tc>
                  <a:txBody>
                    <a:bodyPr wrap="square" lIns="76200" rIns="76200" tIns="38100" bIns="38100"/>
                    <a:lstStyle/>
                    <a:p>
                      <a:pPr algn="l"/>
                      <a:r>
                        <a:rPr sz="1050" b="0">
                          <a:solidFill>
                            <a:srgbClr val="E7E9EE"/>
                          </a:solidFill>
                          <a:latin typeface="Arial"/>
                        </a:rPr>
                        <a:t>Карточка → 📎 Файлы</a:t>
                      </a:r>
                    </a:p>
                  </a:txBody>
                  <a:tcPr>
                    <a:solidFill>
                      <a:srgbClr val="0D1628"/>
                    </a:solidFill>
                  </a:tcPr>
                </a:tc>
                <a:tc>
                  <a:txBody>
                    <a:bodyPr wrap="square" lIns="76200" rIns="76200" tIns="38100" bIns="38100"/>
                    <a:lstStyle/>
                    <a:p>
                      <a:pPr algn="l"/>
                      <a:r>
                        <a:rPr sz="1050" b="0">
                          <a:solidFill>
                            <a:srgbClr val="E7E9EE"/>
                          </a:solidFill>
                          <a:latin typeface="Arial"/>
                        </a:rPr>
                        <a:t>Менеджер</a:t>
                      </a:r>
                    </a:p>
                  </a:txBody>
                  <a:tcPr>
                    <a:solidFill>
                      <a:srgbClr val="0D1628"/>
                    </a:solidFill>
                  </a:tcPr>
                </a:tc>
              </a:tr>
              <a:tr h="279400">
                <a:tc>
                  <a:txBody>
                    <a:bodyPr wrap="square" lIns="76200" rIns="76200" tIns="38100" bIns="38100"/>
                    <a:lstStyle/>
                    <a:p>
                      <a:pPr algn="l"/>
                      <a:r>
                        <a:rPr sz="1050" b="0">
                          <a:solidFill>
                            <a:srgbClr val="E7E9EE"/>
                          </a:solidFill>
                          <a:latin typeface="Arial"/>
                        </a:rPr>
                        <a:t>Выгрузить лиды в Excel</a:t>
                      </a:r>
                    </a:p>
                  </a:txBody>
                  <a:tcPr>
                    <a:solidFill>
                      <a:srgbClr val="0B0C0F"/>
                    </a:solidFill>
                  </a:tcPr>
                </a:tc>
                <a:tc>
                  <a:txBody>
                    <a:bodyPr wrap="square" lIns="76200" rIns="76200" tIns="38100" bIns="38100"/>
                    <a:lstStyle/>
                    <a:p>
                      <a:pPr algn="l"/>
                      <a:r>
                        <a:rPr sz="1050" b="0">
                          <a:solidFill>
                            <a:srgbClr val="E7E9EE"/>
                          </a:solidFill>
                          <a:latin typeface="Arial"/>
                        </a:rPr>
                        <a:t>/admin → Дашборд → Экспорт</a:t>
                      </a:r>
                    </a:p>
                  </a:txBody>
                  <a:tcPr>
                    <a:solidFill>
                      <a:srgbClr val="0B0C0F"/>
                    </a:solidFill>
                  </a:tcPr>
                </a:tc>
                <a:tc>
                  <a:txBody>
                    <a:bodyPr wrap="square" lIns="76200" rIns="76200" tIns="38100" bIns="38100"/>
                    <a:lstStyle/>
                    <a:p>
                      <a:pPr algn="l"/>
                      <a:r>
                        <a:rPr sz="1050" b="0">
                          <a:solidFill>
                            <a:srgbClr val="E7E9EE"/>
                          </a:solidFill>
                          <a:latin typeface="Arial"/>
                        </a:rPr>
                        <a:t>Админ · РОП</a:t>
                      </a:r>
                    </a:p>
                  </a:txBody>
                  <a:tcPr>
                    <a:solidFill>
                      <a:srgbClr val="0B0C0F"/>
                    </a:solidFill>
                  </a:tcPr>
                </a:tc>
              </a:tr>
              <a:tr h="279400">
                <a:tc>
                  <a:txBody>
                    <a:bodyPr wrap="square" lIns="76200" rIns="76200" tIns="38100" bIns="38100"/>
                    <a:lstStyle/>
                    <a:p>
                      <a:pPr algn="l"/>
                      <a:r>
                        <a:rPr sz="1050" b="0">
                          <a:solidFill>
                            <a:srgbClr val="E7E9EE"/>
                          </a:solidFill>
                          <a:latin typeface="Arial"/>
                        </a:rPr>
                        <a:t>Скачать резервную копию</a:t>
                      </a:r>
                    </a:p>
                  </a:txBody>
                  <a:tcPr>
                    <a:solidFill>
                      <a:srgbClr val="0D1628"/>
                    </a:solidFill>
                  </a:tcPr>
                </a:tc>
                <a:tc>
                  <a:txBody>
                    <a:bodyPr wrap="square" lIns="76200" rIns="76200" tIns="38100" bIns="38100"/>
                    <a:lstStyle/>
                    <a:p>
                      <a:pPr algn="l"/>
                      <a:r>
                        <a:rPr sz="1050" b="0">
                          <a:solidFill>
                            <a:srgbClr val="E7E9EE"/>
                          </a:solidFill>
                          <a:latin typeface="Arial"/>
                        </a:rPr>
                        <a:t>/admin → Утилиты и бэкапы</a:t>
                      </a:r>
                    </a:p>
                  </a:txBody>
                  <a:tcPr>
                    <a:solidFill>
                      <a:srgbClr val="0D1628"/>
                    </a:solidFill>
                  </a:tcPr>
                </a:tc>
                <a:tc>
                  <a:txBody>
                    <a:bodyPr wrap="square" lIns="76200" rIns="76200" tIns="38100" bIns="38100"/>
                    <a:lstStyle/>
                    <a:p>
                      <a:pPr algn="l"/>
                      <a:r>
                        <a:rPr sz="1050" b="0">
                          <a:solidFill>
                            <a:srgbClr val="E7E9EE"/>
                          </a:solidFill>
                          <a:latin typeface="Arial"/>
                        </a:rPr>
                        <a:t>Админ</a:t>
                      </a:r>
                    </a:p>
                  </a:txBody>
                  <a:tcPr>
                    <a:solidFill>
                      <a:srgbClr val="0D1628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6E7582"/>
                </a:solidFill>
                <a:latin typeface="Arial"/>
              </a:rPr>
              <a:t>GoGlobal · база знаний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79615" y="6473952"/>
            <a:ext cx="4572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>
                <a:solidFill>
                  <a:srgbClr val="6E7582"/>
                </a:solidFill>
                <a:latin typeface="Arial"/>
              </a:rPr>
              <a:t>X · Карта действий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C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080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11535" y="164592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E7582"/>
                </a:solidFill>
                <a:latin typeface="Arial"/>
              </a:rPr>
              <a:t>34 / 36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84048"/>
            <a:ext cx="82296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6366F1"/>
                </a:solidFill>
                <a:latin typeface="Arial"/>
              </a:rPr>
              <a:t>XI · ЧЕК-ЛИСТЫ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58368"/>
            <a:ext cx="10911535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E7E9EE"/>
                </a:solidFill>
                <a:latin typeface="Arial"/>
              </a:rPr>
              <a:t>Ритуалы по ролям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417320"/>
            <a:ext cx="3520440" cy="3566160"/>
          </a:xfrm>
          <a:prstGeom prst="roundRect">
            <a:avLst>
              <a:gd name="adj" fmla="val 6000"/>
            </a:avLst>
          </a:prstGeom>
          <a:solidFill>
            <a:srgbClr val="121419"/>
          </a:solidFill>
          <a:ln w="9525">
            <a:solidFill>
              <a:srgbClr val="2326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41248" y="1554480"/>
            <a:ext cx="3200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7E9EE"/>
                </a:solidFill>
                <a:latin typeface="Arial"/>
              </a:rPr>
              <a:t>Менеджер · день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" y="2011680"/>
            <a:ext cx="32004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6366F1"/>
                </a:solidFill>
                <a:latin typeface="Arial"/>
              </a:rPr>
              <a:t>•  </a:t>
            </a:r>
            <a:r>
              <a:rPr sz="1000" b="0">
                <a:solidFill>
                  <a:srgbClr val="9AA1AE"/>
                </a:solidFill>
                <a:latin typeface="Arial"/>
              </a:rPr>
              <a:t>09:00 открыть CRM</a:t>
            </a:r>
          </a:p>
          <a:p>
            <a:r>
              <a:rPr sz="1000" b="1">
                <a:solidFill>
                  <a:srgbClr val="6366F1"/>
                </a:solidFill>
                <a:latin typeface="Arial"/>
              </a:rPr>
              <a:t>•  </a:t>
            </a:r>
            <a:r>
              <a:rPr sz="1000" b="0">
                <a:solidFill>
                  <a:srgbClr val="9AA1AE"/>
                </a:solidFill>
                <a:latin typeface="Arial"/>
              </a:rPr>
              <a:t>Включить «🟢 в сети»</a:t>
            </a:r>
          </a:p>
          <a:p>
            <a:r>
              <a:rPr sz="1000" b="1">
                <a:solidFill>
                  <a:srgbClr val="6366F1"/>
                </a:solidFill>
                <a:latin typeface="Arial"/>
              </a:rPr>
              <a:t>•  </a:t>
            </a:r>
            <a:r>
              <a:rPr sz="1000" b="0">
                <a:solidFill>
                  <a:srgbClr val="9AA1AE"/>
                </a:solidFill>
                <a:latin typeface="Arial"/>
              </a:rPr>
              <a:t>Глянуть «Мой день»</a:t>
            </a:r>
          </a:p>
          <a:p>
            <a:r>
              <a:rPr sz="1000" b="1">
                <a:solidFill>
                  <a:srgbClr val="6366F1"/>
                </a:solidFill>
                <a:latin typeface="Arial"/>
              </a:rPr>
              <a:t>•  </a:t>
            </a:r>
            <a:r>
              <a:rPr sz="1000" b="0">
                <a:solidFill>
                  <a:srgbClr val="9AA1AE"/>
                </a:solidFill>
                <a:latin typeface="Arial"/>
              </a:rPr>
              <a:t>Включить Inbox 0</a:t>
            </a:r>
          </a:p>
          <a:p>
            <a:r>
              <a:rPr sz="1000" b="1">
                <a:solidFill>
                  <a:srgbClr val="6366F1"/>
                </a:solidFill>
                <a:latin typeface="Arial"/>
              </a:rPr>
              <a:t>•  </a:t>
            </a:r>
            <a:r>
              <a:rPr sz="1000" b="0">
                <a:solidFill>
                  <a:srgbClr val="9AA1AE"/>
                </a:solidFill>
                <a:latin typeface="Arial"/>
              </a:rPr>
              <a:t>Закрыть просроченные задачи</a:t>
            </a:r>
          </a:p>
          <a:p>
            <a:r>
              <a:rPr sz="1000" b="1">
                <a:solidFill>
                  <a:srgbClr val="6366F1"/>
                </a:solidFill>
                <a:latin typeface="Arial"/>
              </a:rPr>
              <a:t>•  </a:t>
            </a:r>
            <a:r>
              <a:rPr sz="1000" b="0">
                <a:solidFill>
                  <a:srgbClr val="9AA1AE"/>
                </a:solidFill>
                <a:latin typeface="Arial"/>
              </a:rPr>
              <a:t>Новые лиды — ответ в 15 минут</a:t>
            </a:r>
          </a:p>
          <a:p>
            <a:r>
              <a:rPr sz="1000" b="1">
                <a:solidFill>
                  <a:srgbClr val="6366F1"/>
                </a:solidFill>
                <a:latin typeface="Arial"/>
              </a:rPr>
              <a:t>•  </a:t>
            </a:r>
            <a:r>
              <a:rPr sz="1000" b="0">
                <a:solidFill>
                  <a:srgbClr val="9AA1AE"/>
                </a:solidFill>
                <a:latin typeface="Arial"/>
              </a:rPr>
              <a:t>Шаблоны вместо ручного набора</a:t>
            </a:r>
          </a:p>
          <a:p>
            <a:r>
              <a:rPr sz="1000" b="1">
                <a:solidFill>
                  <a:srgbClr val="6366F1"/>
                </a:solidFill>
                <a:latin typeface="Arial"/>
              </a:rPr>
              <a:t>•  </a:t>
            </a:r>
            <a:r>
              <a:rPr sz="1000" b="0">
                <a:solidFill>
                  <a:srgbClr val="9AA1AE"/>
                </a:solidFill>
                <a:latin typeface="Arial"/>
              </a:rPr>
              <a:t>Суммы сделок — сразу</a:t>
            </a:r>
          </a:p>
          <a:p>
            <a:r>
              <a:rPr sz="1000" b="1">
                <a:solidFill>
                  <a:srgbClr val="6366F1"/>
                </a:solidFill>
                <a:latin typeface="Arial"/>
              </a:rPr>
              <a:t>•  </a:t>
            </a:r>
            <a:r>
              <a:rPr sz="1000" b="0">
                <a:solidFill>
                  <a:srgbClr val="9AA1AE"/>
                </a:solidFill>
                <a:latin typeface="Arial"/>
              </a:rPr>
              <a:t>Обед → «не в сети» → обратно</a:t>
            </a:r>
          </a:p>
          <a:p>
            <a:r>
              <a:rPr sz="1000" b="1">
                <a:solidFill>
                  <a:srgbClr val="6366F1"/>
                </a:solidFill>
                <a:latin typeface="Arial"/>
              </a:rPr>
              <a:t>•  </a:t>
            </a:r>
            <a:r>
              <a:rPr sz="1000" b="0">
                <a:solidFill>
                  <a:srgbClr val="9AA1AE"/>
                </a:solidFill>
                <a:latin typeface="Arial"/>
              </a:rPr>
              <a:t>18:00 Inbox 0 пуст → «не в сети»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43400" y="1417320"/>
            <a:ext cx="3520440" cy="3566160"/>
          </a:xfrm>
          <a:prstGeom prst="roundRect">
            <a:avLst>
              <a:gd name="adj" fmla="val 6000"/>
            </a:avLst>
          </a:prstGeom>
          <a:solidFill>
            <a:srgbClr val="121419"/>
          </a:solidFill>
          <a:ln w="9525">
            <a:solidFill>
              <a:srgbClr val="2326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44568" y="1554480"/>
            <a:ext cx="3200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7E9EE"/>
                </a:solidFill>
                <a:latin typeface="Arial"/>
              </a:rPr>
              <a:t>РОП · неделя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44568" y="2011680"/>
            <a:ext cx="32004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6366F1"/>
                </a:solidFill>
                <a:latin typeface="Arial"/>
              </a:rPr>
              <a:t>•  </a:t>
            </a:r>
            <a:r>
              <a:rPr sz="1000" b="0">
                <a:solidFill>
                  <a:srgbClr val="9AA1AE"/>
                </a:solidFill>
                <a:latin typeface="Arial"/>
              </a:rPr>
              <a:t>Ежедневно 09:00 Telegram-отчёт</a:t>
            </a:r>
          </a:p>
          <a:p>
            <a:r>
              <a:rPr sz="1000" b="1">
                <a:solidFill>
                  <a:srgbClr val="6366F1"/>
                </a:solidFill>
                <a:latin typeface="Arial"/>
              </a:rPr>
              <a:t>•  </a:t>
            </a:r>
            <a:r>
              <a:rPr sz="1000" b="0">
                <a:solidFill>
                  <a:srgbClr val="9AA1AE"/>
                </a:solidFill>
                <a:latin typeface="Arial"/>
              </a:rPr>
              <a:t>Светофор в админке</a:t>
            </a:r>
          </a:p>
          <a:p>
            <a:r>
              <a:rPr sz="1000" b="1">
                <a:solidFill>
                  <a:srgbClr val="6366F1"/>
                </a:solidFill>
                <a:latin typeface="Arial"/>
              </a:rPr>
              <a:t>•  </a:t>
            </a:r>
            <a:r>
              <a:rPr sz="1000" b="0">
                <a:solidFill>
                  <a:srgbClr val="9AA1AE"/>
                </a:solidFill>
                <a:latin typeface="Arial"/>
              </a:rPr>
              <a:t>Пн: Leaderboard за неделю</a:t>
            </a:r>
          </a:p>
          <a:p>
            <a:r>
              <a:rPr sz="1000" b="1">
                <a:solidFill>
                  <a:srgbClr val="6366F1"/>
                </a:solidFill>
                <a:latin typeface="Arial"/>
              </a:rPr>
              <a:t>•  </a:t>
            </a:r>
            <a:r>
              <a:rPr sz="1000" b="0">
                <a:solidFill>
                  <a:srgbClr val="9AA1AE"/>
                </a:solidFill>
                <a:latin typeface="Arial"/>
              </a:rPr>
              <a:t>Пн: раздать горячих, топ-3</a:t>
            </a:r>
          </a:p>
          <a:p>
            <a:r>
              <a:rPr sz="1000" b="1">
                <a:solidFill>
                  <a:srgbClr val="6366F1"/>
                </a:solidFill>
                <a:latin typeface="Arial"/>
              </a:rPr>
              <a:t>•  </a:t>
            </a:r>
            <a:r>
              <a:rPr sz="1000" b="0">
                <a:solidFill>
                  <a:srgbClr val="9AA1AE"/>
                </a:solidFill>
                <a:latin typeface="Arial"/>
              </a:rPr>
              <a:t>Ср: 1-на-1 по готовым отчётам</a:t>
            </a:r>
          </a:p>
          <a:p>
            <a:r>
              <a:rPr sz="1000" b="1">
                <a:solidFill>
                  <a:srgbClr val="6366F1"/>
                </a:solidFill>
                <a:latin typeface="Arial"/>
              </a:rPr>
              <a:t>•  </a:t>
            </a:r>
            <a:r>
              <a:rPr sz="1000" b="0">
                <a:solidFill>
                  <a:srgbClr val="9AA1AE"/>
                </a:solidFill>
                <a:latin typeface="Arial"/>
              </a:rPr>
              <a:t>Пт: когорты + ROI каналов</a:t>
            </a:r>
          </a:p>
          <a:p>
            <a:r>
              <a:rPr sz="1000" b="1">
                <a:solidFill>
                  <a:srgbClr val="6366F1"/>
                </a:solidFill>
                <a:latin typeface="Arial"/>
              </a:rPr>
              <a:t>•  </a:t>
            </a:r>
            <a:r>
              <a:rPr sz="1000" b="0">
                <a:solidFill>
                  <a:srgbClr val="9AA1AE"/>
                </a:solidFill>
                <a:latin typeface="Arial"/>
              </a:rPr>
              <a:t>Пт: проверить зависшие лиды</a:t>
            </a:r>
          </a:p>
          <a:p>
            <a:r>
              <a:rPr sz="1000" b="1">
                <a:solidFill>
                  <a:srgbClr val="6366F1"/>
                </a:solidFill>
                <a:latin typeface="Arial"/>
              </a:rPr>
              <a:t>•  </a:t>
            </a:r>
            <a:r>
              <a:rPr sz="1000" b="0">
                <a:solidFill>
                  <a:srgbClr val="9AA1AE"/>
                </a:solidFill>
                <a:latin typeface="Arial"/>
              </a:rPr>
              <a:t>По необходимости: авто-сценарии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46720" y="1417320"/>
            <a:ext cx="3520440" cy="3566160"/>
          </a:xfrm>
          <a:prstGeom prst="roundRect">
            <a:avLst>
              <a:gd name="adj" fmla="val 6000"/>
            </a:avLst>
          </a:prstGeom>
          <a:solidFill>
            <a:srgbClr val="121419"/>
          </a:solidFill>
          <a:ln w="9525">
            <a:solidFill>
              <a:srgbClr val="2326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47888" y="1554480"/>
            <a:ext cx="3200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7E9EE"/>
                </a:solidFill>
                <a:latin typeface="Arial"/>
              </a:rPr>
              <a:t>Админ · месяц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47888" y="2011680"/>
            <a:ext cx="32004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6366F1"/>
                </a:solidFill>
                <a:latin typeface="Arial"/>
              </a:rPr>
              <a:t>•  </a:t>
            </a:r>
            <a:r>
              <a:rPr sz="1000" b="0">
                <a:solidFill>
                  <a:srgbClr val="9AA1AE"/>
                </a:solidFill>
                <a:latin typeface="Arial"/>
              </a:rPr>
              <a:t>1-е число: бэкап в облако</a:t>
            </a:r>
          </a:p>
          <a:p>
            <a:r>
              <a:rPr sz="1000" b="1">
                <a:solidFill>
                  <a:srgbClr val="6366F1"/>
                </a:solidFill>
                <a:latin typeface="Arial"/>
              </a:rPr>
              <a:t>•  </a:t>
            </a:r>
            <a:r>
              <a:rPr sz="1000" b="0">
                <a:solidFill>
                  <a:srgbClr val="9AA1AE"/>
                </a:solidFill>
                <a:latin typeface="Arial"/>
              </a:rPr>
              <a:t>1-е число: место в БД</a:t>
            </a:r>
          </a:p>
          <a:p>
            <a:r>
              <a:rPr sz="1000" b="1">
                <a:solidFill>
                  <a:srgbClr val="6366F1"/>
                </a:solidFill>
                <a:latin typeface="Arial"/>
              </a:rPr>
              <a:t>•  </a:t>
            </a:r>
            <a:r>
              <a:rPr sz="1000" b="0">
                <a:solidFill>
                  <a:srgbClr val="9AA1AE"/>
                </a:solidFill>
                <a:latin typeface="Arial"/>
              </a:rPr>
              <a:t>15-е: журнал аудита</a:t>
            </a:r>
          </a:p>
          <a:p>
            <a:r>
              <a:rPr sz="1000" b="1">
                <a:solidFill>
                  <a:srgbClr val="6366F1"/>
                </a:solidFill>
                <a:latin typeface="Arial"/>
              </a:rPr>
              <a:t>•  </a:t>
            </a:r>
            <a:r>
              <a:rPr sz="1000" b="0">
                <a:solidFill>
                  <a:srgbClr val="9AA1AE"/>
                </a:solidFill>
                <a:latin typeface="Arial"/>
              </a:rPr>
              <a:t>Квартал: сменить пароль админки</a:t>
            </a:r>
          </a:p>
          <a:p>
            <a:r>
              <a:rPr sz="1000" b="1">
                <a:solidFill>
                  <a:srgbClr val="6366F1"/>
                </a:solidFill>
                <a:latin typeface="Arial"/>
              </a:rPr>
              <a:t>•  </a:t>
            </a:r>
            <a:r>
              <a:rPr sz="1000" b="0">
                <a:solidFill>
                  <a:srgbClr val="9AA1AE"/>
                </a:solidFill>
                <a:latin typeface="Arial"/>
              </a:rPr>
              <a:t>Полгода: ревизия правил</a:t>
            </a:r>
          </a:p>
          <a:p>
            <a:r>
              <a:rPr sz="1000" b="1">
                <a:solidFill>
                  <a:srgbClr val="6366F1"/>
                </a:solidFill>
                <a:latin typeface="Arial"/>
              </a:rPr>
              <a:t>•  </a:t>
            </a:r>
            <a:r>
              <a:rPr sz="1000" b="0">
                <a:solidFill>
                  <a:srgbClr val="9AA1AE"/>
                </a:solidFill>
                <a:latin typeface="Arial"/>
              </a:rPr>
              <a:t>По запросу: контент сайта</a:t>
            </a:r>
          </a:p>
          <a:p>
            <a:r>
              <a:rPr sz="1000" b="1">
                <a:solidFill>
                  <a:srgbClr val="6366F1"/>
                </a:solidFill>
                <a:latin typeface="Arial"/>
              </a:rPr>
              <a:t>•  </a:t>
            </a:r>
            <a:r>
              <a:rPr sz="1000" b="0">
                <a:solidFill>
                  <a:srgbClr val="9AA1AE"/>
                </a:solidFill>
                <a:latin typeface="Arial"/>
              </a:rPr>
              <a:t>По росту: новые сотрудники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5212080"/>
            <a:ext cx="10881360" cy="1097280"/>
          </a:xfrm>
          <a:prstGeom prst="roundRect">
            <a:avLst>
              <a:gd name="adj" fmla="val 6000"/>
            </a:avLst>
          </a:prstGeom>
          <a:solidFill>
            <a:srgbClr val="2A1E0A"/>
          </a:solidFill>
          <a:ln w="9525">
            <a:solidFill>
              <a:srgbClr val="7850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68680" y="5349240"/>
            <a:ext cx="1042416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FDE68A"/>
                </a:solidFill>
                <a:latin typeface="Arial"/>
              </a:rPr>
              <a:t>ТРИ «НИКОГДА»</a:t>
            </a:r>
          </a:p>
          <a:p>
            <a:pPr algn="l"/>
            <a:r>
              <a:rPr sz="1150" b="0">
                <a:solidFill>
                  <a:srgbClr val="E7E9EE"/>
                </a:solidFill>
                <a:latin typeface="Arial"/>
              </a:rPr>
              <a:t>1. Не удалять менеджеров — только архивировать.  2. Не забывать «Сохранить» после правок контента.  3. Не оставлять «🟢 в сети» уходя домой.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6E7582"/>
                </a:solidFill>
                <a:latin typeface="Arial"/>
              </a:rPr>
              <a:t>GoGlobal · база знаний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79615" y="6473952"/>
            <a:ext cx="4572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>
                <a:solidFill>
                  <a:srgbClr val="6E7582"/>
                </a:solidFill>
                <a:latin typeface="Arial"/>
              </a:rPr>
              <a:t>XI · Чек-листы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C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080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11535" y="164592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E7582"/>
                </a:solidFill>
                <a:latin typeface="Arial"/>
              </a:rPr>
              <a:t>35 / 36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84048"/>
            <a:ext cx="82296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6366F1"/>
                </a:solidFill>
                <a:latin typeface="Arial"/>
              </a:rPr>
              <a:t>XI · ЧЕК-ЛИСТЫ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58368"/>
            <a:ext cx="10911535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E7E9EE"/>
                </a:solidFill>
                <a:latin typeface="Arial"/>
              </a:rPr>
              <a:t>Частые вопросы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463040"/>
            <a:ext cx="5303520" cy="1005840"/>
          </a:xfrm>
          <a:prstGeom prst="roundRect">
            <a:avLst>
              <a:gd name="adj" fmla="val 6000"/>
            </a:avLst>
          </a:prstGeom>
          <a:solidFill>
            <a:srgbClr val="121419"/>
          </a:solidFill>
          <a:ln w="9525">
            <a:solidFill>
              <a:srgbClr val="2326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41248" y="1554480"/>
            <a:ext cx="49377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1">
                <a:solidFill>
                  <a:srgbClr val="E7E9EE"/>
                </a:solidFill>
                <a:latin typeface="Arial"/>
              </a:rPr>
              <a:t>Менеджер забыл пароль?</a:t>
            </a:r>
          </a:p>
          <a:p>
            <a:pPr algn="l"/>
            <a:r>
              <a:rPr sz="1050" b="0">
                <a:solidFill>
                  <a:srgbClr val="9AA1AE"/>
                </a:solidFill>
                <a:latin typeface="Arial"/>
              </a:rPr>
              <a:t>Админ выдаёт стартовый пароль заново через «Менеджеры».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606040"/>
            <a:ext cx="5303520" cy="1005840"/>
          </a:xfrm>
          <a:prstGeom prst="roundRect">
            <a:avLst>
              <a:gd name="adj" fmla="val 6000"/>
            </a:avLst>
          </a:prstGeom>
          <a:solidFill>
            <a:srgbClr val="121419"/>
          </a:solidFill>
          <a:ln w="9525">
            <a:solidFill>
              <a:srgbClr val="2326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8" y="2697480"/>
            <a:ext cx="49377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1">
                <a:solidFill>
                  <a:srgbClr val="E7E9EE"/>
                </a:solidFill>
                <a:latin typeface="Arial"/>
              </a:rPr>
              <a:t>Лид никому не назначен?</a:t>
            </a:r>
          </a:p>
          <a:p>
            <a:pPr algn="l"/>
            <a:r>
              <a:rPr sz="1050" b="0">
                <a:solidFill>
                  <a:srgbClr val="9AA1AE"/>
                </a:solidFill>
                <a:latin typeface="Arial"/>
              </a:rPr>
              <a:t>Все офлайн. Включите «🟢 в сети» — очередь раздастся.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749040"/>
            <a:ext cx="5303520" cy="1005840"/>
          </a:xfrm>
          <a:prstGeom prst="roundRect">
            <a:avLst>
              <a:gd name="adj" fmla="val 6000"/>
            </a:avLst>
          </a:prstGeom>
          <a:solidFill>
            <a:srgbClr val="121419"/>
          </a:solidFill>
          <a:ln w="9525">
            <a:solidFill>
              <a:srgbClr val="2326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41248" y="3840480"/>
            <a:ext cx="49377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1">
                <a:solidFill>
                  <a:srgbClr val="E7E9EE"/>
                </a:solidFill>
                <a:latin typeface="Arial"/>
              </a:rPr>
              <a:t>Случайно удалили лид?</a:t>
            </a:r>
          </a:p>
          <a:p>
            <a:pPr algn="l"/>
            <a:r>
              <a:rPr sz="1050" b="0">
                <a:solidFill>
                  <a:srgbClr val="9AA1AE"/>
                </a:solidFill>
                <a:latin typeface="Arial"/>
              </a:rPr>
              <a:t>Восстановление из ежедневного бэкапа — к админу.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4892040"/>
            <a:ext cx="5303520" cy="1005840"/>
          </a:xfrm>
          <a:prstGeom prst="roundRect">
            <a:avLst>
              <a:gd name="adj" fmla="val 6000"/>
            </a:avLst>
          </a:prstGeom>
          <a:solidFill>
            <a:srgbClr val="121419"/>
          </a:solidFill>
          <a:ln w="9525">
            <a:solidFill>
              <a:srgbClr val="2326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1248" y="4983480"/>
            <a:ext cx="49377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1">
                <a:solidFill>
                  <a:srgbClr val="E7E9EE"/>
                </a:solidFill>
                <a:latin typeface="Arial"/>
              </a:rPr>
              <a:t>Клиент пришёл повторно?</a:t>
            </a:r>
          </a:p>
          <a:p>
            <a:pPr algn="l"/>
            <a:r>
              <a:rPr sz="1050" b="0">
                <a:solidFill>
                  <a:srgbClr val="9AA1AE"/>
                </a:solidFill>
                <a:latin typeface="Arial"/>
              </a:rPr>
              <a:t>Дедупликация привяжет заявку к старой карточке.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17920" y="1463040"/>
            <a:ext cx="5303520" cy="1005840"/>
          </a:xfrm>
          <a:prstGeom prst="roundRect">
            <a:avLst>
              <a:gd name="adj" fmla="val 6000"/>
            </a:avLst>
          </a:prstGeom>
          <a:solidFill>
            <a:srgbClr val="121419"/>
          </a:solidFill>
          <a:ln w="9525">
            <a:solidFill>
              <a:srgbClr val="2326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19088" y="1554480"/>
            <a:ext cx="49377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1">
                <a:solidFill>
                  <a:srgbClr val="E7E9EE"/>
                </a:solidFill>
                <a:latin typeface="Arial"/>
              </a:rPr>
              <a:t>Можно работать с телефона?</a:t>
            </a:r>
          </a:p>
          <a:p>
            <a:pPr algn="l"/>
            <a:r>
              <a:rPr sz="1050" b="0">
                <a:solidFill>
                  <a:srgbClr val="9AA1AE"/>
                </a:solidFill>
                <a:latin typeface="Arial"/>
              </a:rPr>
              <a:t>Да: CRM ставится как приложение, push туда же.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17920" y="2606040"/>
            <a:ext cx="5303520" cy="1005840"/>
          </a:xfrm>
          <a:prstGeom prst="roundRect">
            <a:avLst>
              <a:gd name="adj" fmla="val 6000"/>
            </a:avLst>
          </a:prstGeom>
          <a:solidFill>
            <a:srgbClr val="121419"/>
          </a:solidFill>
          <a:ln w="9525">
            <a:solidFill>
              <a:srgbClr val="2326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19088" y="2697480"/>
            <a:ext cx="49377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1">
                <a:solidFill>
                  <a:srgbClr val="E7E9EE"/>
                </a:solidFill>
                <a:latin typeface="Arial"/>
              </a:rPr>
              <a:t>Сайт упал — лиды теряются?</a:t>
            </a:r>
          </a:p>
          <a:p>
            <a:pPr algn="l"/>
            <a:r>
              <a:rPr sz="1050" b="0">
                <a:solidFill>
                  <a:srgbClr val="9AA1AE"/>
                </a:solidFill>
                <a:latin typeface="Arial"/>
              </a:rPr>
              <a:t>Хостинг с авто-перезапуском; WhatsApp-кнопка дублирует канал.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17920" y="3749040"/>
            <a:ext cx="5303520" cy="1005840"/>
          </a:xfrm>
          <a:prstGeom prst="roundRect">
            <a:avLst>
              <a:gd name="adj" fmla="val 6000"/>
            </a:avLst>
          </a:prstGeom>
          <a:solidFill>
            <a:srgbClr val="121419"/>
          </a:solidFill>
          <a:ln w="9525">
            <a:solidFill>
              <a:srgbClr val="2326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19088" y="3840480"/>
            <a:ext cx="49377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1">
                <a:solidFill>
                  <a:srgbClr val="E7E9EE"/>
                </a:solidFill>
                <a:latin typeface="Arial"/>
              </a:rPr>
              <a:t>Новый источник рекламы?</a:t>
            </a:r>
          </a:p>
          <a:p>
            <a:pPr algn="l"/>
            <a:r>
              <a:rPr sz="1050" b="0">
                <a:solidFill>
                  <a:srgbClr val="9AA1AE"/>
                </a:solidFill>
                <a:latin typeface="Arial"/>
              </a:rPr>
              <a:t>«Варианты источников» в админке + правило распределения.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17920" y="4892040"/>
            <a:ext cx="5303520" cy="1005840"/>
          </a:xfrm>
          <a:prstGeom prst="roundRect">
            <a:avLst>
              <a:gd name="adj" fmla="val 6000"/>
            </a:avLst>
          </a:prstGeom>
          <a:solidFill>
            <a:srgbClr val="121419"/>
          </a:solidFill>
          <a:ln w="9525">
            <a:solidFill>
              <a:srgbClr val="2326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19088" y="4983480"/>
            <a:ext cx="49377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1">
                <a:solidFill>
                  <a:srgbClr val="E7E9EE"/>
                </a:solidFill>
                <a:latin typeface="Arial"/>
              </a:rPr>
              <a:t>Двое правят сайт сразу?</a:t>
            </a:r>
          </a:p>
          <a:p>
            <a:pPr algn="l"/>
            <a:r>
              <a:rPr sz="1050" b="0">
                <a:solidFill>
                  <a:srgbClr val="9AA1AE"/>
                </a:solidFill>
                <a:latin typeface="Arial"/>
              </a:rPr>
              <a:t>Сработает последнее «Сохранить». Контент меняет один человек.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6E7582"/>
                </a:solidFill>
                <a:latin typeface="Arial"/>
              </a:rPr>
              <a:t>GoGlobal · база знаний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79615" y="6473952"/>
            <a:ext cx="4572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>
                <a:solidFill>
                  <a:srgbClr val="6E7582"/>
                </a:solidFill>
                <a:latin typeface="Arial"/>
              </a:rPr>
              <a:t>XI · FAQ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2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080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11535" y="164592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E7582"/>
                </a:solidFill>
                <a:latin typeface="Arial"/>
              </a:rPr>
              <a:t>36 / 36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40080"/>
            <a:ext cx="7315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A5B4FC"/>
                </a:solidFill>
                <a:latin typeface="Arial"/>
              </a:rPr>
              <a:t>ФИНАЛ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005840"/>
            <a:ext cx="100584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Arial"/>
              </a:rPr>
              <a:t>Готово к работе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965960"/>
            <a:ext cx="10515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9AA1AE"/>
                </a:solidFill>
                <a:latin typeface="Arial"/>
              </a:rPr>
              <a:t>Платформа закрывает весь цикл: от клика по рекламе до студента в кампусе.</a:t>
            </a:r>
          </a:p>
          <a:p>
            <a:pPr algn="l"/>
            <a:r>
              <a:rPr sz="1600" b="0">
                <a:solidFill>
                  <a:srgbClr val="9AA1AE"/>
                </a:solidFill>
                <a:latin typeface="Arial"/>
              </a:rPr>
              <a:t>Детали — в полной базе знаний (PDF, 40 стр.).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200400"/>
            <a:ext cx="3566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A5B4FC"/>
                </a:solidFill>
                <a:latin typeface="Arial"/>
              </a:rPr>
              <a:t>ДОСТУПЫ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657600"/>
            <a:ext cx="35661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1">
                <a:solidFill>
                  <a:srgbClr val="A5B4FC"/>
                </a:solidFill>
                <a:latin typeface="Arial"/>
              </a:rPr>
              <a:t>•  </a:t>
            </a:r>
            <a:r>
              <a:rPr sz="1200" b="0">
                <a:solidFill>
                  <a:srgbClr val="CBD5E1"/>
                </a:solidFill>
                <a:latin typeface="Arial"/>
              </a:rPr>
              <a:t>Сайт: goglobal.kg</a:t>
            </a:r>
          </a:p>
          <a:p>
            <a:pPr>
              <a:spcAft>
                <a:spcPts val="400"/>
              </a:spcAft>
            </a:pPr>
            <a:r>
              <a:rPr sz="1200" b="1">
                <a:solidFill>
                  <a:srgbClr val="A5B4FC"/>
                </a:solidFill>
                <a:latin typeface="Arial"/>
              </a:rPr>
              <a:t>•  </a:t>
            </a:r>
            <a:r>
              <a:rPr sz="1200" b="0">
                <a:solidFill>
                  <a:srgbClr val="CBD5E1"/>
                </a:solidFill>
                <a:latin typeface="Arial"/>
              </a:rPr>
              <a:t>Админка: goglobal.kg/admin</a:t>
            </a:r>
          </a:p>
          <a:p>
            <a:pPr>
              <a:spcAft>
                <a:spcPts val="400"/>
              </a:spcAft>
            </a:pPr>
            <a:r>
              <a:rPr sz="1200" b="1">
                <a:solidFill>
                  <a:srgbClr val="A5B4FC"/>
                </a:solidFill>
                <a:latin typeface="Arial"/>
              </a:rPr>
              <a:t>•  </a:t>
            </a:r>
            <a:r>
              <a:rPr sz="1200" b="0">
                <a:solidFill>
                  <a:srgbClr val="CBD5E1"/>
                </a:solidFill>
                <a:latin typeface="Arial"/>
              </a:rPr>
              <a:t>CRM: goglobal.kg/lidy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80559" y="3200400"/>
            <a:ext cx="3566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A5B4FC"/>
                </a:solidFill>
                <a:latin typeface="Arial"/>
              </a:rPr>
              <a:t>ДОКУМЕНТЫ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80559" y="3657600"/>
            <a:ext cx="35661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1">
                <a:solidFill>
                  <a:srgbClr val="A5B4FC"/>
                </a:solidFill>
                <a:latin typeface="Arial"/>
              </a:rPr>
              <a:t>•  </a:t>
            </a:r>
            <a:r>
              <a:rPr sz="1200" b="0">
                <a:solidFill>
                  <a:srgbClr val="CBD5E1"/>
                </a:solidFill>
                <a:latin typeface="Arial"/>
              </a:rPr>
              <a:t>Эта презентация (HTML + PPTX)</a:t>
            </a:r>
          </a:p>
          <a:p>
            <a:pPr>
              <a:spcAft>
                <a:spcPts val="400"/>
              </a:spcAft>
            </a:pPr>
            <a:r>
              <a:rPr sz="1200" b="1">
                <a:solidFill>
                  <a:srgbClr val="A5B4FC"/>
                </a:solidFill>
                <a:latin typeface="Arial"/>
              </a:rPr>
              <a:t>•  </a:t>
            </a:r>
            <a:r>
              <a:rPr sz="1200" b="0">
                <a:solidFill>
                  <a:srgbClr val="CBD5E1"/>
                </a:solidFill>
                <a:latin typeface="Arial"/>
              </a:rPr>
              <a:t>База знаний (PDF, 40 стр.)</a:t>
            </a:r>
          </a:p>
          <a:p>
            <a:pPr>
              <a:spcAft>
                <a:spcPts val="400"/>
              </a:spcAft>
            </a:pPr>
            <a:r>
              <a:rPr sz="1200" b="1">
                <a:solidFill>
                  <a:srgbClr val="A5B4FC"/>
                </a:solidFill>
                <a:latin typeface="Arial"/>
              </a:rPr>
              <a:t>•  </a:t>
            </a:r>
            <a:r>
              <a:rPr sz="1200" b="0">
                <a:solidFill>
                  <a:srgbClr val="CBD5E1"/>
                </a:solidFill>
                <a:latin typeface="Arial"/>
              </a:rPr>
              <a:t>Мануал CRM (PDF, 97 стр.)</a:t>
            </a:r>
          </a:p>
          <a:p>
            <a:pPr>
              <a:spcAft>
                <a:spcPts val="400"/>
              </a:spcAft>
            </a:pPr>
            <a:r>
              <a:rPr sz="1200" b="1">
                <a:solidFill>
                  <a:srgbClr val="A5B4FC"/>
                </a:solidFill>
                <a:latin typeface="Arial"/>
              </a:rPr>
              <a:t>•  </a:t>
            </a:r>
            <a:r>
              <a:rPr sz="1200" b="0">
                <a:solidFill>
                  <a:srgbClr val="CBD5E1"/>
                </a:solidFill>
                <a:latin typeface="Arial"/>
              </a:rPr>
              <a:t>Спецификация сайта (PDF)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598" y="3200400"/>
            <a:ext cx="3566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A5B4FC"/>
                </a:solidFill>
                <a:latin typeface="Arial"/>
              </a:rPr>
              <a:t>ПЕРВЫЕ ШАГИ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598" y="3657600"/>
            <a:ext cx="35661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1">
                <a:solidFill>
                  <a:srgbClr val="A5B4FC"/>
                </a:solidFill>
                <a:latin typeface="Arial"/>
              </a:rPr>
              <a:t>•  </a:t>
            </a:r>
            <a:r>
              <a:rPr sz="1200" b="0">
                <a:solidFill>
                  <a:srgbClr val="CBD5E1"/>
                </a:solidFill>
                <a:latin typeface="Arial"/>
              </a:rPr>
              <a:t>Менеджерам: раздел VI + история 1</a:t>
            </a:r>
          </a:p>
          <a:p>
            <a:pPr>
              <a:spcAft>
                <a:spcPts val="400"/>
              </a:spcAft>
            </a:pPr>
            <a:r>
              <a:rPr sz="1200" b="1">
                <a:solidFill>
                  <a:srgbClr val="A5B4FC"/>
                </a:solidFill>
                <a:latin typeface="Arial"/>
              </a:rPr>
              <a:t>•  </a:t>
            </a:r>
            <a:r>
              <a:rPr sz="1200" b="0">
                <a:solidFill>
                  <a:srgbClr val="CBD5E1"/>
                </a:solidFill>
                <a:latin typeface="Arial"/>
              </a:rPr>
              <a:t>РОПу: разделы VII и XI</a:t>
            </a:r>
          </a:p>
          <a:p>
            <a:pPr>
              <a:spcAft>
                <a:spcPts val="400"/>
              </a:spcAft>
            </a:pPr>
            <a:r>
              <a:rPr sz="1200" b="1">
                <a:solidFill>
                  <a:srgbClr val="A5B4FC"/>
                </a:solidFill>
                <a:latin typeface="Arial"/>
              </a:rPr>
              <a:t>•  </a:t>
            </a:r>
            <a:r>
              <a:rPr sz="1200" b="0">
                <a:solidFill>
                  <a:srgbClr val="CBD5E1"/>
                </a:solidFill>
                <a:latin typeface="Arial"/>
              </a:rPr>
              <a:t>Админу: всё + база знаний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6355080"/>
            <a:ext cx="106984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9AA1AE"/>
                </a:solidFill>
                <a:latin typeface="Arial"/>
              </a:rPr>
              <a:t>GoGlobal · база знаний · Спасибо!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