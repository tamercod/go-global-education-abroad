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01 / 36</a:t>
            </a:r>
          </a:p>
        </p:txBody>
      </p:sp>
      <p:sp>
        <p:nvSpPr>
          <p:cNvPr id="5" name="Oval 4"/>
          <p:cNvSpPr/>
          <p:nvPr/>
        </p:nvSpPr>
        <p:spPr>
          <a:xfrm>
            <a:off x="0" y="0"/>
            <a:ext cx="4572000" cy="2743200"/>
          </a:xfrm>
          <a:prstGeom prst="ellipse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34095" y="4572000"/>
            <a:ext cx="3657600" cy="2286000"/>
          </a:xfrm>
          <a:prstGeom prst="ellipse">
            <a:avLst/>
          </a:prstGeom>
          <a:solidFill>
            <a:srgbClr val="0C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914400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B0C0F"/>
                </a:solidFill>
                <a:latin typeface="Arial"/>
              </a:rPr>
              <a:t>GG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GoGlobal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AA1AE"/>
                </a:solidFill>
                <a:latin typeface="Arial"/>
              </a:rPr>
              <a:t>Платформа агентства образования за рубежом:</a:t>
            </a:r>
          </a:p>
          <a:p>
            <a:pPr algn="l"/>
            <a:r>
              <a:rPr sz="2000" b="0">
                <a:solidFill>
                  <a:srgbClr val="9AA1AE"/>
                </a:solidFill>
                <a:latin typeface="Arial"/>
              </a:rPr>
              <a:t>сайт + админ-панель + CRM в одной системе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37760"/>
            <a:ext cx="31750" cy="685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377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E7582"/>
                </a:solidFill>
                <a:latin typeface="Arial"/>
              </a:rPr>
              <a:t>АДРЕС</a:t>
            </a:r>
          </a:p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goglobal.kg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4937760"/>
            <a:ext cx="31750" cy="685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9377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E7582"/>
                </a:solidFill>
                <a:latin typeface="Arial"/>
              </a:rPr>
              <a:t>ДЛЯ КОГО</a:t>
            </a:r>
          </a:p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Админ · РОП · Продавцы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937760"/>
            <a:ext cx="31750" cy="685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9377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E7582"/>
                </a:solidFill>
                <a:latin typeface="Arial"/>
              </a:rPr>
              <a:t>ВЕРСИЯ</a:t>
            </a:r>
          </a:p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4.1 · июнь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4937760"/>
            <a:ext cx="31750" cy="685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49377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E7582"/>
                </a:solidFill>
                <a:latin typeface="Arial"/>
              </a:rPr>
              <a:t>СЛАЙДОВ</a:t>
            </a:r>
          </a:p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36 · ~25 минут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02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СОДЕРЖАНИЕ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О чём эта презентация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I · Платформа в цифрах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E7582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II · Три части системы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2996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E7582"/>
                </a:solidFill>
                <a:latin typeface="Arial"/>
              </a:rPr>
              <a:t>04–05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05456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III · Как всё связано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05456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E7582"/>
                </a:solidFill>
                <a:latin typeface="Arial"/>
              </a:rPr>
              <a:t>06–07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80944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IV · Роли и права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80944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E7582"/>
                </a:solidFill>
                <a:latin typeface="Arial"/>
              </a:rPr>
              <a:t>08–09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56432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V · Сайт по экранам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56432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E7582"/>
                </a:solidFill>
                <a:latin typeface="Arial"/>
              </a:rPr>
              <a:t>10–13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VI · CRM продавца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931920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E7582"/>
                </a:solidFill>
                <a:latin typeface="Arial"/>
              </a:rPr>
              <a:t>14–20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1554480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E7582"/>
                </a:solidFill>
                <a:latin typeface="Arial"/>
              </a:rPr>
              <a:t>21–27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29968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VIII · Путь клиента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202996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E7582"/>
                </a:solidFill>
                <a:latin typeface="Arial"/>
              </a:rPr>
              <a:t>28–29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505456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IX · Истории из практики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2505456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E7582"/>
                </a:solidFill>
                <a:latin typeface="Arial"/>
              </a:rPr>
              <a:t>30–32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80944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X · Карта действий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2980944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E7582"/>
                </a:solidFill>
                <a:latin typeface="Arial"/>
              </a:rPr>
              <a:t>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56432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XI · Чек-листы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3456432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E7582"/>
                </a:solidFill>
                <a:latin typeface="Arial"/>
              </a:rPr>
              <a:t>34–35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3192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Финал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3931920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E7582"/>
                </a:solidFill>
                <a:latin typeface="Arial"/>
              </a:rPr>
              <a:t>36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75488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377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КАК ЧИТАТЬ</a:t>
            </a:r>
          </a:p>
          <a:p>
            <a:pPr algn="l"/>
            <a:r>
              <a:rPr sz="1200" b="0">
                <a:solidFill>
                  <a:srgbClr val="9AA1AE"/>
                </a:solidFill>
                <a:latin typeface="Arial"/>
              </a:rPr>
              <a:t>Продавцам достаточно разделов V–VI и IX. РОПу — VII–XI. Админу — всё. Каждый слайд самодостаточен.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Содержание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03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I · ПЛАТФОРМА В ЦИФРАХ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Что построено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ЧАСТЕЙ СИСТЕМЫ</a:t>
            </a:r>
          </a:p>
          <a:p>
            <a:pPr algn="l"/>
            <a:r>
              <a:rPr sz="2200" b="1">
                <a:solidFill>
                  <a:srgbClr val="E7E9EE"/>
                </a:solidFill>
                <a:latin typeface="Arial"/>
              </a:rPr>
              <a:t>3</a:t>
            </a:r>
          </a:p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сайт · админка · CRM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0876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РОЛЕЙ</a:t>
            </a:r>
          </a:p>
          <a:p>
            <a:pPr algn="l"/>
            <a:r>
              <a:rPr sz="2200" b="1">
                <a:solidFill>
                  <a:srgbClr val="E7E9EE"/>
                </a:solidFill>
                <a:latin typeface="Arial"/>
              </a:rPr>
              <a:t>4</a:t>
            </a:r>
          </a:p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админ · РОП · менеджер · партнёр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РАЗДЕЛОВ АДМИНКИ</a:t>
            </a:r>
          </a:p>
          <a:p>
            <a:pPr algn="l"/>
            <a:r>
              <a:rPr sz="2200" b="1">
                <a:solidFill>
                  <a:srgbClr val="E7E9EE"/>
                </a:solidFill>
                <a:latin typeface="Arial"/>
              </a:rPr>
              <a:t>30+</a:t>
            </a:r>
          </a:p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аналитика · операции · контент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41732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50876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ВИДЖЕТОВ АНАЛИТИКИ</a:t>
            </a:r>
          </a:p>
          <a:p>
            <a:pPr algn="l"/>
            <a:r>
              <a:rPr sz="2200" b="1">
                <a:solidFill>
                  <a:srgbClr val="E7E9EE"/>
                </a:solidFill>
                <a:latin typeface="Arial"/>
              </a:rPr>
              <a:t>11</a:t>
            </a:r>
          </a:p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без единого 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688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6032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ВИДОВ СПИСКА ЛИДОВ</a:t>
            </a:r>
          </a:p>
          <a:p>
            <a:pPr algn="l"/>
            <a:r>
              <a:rPr sz="2200" b="1">
                <a:solidFill>
                  <a:srgbClr val="E7E9EE"/>
                </a:solidFill>
                <a:latin typeface="Arial"/>
              </a:rPr>
              <a:t>5</a:t>
            </a:r>
          </a:p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карточки · таблица · 2 канбана · календарь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24688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ВКЛАДОК В КАРТОЧКЕ</a:t>
            </a:r>
          </a:p>
          <a:p>
            <a:pPr algn="l"/>
            <a:r>
              <a:rPr sz="2200" b="1">
                <a:solidFill>
                  <a:srgbClr val="E7E9EE"/>
                </a:solidFill>
                <a:latin typeface="Arial"/>
              </a:rPr>
              <a:t>7</a:t>
            </a:r>
          </a:p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обзор · сделка · задачи · файлы · чат · аудит · связи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4688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56032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СТАТУСОВ ВОРОНКИ</a:t>
            </a:r>
          </a:p>
          <a:p>
            <a:pPr algn="l"/>
            <a:r>
              <a:rPr sz="2200" b="1">
                <a:solidFill>
                  <a:srgbClr val="E7E9EE"/>
                </a:solidFill>
                <a:latin typeface="Arial"/>
              </a:rPr>
              <a:t>7+9</a:t>
            </a:r>
          </a:p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обработка + этапы клиента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24688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56032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АВТО-ЗАЩИТ</a:t>
            </a:r>
          </a:p>
          <a:p>
            <a:pPr algn="l"/>
            <a:r>
              <a:rPr sz="2200" b="1">
                <a:solidFill>
                  <a:srgbClr val="E7E9EE"/>
                </a:solidFill>
                <a:latin typeface="Arial"/>
              </a:rPr>
              <a:t>6</a:t>
            </a:r>
          </a:p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SLA · дубли · сценарии · отчёты · аудит · бэкап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0080" y="3703320"/>
          <a:ext cx="10881359" cy="1676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46072"/>
                <a:gridCol w="5935287"/>
              </a:tblGrid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Было (без платформы)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Стало (с платформой)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CRM-аренда — платёж каждый месяц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Своя CRM — 0 платежей за лицензии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Заявки на почту, теряются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Заявка у менеджера за секунды + push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Отчёты руками в Excel по пятницам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Цифры считаются сами, в реальном времени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«Кто вёл клиента?» — никто не помнит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Полная история: статусы, звонки, файлы, аудит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Контент сайта меняет программист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Меняет админ сам за 5–10 минут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I · Платформа в цифрах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04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II · ТРИ ЧАСТИ 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Один движок — три «двери»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74720" cy="20574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  <a:latin typeface="Arial"/>
              </a:rPr>
              <a:t>ДЛЯ КЛИЕНТОВ</a:t>
            </a:r>
          </a:p>
          <a:p>
            <a:pPr algn="l"/>
            <a:r>
              <a:rPr sz="1800" b="1">
                <a:solidFill>
                  <a:srgbClr val="E7E9EE"/>
                </a:solidFill>
                <a:latin typeface="Arial"/>
              </a:rPr>
              <a:t>Сайт</a:t>
            </a:r>
          </a:p>
          <a:p>
            <a:pPr algn="l"/>
            <a:r>
              <a:rPr sz="1100" b="0">
                <a:solidFill>
                  <a:srgbClr val="6E7582"/>
                </a:solidFill>
                <a:latin typeface="Arial"/>
              </a:rPr>
              <a:t>goglobal.kg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Маркетинговая витрина: направления, вузы, отзывы, калькулятор, форма заявки. Открыт всем.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474720" cy="20574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  <a:latin typeface="Arial"/>
              </a:rPr>
              <a:t>ДЛЯ АДМИНА И РОПА</a:t>
            </a:r>
          </a:p>
          <a:p>
            <a:pPr algn="l"/>
            <a:r>
              <a:rPr sz="1800" b="1">
                <a:solidFill>
                  <a:srgbClr val="E7E9EE"/>
                </a:solidFill>
                <a:latin typeface="Arial"/>
              </a:rPr>
              <a:t>Админ-панель</a:t>
            </a:r>
          </a:p>
          <a:p>
            <a:pPr algn="l"/>
            <a:r>
              <a:rPr sz="1100" b="0">
                <a:solidFill>
                  <a:srgbClr val="6E7582"/>
                </a:solidFill>
                <a:latin typeface="Arial"/>
              </a:rPr>
              <a:t>goglobal.kg/admin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Сотрудники, воронка, шаблоны, авто-правила, контент сайта. Вся аналитика — 11 виджетов.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20574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ДЛЯ ПРОДАВЦОВ</a:t>
            </a:r>
          </a:p>
          <a:p>
            <a:pPr algn="l"/>
            <a:r>
              <a:rPr sz="1800" b="1">
                <a:solidFill>
                  <a:srgbClr val="E7E9EE"/>
                </a:solidFill>
                <a:latin typeface="Arial"/>
              </a:rPr>
              <a:t>CRM</a:t>
            </a:r>
          </a:p>
          <a:p>
            <a:pPr algn="l"/>
            <a:r>
              <a:rPr sz="1100" b="0">
                <a:solidFill>
                  <a:srgbClr val="6E7582"/>
                </a:solidFill>
                <a:latin typeface="Arial"/>
              </a:rPr>
              <a:t>goglobal.kg/lidy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Рабочее место менеджера: лиды, карточки, задачи, документы, календарь, шаблоны WhatsApp.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794760"/>
          <a:ext cx="10881360" cy="152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48306"/>
                <a:gridCol w="2176272"/>
                <a:gridCol w="2992374"/>
                <a:gridCol w="3264408"/>
              </a:tblGrid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Сайт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Админка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CRM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Нужен пароль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Да (пароль админа)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Да (личный логин)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Кто пользуется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Клиенты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Админ, РОП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Менеджеры, РОП, партнёры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Главное действие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Оставить заявку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Настроить и проанализировать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Превратить лид в контракт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Как часто заходят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1 раз (клиент)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1–2 раза в день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Весь рабочий день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II · Три части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05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II · ТРИ ЧАСТИ 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Как они выглядят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7E9EE"/>
                </a:solidFill>
                <a:latin typeface="Arial"/>
              </a:rPr>
              <a:t>Сайт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Яркий, продающий: синие градиенты, оранжевые акценты, крупные заголовки, фото студентов. Дизайн для эмоций клиента.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7E9EE"/>
                </a:solidFill>
                <a:latin typeface="Arial"/>
              </a:rPr>
              <a:t>Админка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Спокойная и минималистичная: тёмный фон, разделы-аккордеоны, ничего лишнего. Дизайн для долгой работы без усталости глаз.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4592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7E9EE"/>
                </a:solidFill>
                <a:latin typeface="Arial"/>
              </a:rPr>
              <a:t>CRM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Рабочий стол: виджет «Мой день» сверху, список лидов с цветными статусами, всё в 1–2 клика. Дизайн для скорости.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ДИЗАЙН-СИСТЕМА РАБОЧИХ ЭКРАНОВ (V5)</a:t>
            </a:r>
          </a:p>
          <a:p>
            <a:pPr algn="l"/>
            <a:r>
              <a:rPr sz="1200" b="0">
                <a:solidFill>
                  <a:srgbClr val="9AA1AE"/>
                </a:solidFill>
                <a:latin typeface="Arial"/>
              </a:rPr>
              <a:t>Нейтральный графитовый фон + один спокойный акцент (индиго) + вторичный теал. Красный — только тревога, зелёный — успех.</a:t>
            </a:r>
          </a:p>
          <a:p>
            <a:pPr algn="l"/>
            <a:r>
              <a:rPr sz="1200" b="0">
                <a:solidFill>
                  <a:srgbClr val="9AA1AE"/>
                </a:solidFill>
                <a:latin typeface="Arial"/>
              </a:rPr>
              <a:t>Статусы — выпадающий список с подсказками, этапы — степпер 1→9, у ключевых цифр значок ⓘ с пояснением. Без неона и свечений.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II · Как выглядят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06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III · КАК ВСЁ СВЯЗАНО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Путь заявки за 60 секунд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2704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E9EE"/>
                </a:solidFill>
                <a:latin typeface="Arial"/>
              </a:rPr>
              <a:t>🌍  Сайт</a:t>
            </a:r>
          </a:p>
          <a:p>
            <a:pPr algn="l"/>
            <a:r>
              <a:rPr sz="1100" b="0">
                <a:solidFill>
                  <a:srgbClr val="6E7582"/>
                </a:solidFill>
                <a:latin typeface="Arial"/>
              </a:rPr>
              <a:t>клиент заполнил форму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55448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366F1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41732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52704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E9EE"/>
                </a:solidFill>
                <a:latin typeface="Arial"/>
              </a:rPr>
              <a:t>📥  CRM</a:t>
            </a:r>
          </a:p>
          <a:p>
            <a:pPr algn="l"/>
            <a:r>
              <a:rPr sz="1100" b="0">
                <a:solidFill>
                  <a:srgbClr val="6E7582"/>
                </a:solidFill>
                <a:latin typeface="Arial"/>
              </a:rPr>
              <a:t>лид у менеджера +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366F1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41732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52704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E9EE"/>
                </a:solidFill>
                <a:latin typeface="Arial"/>
              </a:rPr>
              <a:t>📊  Админка</a:t>
            </a:r>
          </a:p>
          <a:p>
            <a:pPr algn="l"/>
            <a:r>
              <a:rPr sz="1100" b="0">
                <a:solidFill>
                  <a:srgbClr val="6E7582"/>
                </a:solidFill>
                <a:latin typeface="Arial"/>
              </a:rPr>
              <a:t>виден в аналитике РОПа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2514600"/>
          <a:ext cx="10881359" cy="20447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71838"/>
                <a:gridCol w="5356977"/>
                <a:gridCol w="4352544"/>
              </a:tblGrid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Сек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Событие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Кто видит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Клиент нажал «Отправить заявку»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Клиент: «Спасибо! Менеджер свяжется»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~1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Проверка на дубликат (тот же телефон/email?)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Дубль → комментарий к старому лиду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~1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Подбор менеджера: правила, потом очередь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~2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Лид в CRM со статусом «Новый»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Менеджер: push-уведомление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~2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Запустился таймер SLA (3 часа на ответ)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Таймер в карточке лида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~3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Сообщение в Telegram-чат отдела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РОП и команда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40080" y="5166360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0352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DE68A"/>
                </a:solidFill>
                <a:latin typeface="Arial"/>
              </a:rPr>
              <a:t>НЕ ОТВЕТИЛ ВОВРЕМЯ?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Через 3 ч: лид краснеет, РОПу сигнал в Telegram, минус в личную статистику менеджера.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166360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30352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DE68A"/>
                </a:solidFill>
                <a:latin typeface="Arial"/>
              </a:rPr>
              <a:t>ВСЕ ОФЛАЙН?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Лид встаёт в очередь. Кто-то включил «в сети» — очередь раздаётся автоматически.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III · Путь заявки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07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III · КАК ВСЁ СВЯЗАНО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Что чем управляется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E9EE"/>
                </a:solidFill>
                <a:latin typeface="Arial"/>
              </a:rPr>
              <a:t>Сайт ← Админка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83080"/>
          <a:ext cx="5303519" cy="20447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25485"/>
                <a:gridCol w="2778034"/>
              </a:tblGrid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На сайте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Управляется в админке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Главное фото и тексты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«Главный экран (Hero)»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Страны и вузы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«Страны и Университеты»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Цены калькулятора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«Калькулятор стоимости обучения»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Отзывы студентов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«Отзывы»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Телефон, адрес, график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«Контактная информация»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Секции вкл/выкл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«Видимость блоков»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E9EE"/>
                </a:solidFill>
                <a:latin typeface="Arial"/>
              </a:rPr>
              <a:t>CRM ← Админка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783080"/>
          <a:ext cx="5303519" cy="20447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25485"/>
                <a:gridCol w="2778034"/>
              </a:tblGrid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В CRM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Управляется в админке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Кто может войти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«Менеджеры»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Статусы воронки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«Статусы лидов»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Шаблоны WhatsApp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«Шаблоны быстрых ответов»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Кому падают лиды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«Авто-распределение»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Реакции на бездействие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«Авто-сценарии»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Статьи для менеджеров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«База знаний»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2180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ПРИНЦИП</a:t>
            </a:r>
          </a:p>
          <a:p>
            <a:pPr algn="l"/>
            <a:r>
              <a:rPr sz="1200" b="0">
                <a:solidFill>
                  <a:srgbClr val="9AA1AE"/>
                </a:solidFill>
                <a:latin typeface="Arial"/>
              </a:rPr>
              <a:t>Менеджеры работают, админ настраивает, РОП анализирует. Продавец не может сломать настройки, админ не вмешивается в сделки.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III · Управление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08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IV · РОЛИ И ПРАВА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Четыре роли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E9EE"/>
                </a:solidFill>
                <a:latin typeface="Arial"/>
              </a:rPr>
              <a:t>👑  Администратор</a:t>
            </a:r>
          </a:p>
          <a:p>
            <a:pPr algn="l"/>
            <a:r>
              <a:rPr sz="1050" b="0">
                <a:solidFill>
                  <a:srgbClr val="6E7582"/>
                </a:solidFill>
                <a:latin typeface="Arial"/>
              </a:rPr>
              <a:t>Хозяин системы · 1-2 человека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Создаёт сотрудников, назначает роли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Меняет контент сайта без программиста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Настраивает воронку, шаблоны, авто-правила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Резервные копии раз в месяц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E9EE"/>
                </a:solidFill>
                <a:latin typeface="Arial"/>
              </a:rPr>
              <a:t>📈  РОП / Тимлид</a:t>
            </a:r>
          </a:p>
          <a:p>
            <a:pPr algn="l"/>
            <a:r>
              <a:rPr sz="1050" b="0">
                <a:solidFill>
                  <a:srgbClr val="6E7582"/>
                </a:solidFill>
                <a:latin typeface="Arial"/>
              </a:rPr>
              <a:t>Руководитель отдела продаж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Видит лиды всех менеджеров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Переназначает, передаёт, удаляет лиды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Утренний отчёт в Telegram в 09:00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1-на-1 встречи по готовым отчётам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E9EE"/>
                </a:solidFill>
                <a:latin typeface="Arial"/>
              </a:rPr>
              <a:t>💼  Менеджер</a:t>
            </a:r>
          </a:p>
          <a:p>
            <a:pPr algn="l"/>
            <a:r>
              <a:rPr sz="1050" b="0">
                <a:solidFill>
                  <a:srgbClr val="6E7582"/>
                </a:solidFill>
                <a:latin typeface="Arial"/>
              </a:rPr>
              <a:t>Продавец · основная роль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Видит только свои лиды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Чат, задачи, документы, статусы, сделки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Шаблоны WhatsApp в один клик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Передача лида коллеге (10 мин на принятие)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6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E9EE"/>
                </a:solidFill>
                <a:latin typeface="Arial"/>
              </a:rPr>
              <a:t>🤝  Партнёр</a:t>
            </a:r>
          </a:p>
          <a:p>
            <a:pPr algn="l"/>
            <a:r>
              <a:rPr sz="1050" b="0">
                <a:solidFill>
                  <a:srgbClr val="6E7582"/>
                </a:solidFill>
                <a:latin typeface="Arial"/>
              </a:rPr>
              <a:t>Внешний агент · рефералы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572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Только создаёт лидов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Видит только тех, кого привёл сам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Отслеживает свою комиссию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Нет доступа к чужой базе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IV · Роли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09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IV · РОЛИ И ПРАВА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Матрица прав — кто что может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58" cy="3962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64408"/>
                <a:gridCol w="1741017"/>
                <a:gridCol w="1741017"/>
                <a:gridCol w="2176272"/>
                <a:gridCol w="1958644"/>
              </a:tblGrid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Действие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РОП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Менеджер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Партнёр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Вход в админ-панель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Вход в CRM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Видеть все лиды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FDE68A"/>
                          </a:solidFill>
                          <a:latin typeface="Arial"/>
                        </a:rPr>
                        <a:t>через админку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только свои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только свои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Создавать лидов вручную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Менять статус лида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 любого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 своего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Переназначать лиды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FDE68A"/>
                          </a:solidFill>
                          <a:latin typeface="Arial"/>
                        </a:rPr>
                        <a:t>передача с согласием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Удалять лиды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Создавать сотрудников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Менять контент сайта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Воронка и шаблоны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Смотреть аналитику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 вся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 вся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FDE68A"/>
                          </a:solidFill>
                          <a:latin typeface="Arial"/>
                        </a:rPr>
                        <a:t>свой «Мой день»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FDE68A"/>
                          </a:solidFill>
                          <a:latin typeface="Arial"/>
                        </a:rPr>
                        <a:t>своя комиссия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Резервные копии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E758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IV · Матрица прав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10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 · САЙТ ПО ЭКРАНАМ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Семь секций сверху вниз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58" cy="254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97876"/>
                <a:gridCol w="2391507"/>
                <a:gridCol w="4783015"/>
                <a:gridCol w="3108960"/>
              </a:tblGrid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Секция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Что в ней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Зачем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7E9EE"/>
                          </a:solidFill>
                          <a:latin typeface="Arial"/>
                        </a:rPr>
                        <a:t>Главный экран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Заголовок, бейдж, 2 кнопки, фото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Зацепить за 5 секунд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7E9EE"/>
                          </a:solidFill>
                          <a:latin typeface="Arial"/>
                        </a:rPr>
                        <a:t>О компании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Миссия, цифры (10+ лет, 500+ вузов), 4 услуги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Доверие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7E9EE"/>
                          </a:solidFill>
                          <a:latin typeface="Arial"/>
                        </a:rPr>
                        <a:t>Партнёры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Тёмный блок с логотипами вузов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Статус и престиж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7E9EE"/>
                          </a:solidFill>
                          <a:latin typeface="Arial"/>
                        </a:rPr>
                        <a:t>Направления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Страны с фото-каруселями вузов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Выбор страны мечты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7E9EE"/>
                          </a:solidFill>
                          <a:latin typeface="Arial"/>
                        </a:rPr>
                        <a:t>Калькулятор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Страна → ориентир стоимости/год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Прозрачность цен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7E9EE"/>
                          </a:solidFill>
                          <a:latin typeface="Arial"/>
                        </a:rPr>
                        <a:t>Отзывы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Бегущая лента историй студентов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Социальное доказательство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7E9EE"/>
                          </a:solidFill>
                          <a:latin typeface="Arial"/>
                        </a:rPr>
                        <a:t>FAQ + Заявка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Вопросы-ответы + форма с контактами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Снять сомнения → лид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5262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КОНВЕРСИОННЫЕ ТОЧКИ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834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Кнопка «Заявка» в шапке — всегда на виду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«Выбрать ВУЗ» на главном экране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«Подробнее» у каждой страны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Плавающая кнопка WhatsApp — всегда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5262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МОБИЛЬНАЯ ВЕРСИЯ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Сайт полностью адаптивен: «бургер»-меню, карточки в столбик, кнопки на всю ширину.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Большинство клиентов приходят с телефона — это учтено.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 · Сайт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11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 · САЙТ ПО ЭКРАНАМ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Калькулятор стоимости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Клиент выбирает страну — мгновенно видит ориентир «от $X в год».</a:t>
            </a:r>
          </a:p>
          <a:p>
            <a:pPr algn="l"/>
            <a:r>
              <a:rPr sz="1200" b="0">
                <a:solidFill>
                  <a:srgbClr val="6E7582"/>
                </a:solidFill>
                <a:latin typeface="Arial"/>
              </a:rPr>
              <a:t>Проверено в живом тесте (июнь 2026):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40280"/>
          <a:ext cx="5303519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92829"/>
                <a:gridCol w="2410690"/>
              </a:tblGrid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9AA1AE"/>
                          </a:solidFill>
                          <a:latin typeface="Arial"/>
                        </a:rPr>
                        <a:t>Страна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9AA1AE"/>
                          </a:solidFill>
                          <a:latin typeface="Arial"/>
                        </a:rPr>
                        <a:t>Ориентир / год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200" b="0">
                          <a:solidFill>
                            <a:srgbClr val="E7E9EE"/>
                          </a:solidFill>
                          <a:latin typeface="Arial"/>
                        </a:rPr>
                        <a:t>США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200" b="1">
                          <a:solidFill>
                            <a:srgbClr val="E7E9EE"/>
                          </a:solidFill>
                          <a:latin typeface="Arial"/>
                        </a:rPr>
                        <a:t>$35 000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200" b="0">
                          <a:solidFill>
                            <a:srgbClr val="E7E9EE"/>
                          </a:solidFill>
                          <a:latin typeface="Arial"/>
                        </a:rPr>
                        <a:t>Япония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200" b="1">
                          <a:solidFill>
                            <a:srgbClr val="E7E9EE"/>
                          </a:solidFill>
                          <a:latin typeface="Arial"/>
                        </a:rPr>
                        <a:t>$15 000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200" b="0">
                          <a:solidFill>
                            <a:srgbClr val="E7E9EE"/>
                          </a:solidFill>
                          <a:latin typeface="Arial"/>
                        </a:rPr>
                        <a:t>Китай, Германия, Испания…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200" b="0">
                          <a:solidFill>
                            <a:srgbClr val="6E7582"/>
                          </a:solidFill>
                          <a:latin typeface="Arial"/>
                        </a:rPr>
                        <a:t>свои цифры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160520"/>
            <a:ext cx="5303520" cy="19202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976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ИЗ ЧЕГО СКЛАДЫВАЕТСЯ СУММА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6366F1"/>
                </a:solidFill>
                <a:latin typeface="Arial"/>
              </a:rPr>
              <a:t>•  </a:t>
            </a:r>
            <a:r>
              <a:rPr sz="1100" b="1">
                <a:solidFill>
                  <a:srgbClr val="E7E9EE"/>
                </a:solidFill>
                <a:latin typeface="Arial"/>
              </a:rPr>
              <a:t>Обучение</a:t>
            </a:r>
            <a:r>
              <a:rPr sz="1100" b="0">
                <a:solidFill>
                  <a:srgbClr val="9AA1AE"/>
                </a:solidFill>
                <a:latin typeface="Arial"/>
              </a:rPr>
              <a:t> — самый доступный вуз страны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366F1"/>
                </a:solidFill>
                <a:latin typeface="Arial"/>
              </a:rPr>
              <a:t>•  </a:t>
            </a:r>
            <a:r>
              <a:rPr sz="1100" b="1">
                <a:solidFill>
                  <a:srgbClr val="E7E9EE"/>
                </a:solidFill>
                <a:latin typeface="Arial"/>
              </a:rPr>
              <a:t>Проживание</a:t>
            </a:r>
            <a:r>
              <a:rPr sz="1100" b="0">
                <a:solidFill>
                  <a:srgbClr val="9AA1AE"/>
                </a:solidFill>
                <a:latin typeface="Arial"/>
              </a:rPr>
              <a:t> — минимальная оценка за год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366F1"/>
                </a:solidFill>
                <a:latin typeface="Arial"/>
              </a:rPr>
              <a:t>•  </a:t>
            </a:r>
            <a:r>
              <a:rPr sz="1100" b="1">
                <a:solidFill>
                  <a:srgbClr val="E7E9EE"/>
                </a:solidFill>
                <a:latin typeface="Arial"/>
              </a:rPr>
              <a:t>Услуги агентства</a:t>
            </a:r>
            <a:r>
              <a:rPr sz="1100" b="0">
                <a:solidFill>
                  <a:srgbClr val="9AA1AE"/>
                </a:solidFill>
                <a:latin typeface="Arial"/>
              </a:rPr>
              <a:t> — если настроены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366F1"/>
                </a:solidFill>
                <a:latin typeface="Arial"/>
              </a:rPr>
              <a:t>•  </a:t>
            </a:r>
            <a:r>
              <a:rPr sz="1100" b="1">
                <a:solidFill>
                  <a:srgbClr val="E7E9EE"/>
                </a:solidFill>
                <a:latin typeface="Arial"/>
              </a:rPr>
              <a:t>Галочка «грант»</a:t>
            </a:r>
            <a:r>
              <a:rPr sz="1100" b="0">
                <a:solidFill>
                  <a:srgbClr val="9AA1AE"/>
                </a:solidFill>
                <a:latin typeface="Arial"/>
              </a:rPr>
              <a:t> — обучение вычитается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737360"/>
            <a:ext cx="4572000" cy="2743200"/>
          </a:xfrm>
          <a:prstGeom prst="roundRect">
            <a:avLst>
              <a:gd name="adj" fmla="val 6000"/>
            </a:avLst>
          </a:prstGeom>
          <a:solidFill>
            <a:srgbClr val="102A52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94560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93C5FD"/>
                </a:solidFill>
                <a:latin typeface="Arial"/>
              </a:rPr>
              <a:t>ОРИЕНТИРОВОЧНО ОТ</a:t>
            </a:r>
          </a:p>
          <a:p>
            <a:pPr algn="ctr"/>
            <a:r>
              <a:rPr sz="4800" b="1">
                <a:solidFill>
                  <a:srgbClr val="FFFFFF"/>
                </a:solidFill>
                <a:latin typeface="Arial"/>
              </a:rPr>
              <a:t>$15 000</a:t>
            </a:r>
          </a:p>
          <a:p>
            <a:pPr algn="ctr"/>
            <a:r>
              <a:rPr sz="1300" b="0">
                <a:solidFill>
                  <a:srgbClr val="9AA1AE"/>
                </a:solidFill>
                <a:latin typeface="Arial"/>
              </a:rPr>
              <a:t>/ год · Япония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70916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E7582"/>
                </a:solidFill>
                <a:latin typeface="Arial"/>
              </a:rPr>
              <a:t>Цифры берутся из админки («Страны и Университеты» + «Калькулятор стоимости обучения»)</a:t>
            </a:r>
          </a:p>
          <a:p>
            <a:pPr algn="ctr"/>
            <a:r>
              <a:rPr sz="1100" b="0">
                <a:solidFill>
                  <a:srgbClr val="6E7582"/>
                </a:solidFill>
                <a:latin typeface="Arial"/>
              </a:rPr>
              <a:t>и обновляются без программиста.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 · Калькулятор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12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 · САЙТ ПО ЭКРАНАМ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Форма заявки — главный механизм лидов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5120640" cy="2438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87040"/>
                <a:gridCol w="2133600"/>
              </a:tblGrid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Поле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Обязательное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Имя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A4AF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Телефон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A4AF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Откуда узнали о нас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A4AF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Email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6E7582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Страна обучения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6E7582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Желаемый вуз (с поиском)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6E7582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Уровень, год, бюджет, язык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6E7582"/>
                          </a:solidFill>
                          <a:latin typeface="Arial"/>
                        </a:rPr>
                        <a:t>нет, раскрывается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262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7582"/>
                </a:solidFill>
                <a:latin typeface="Arial"/>
              </a:rPr>
              <a:t>Минимум обязательных полей = больше отправленных заявок.</a:t>
            </a:r>
          </a:p>
          <a:p>
            <a:pPr algn="l"/>
            <a:r>
              <a:rPr sz="1100" b="0">
                <a:solidFill>
                  <a:srgbClr val="6E7582"/>
                </a:solidFill>
                <a:latin typeface="Arial"/>
              </a:rPr>
              <a:t>Остальное менеджер уточнит в разговоре.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E9EE"/>
                </a:solidFill>
                <a:latin typeface="Arial"/>
              </a:rPr>
              <a:t>Что после нажатия «Отправить»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1874519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837943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Экран «Спасибо»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«Менеджер свяжется в течение 15 минут»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2496311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459735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Проверка на дубль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Старый клиент? → комментарий к его карточке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3118103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081527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Назначение менеджера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По правилам или очереди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3739895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703319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Push + Telegram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Менеджер и РОП уведомлены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4361687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4325111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Старт SLA-таймера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3 часа на первый ответ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0352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4068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86EFAC"/>
                </a:solidFill>
                <a:latin typeface="Arial"/>
              </a:rPr>
              <a:t>ГДЕ ЕЩЁ РОЖДАЮТСЯ ЛИДЫ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1) Менеджер создал вручную («+ Лид» — звонок или визит в офис)  ·  2) Партнёр привёл реферала  ·  3) Событийная страница — лид с меткой события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 · Форма заявки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13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 · САЙТ ПО ЭКРАНАМ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Пример: как админ меняет сайт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E9EE"/>
                </a:solidFill>
                <a:latin typeface="Arial"/>
              </a:rPr>
              <a:t>Задача: поднять цену услуг с $500 до $700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74519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37943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Открыть админку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goglobal.kg/admin → пароль → главная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496311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459735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«Калькулятор стоимости обучения»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Кликнуть на заголовок секции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118103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081527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Изменить число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Поле «Стоимость услуг»: 500 → 700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739895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703319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Нажать «Сохранить» сверху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Появится «✓ сохранено»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361687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325111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Проверить сайт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goglobal.kg/#calculator — цифра обновилась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1208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Arial"/>
              </a:rPr>
              <a:t>Итого: 5 минут, без программиста, без перезагрузок.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1463040"/>
          <a:ext cx="5303520" cy="2438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42816"/>
                <a:gridCol w="1060704"/>
              </a:tblGrid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Задача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Время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Заменить главное фото сайта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3 мин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Добавить отзыв выпускника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5 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Добавить вуз в страну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7 мин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Создать страницу события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10 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Скрыть секцию сайта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1 мин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Обновить телефон в подвале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2 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Новый вопрос в FAQ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3 мин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217920" y="457200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DE68A"/>
                </a:solidFill>
                <a:latin typeface="Arial"/>
              </a:rPr>
              <a:t>⚠ Не забывать кнопку «Сохранить» в шапке — без неё правки контента не применятся.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 · Правки сайта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14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 · CRM ПРОДАВЦА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Рабочее место менеджера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517904"/>
            <a:ext cx="4846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Шапка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Поиск · тумблер «в сети» · база знаний · «+ Лид»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12848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176272"/>
            <a:ext cx="4846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Сайдбар фильтров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Статус, источник, страна, дата + пресеты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71216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834640"/>
            <a:ext cx="4846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«Мой день»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Личный дашборд: встречи, горячие, задачи, суммы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29584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493008"/>
            <a:ext cx="4846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Список лидов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5 видов отображения на выбор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4840"/>
            <a:ext cx="5303520" cy="1463040"/>
          </a:xfrm>
          <a:prstGeom prst="roundRect">
            <a:avLst>
              <a:gd name="adj" fmla="val 6000"/>
            </a:avLst>
          </a:prstGeom>
          <a:solidFill>
            <a:srgbClr val="2A1E0A"/>
          </a:solidFill>
          <a:ln w="9525">
            <a:solidFill>
              <a:srgbClr val="785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DE68A"/>
                </a:solidFill>
                <a:latin typeface="Arial"/>
              </a:rPr>
              <a:t>КРИТИЧНАЯ ПРИВЫЧКА</a:t>
            </a:r>
          </a:p>
          <a:p>
            <a:pPr algn="l"/>
            <a:r>
              <a:rPr sz="1150" b="0">
                <a:solidFill>
                  <a:srgbClr val="E7E9EE"/>
                </a:solidFill>
                <a:latin typeface="Arial"/>
              </a:rPr>
              <a:t>Тумблер «🟢 В сети». Выключен — новые лиды НЕ приходят вам.</a:t>
            </a:r>
          </a:p>
          <a:p>
            <a:pPr algn="l"/>
            <a:r>
              <a:rPr sz="1150" b="1">
                <a:solidFill>
                  <a:srgbClr val="FDE68A"/>
                </a:solidFill>
                <a:latin typeface="Arial"/>
              </a:rPr>
              <a:t>Утром включить · на обед выключить · вечером выключить.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E9EE"/>
                </a:solidFill>
                <a:latin typeface="Arial"/>
              </a:rPr>
              <a:t>Виджет «Мой день»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1417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ВСТРЕЧИ</a:t>
            </a:r>
          </a:p>
          <a:p>
            <a:pPr algn="l"/>
            <a:r>
              <a:rPr sz="2200" b="1">
                <a:solidFill>
                  <a:srgbClr val="E7E9EE"/>
                </a:solidFill>
                <a:latin typeface="Arial"/>
              </a:rPr>
              <a:t>3</a:t>
            </a:r>
          </a:p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назначено на сегодня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82880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920240"/>
            <a:ext cx="1417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ГОРЯЧИХ</a:t>
            </a:r>
          </a:p>
          <a:p>
            <a:pPr algn="l"/>
            <a:r>
              <a:rPr sz="2200" b="1">
                <a:solidFill>
                  <a:srgbClr val="E7E9EE"/>
                </a:solidFill>
                <a:latin typeface="Arial"/>
              </a:rPr>
              <a:t>5</a:t>
            </a:r>
          </a:p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скоринг 60+ — приоритет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182880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1920240"/>
            <a:ext cx="1417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ЗАДАЧ</a:t>
            </a:r>
          </a:p>
          <a:p>
            <a:pPr algn="l"/>
            <a:r>
              <a:rPr sz="2200" b="1">
                <a:solidFill>
                  <a:srgbClr val="E7E9EE"/>
                </a:solidFill>
                <a:latin typeface="Arial"/>
              </a:rPr>
              <a:t>11 (2⚠)</a:t>
            </a:r>
          </a:p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открытые (просрочены)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83464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926080"/>
            <a:ext cx="1417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В РАБОТЕ</a:t>
            </a:r>
          </a:p>
          <a:p>
            <a:pPr algn="l"/>
            <a:r>
              <a:rPr sz="2200" b="1">
                <a:solidFill>
                  <a:srgbClr val="E7E9EE"/>
                </a:solidFill>
                <a:latin typeface="Arial"/>
              </a:rPr>
              <a:t>$67k</a:t>
            </a:r>
          </a:p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сумма открытых сделок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83464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2926080"/>
            <a:ext cx="1417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ПРОГНОЗ</a:t>
            </a:r>
          </a:p>
          <a:p>
            <a:pPr algn="l"/>
            <a:r>
              <a:rPr sz="2200" b="1">
                <a:solidFill>
                  <a:srgbClr val="86EFAC"/>
                </a:solidFill>
                <a:latin typeface="Arial"/>
              </a:rPr>
              <a:t>$31k</a:t>
            </a:r>
          </a:p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сумма × вероятность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977639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Виджет отвечает на вопрос «что делать прямо сейчас»: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сначала просроченные задачи, потом горячие лиды, потом встречи.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 · CRM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15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 · CRM ПРОДАВЦА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Пять видов списка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58" cy="2057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65513"/>
                <a:gridCol w="2838615"/>
                <a:gridCol w="2602064"/>
                <a:gridCol w="3075166"/>
              </a:tblGrid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Вид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Что показывает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Когда удобен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Фишка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🪟 Карточки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Сетка крупных карточек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Общий обзор глазами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Метки и суммы видны сразу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📋 Таблица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Компактные строки, 9 колонок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Много лидов, нужна плотность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Скан + массовый выбор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🎯 Воронка статусов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Канбан-колонки по статусам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Управление потоком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Перетаскивание = смена статуса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🎓 Этапы клиентов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Канбан только для Won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Ведение после контракта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Виза, оплаты, отъезд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📅 Календарь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Встречи: список/неделя/месяц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Планирование недели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Клик по встрече = карточка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20624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ВЫБОР ЗАПОМИНАЕТСЯ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Каждый менеджер выбирает свой вид. Завтра CRM откроется в том же виде, с теми же фильтрами.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Настройки индивидуальны.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20624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343400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ФИЛЬТРЫ-ПРЕСЕТЫ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Частые наборы («Горячие японцы», «Сентябрь-2026») сохраняются одной кнопкой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и применяются в один клик.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 · Виды списка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16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 · CRM ПРОДАВЦА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Карточка клиента — 7 вкладок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58" cy="2438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52726"/>
                <a:gridCol w="4999543"/>
                <a:gridCol w="3529089"/>
              </a:tblGrid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Вкладка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Что внутри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Главное действие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Обзор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Выпадашка статуса с подсказками, степпер этапов, контакты, метки, передача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Сменить статус лида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💰 Сделка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Сумма, валюта, вероятность 0–100%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Зафиксировать бюджет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📋 Задачи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Напоминания с дедлайнами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«Перезвонить в среду 14:00»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📎 Файлы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Паспорт, диплом, IELTS, контракт (до 25 МБ)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Загрузить документ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💬 Чат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Внутренние комментарии команды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Заметка для коллег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🕒 Аудит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Полная история: кто и что менял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Разбор спорной ситуации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🔗 Связанные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Лиды с тем же телефоном/email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Прошлые обращения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52628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БЫСТРЫЕ ДЕЙСТВИЯ</a:t>
            </a:r>
          </a:p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💬 WhatsApp · 📞 Позвонить · ✉ Email · 📨 Шаблон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«Шаблон» — готовые сообщения с автоподстановкой имени; WhatsApp откроется с готовым текстом.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52628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КАЖДОЕ КАСАНИЕ — НА СЧЕТУ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Клик по WhatsApp/телефону/email = «касание клиента» в статистике.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Скоринг 0–100 оценивает «горячесть» лида: 60+ = горячий, в первую очередь.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 · Карточка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17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 · CRM ПРОДАВЦА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Статусы: две воронки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E9EE"/>
                </a:solidFill>
                <a:latin typeface="Arial"/>
              </a:rPr>
              <a:t>Воронка 1 · Обработка лида</a:t>
            </a:r>
          </a:p>
          <a:p>
            <a:pPr algn="l"/>
            <a:r>
              <a:rPr sz="1100" b="0">
                <a:solidFill>
                  <a:srgbClr val="6E7582"/>
                </a:solidFill>
                <a:latin typeface="Arial"/>
              </a:rPr>
              <a:t>От первого контакта до решения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5303519" cy="26289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8552"/>
                <a:gridCol w="3374967"/>
              </a:tblGrid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Статус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Что значит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A5B4FC"/>
                          </a:solidFill>
                          <a:latin typeface="Arial"/>
                        </a:rPr>
                        <a:t>Новый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Только поступил, ещё не тронут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FDE68A"/>
                          </a:solidFill>
                          <a:latin typeface="Arial"/>
                        </a:rPr>
                        <a:t>В работе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Первый контакт состоялся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FDE68A"/>
                          </a:solidFill>
                          <a:latin typeface="Arial"/>
                        </a:rPr>
                        <a:t>Перезвонить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Клиент попросил позже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A5B4FC"/>
                          </a:solidFill>
                          <a:latin typeface="Arial"/>
                        </a:rPr>
                        <a:t>Дубль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Повторное обращение (автоматически)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FDE68A"/>
                          </a:solidFill>
                          <a:latin typeface="Arial"/>
                        </a:rPr>
                        <a:t>Не ответил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Не берёт трубку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FDE68A"/>
                          </a:solidFill>
                          <a:latin typeface="Arial"/>
                        </a:rPr>
                        <a:t>Подойдёт в офис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Встреча (система спросит дату)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Закрыт ✅ (won)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Контракт подписан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FDA4AF"/>
                          </a:solidFill>
                          <a:latin typeface="Arial"/>
                        </a:rPr>
                        <a:t>Отказ ❌ (lost)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Система спросит причину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E9EE"/>
                </a:solidFill>
                <a:latin typeface="Arial"/>
              </a:rPr>
              <a:t>Воронка 2 · Этапы клиента</a:t>
            </a:r>
          </a:p>
          <a:p>
            <a:pPr algn="l"/>
            <a:r>
              <a:rPr sz="1100" b="0">
                <a:solidFill>
                  <a:srgbClr val="6E7582"/>
                </a:solidFill>
                <a:latin typeface="Arial"/>
              </a:rPr>
              <a:t>После Won — до отъезда на учёбу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965960"/>
          <a:ext cx="5303519" cy="2667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69621"/>
                <a:gridCol w="3133898"/>
              </a:tblGrid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Этап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Суть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1. 📜 Контракт подписан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Договор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2. 💰 Оплата 1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Предоплата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3. 📂 Сбор документов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Сбор и перевод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4. 🇬🇧 Языковой экзамен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IELTS / TOPIK / JLPT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5. 🎤 Собеседование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Интервью с вузом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6. 🎓 Зачисление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Вуз принял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7. 🛂 Виза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Оформление визы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8. 💵 Окончательная оплата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Финальный платёж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9. ✈️ Отъезд / прибытие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Клиент уехал учиться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532120"/>
            <a:ext cx="5303520" cy="8686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650992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  <a:latin typeface="Arial"/>
              </a:rPr>
              <a:t>КАК СВЯЗАНЫ ВОРОНКИ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Этапы заблокированы до победы. «Закрыт ✅» автоматически открывает «Контракт подписан»; откат статуса снимает этап.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 · Статусы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18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 · CRM ПРОДАВЦА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Инструменты эффективности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E9EE"/>
                </a:solidFill>
                <a:latin typeface="Arial"/>
              </a:rPr>
              <a:t>📥 Inbox 0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Видны только лиды, требующие действий. Закрыл всё — список пуст.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E9EE"/>
                </a:solidFill>
                <a:latin typeface="Arial"/>
              </a:rPr>
              <a:t>💾 Свои фильтры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Настроил раз — применяешь одним кликом каждый день.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E9EE"/>
                </a:solidFill>
                <a:latin typeface="Arial"/>
              </a:rPr>
              <a:t>☑️ Массовые действия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Выделил 10 лидов → сменил статус всем сразу.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6032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E9EE"/>
                </a:solidFill>
                <a:latin typeface="Arial"/>
              </a:rPr>
              <a:t>📨 Шаблоны ответов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Готовые тексты, имя подставится само.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56032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651760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E9EE"/>
                </a:solidFill>
                <a:latin typeface="Arial"/>
              </a:rPr>
              <a:t>🔄 Передача лида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Отпуск? Передал коллеге. 10 минут на «принять».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56032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E9EE"/>
                </a:solidFill>
                <a:latin typeface="Arial"/>
              </a:rPr>
              <a:t>📲 Push на телефон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CRM как приложение: новый лид — уведомление сразу.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3886200"/>
          <a:ext cx="10881358" cy="1752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0092"/>
                <a:gridCol w="3348110"/>
                <a:gridCol w="3069101"/>
                <a:gridCol w="1674055"/>
              </a:tblGrid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Инструмент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Без него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С ним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Экономия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Шаблоны ответов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Печатать каждое ~2 мин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2 клика ~5 сек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~30 мин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Inbox 0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Листать все 50 лидов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Видеть 8 актуальных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~20 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Массовые действия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Открывать каждый лид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Выделить — применить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~15 мин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Сохранённые фильтры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Настраивать заново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1 клик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~10 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Итого в день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~1 ч 15 мин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 · Инструменты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19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 · CRM ПРОДАВЦА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Шесть защитных сеток — работают сами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58" cy="2222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63515"/>
                <a:gridCol w="3149867"/>
                <a:gridCol w="4867976"/>
              </a:tblGrid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Защита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Когда срабатывает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Что делает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⏰ SLA-таймер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Нет ответа 3 часа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Лид краснеет, РОПу сигнал, минус в статистику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🔁 Дедупликация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Заявка с тем же телефоном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Комментарий к старому лиду, не дубль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🤖 Авто-сценарии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Лид завис в статусе N часов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Задача менеджеру / сигнал (настраивается)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🌅 Утренний отчёт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Каждый день в 09:00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Сводка РОПу в Telegram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📊 Аудит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Каждое действие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Кто/что/когда — споры решаются за минуту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💾 Авто-бэкап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Ежедневно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Копия всех данных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16052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0A1322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97680"/>
            <a:ext cx="49377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ПРИМЕР АВТО-СЦЕНАРИЯ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ЕСЛИ лид в статусе «Перезвонить»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       дольше 48 часов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ТО создать задачу менеджеру:</a:t>
            </a:r>
          </a:p>
          <a:p>
            <a:pPr algn="l"/>
            <a:r>
              <a:rPr sz="1150" b="0">
                <a:solidFill>
                  <a:srgbClr val="FDE68A"/>
                </a:solidFill>
                <a:latin typeface="Arial"/>
              </a:rPr>
              <a:t>       «Срочно перезвонить — клиент ждёт»</a:t>
            </a:r>
          </a:p>
          <a:p>
            <a:pPr algn="l"/>
            <a:r>
              <a:rPr sz="1000" b="0">
                <a:solidFill>
                  <a:srgbClr val="6E7582"/>
                </a:solidFill>
                <a:latin typeface="Arial"/>
              </a:rPr>
              <a:t>Настраивается в админке без программиста.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16052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Arial"/>
              </a:rPr>
              <a:t>НА ПРАКТИКЕ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177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Ни один лид не «теряется в столе»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Отпуск — система подскажет передать дела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Повторный клиент — вся история на месте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•  </a:t>
            </a:r>
            <a:r>
              <a:rPr sz="1050" b="0">
                <a:solidFill>
                  <a:srgbClr val="9AA1AE"/>
                </a:solidFill>
                <a:latin typeface="Arial"/>
              </a:rPr>
              <a:t>Спор «кто упустил» решается фактами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 · Защитные сетки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20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 · CRM ПРОДАВЦА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Ещё четыре возможности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27048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E7E9EE"/>
                </a:solidFill>
                <a:latin typeface="Arial"/>
              </a:rPr>
              <a:t>📖 База знаний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РОП пишет статьи («Виза в Японию», «Возражение дорого») — менеджер открывает из CRM. Новички учатся сами.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27048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E7E9EE"/>
                </a:solidFill>
                <a:latin typeface="Arial"/>
              </a:rPr>
              <a:t>🎟 Метки клиентов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Цветные ярлыки: Hot, VIP, Грант, Повторный. Видны сразу, фильтруются.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715768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E7E9EE"/>
                </a:solidFill>
                <a:latin typeface="Arial"/>
              </a:rPr>
              <a:t>📅 Календарь встреч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Статус «Подойдёт в офис» + дата → встреча сама в календаре.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0604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15768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E7E9EE"/>
                </a:solidFill>
                <a:latin typeface="Arial"/>
              </a:rPr>
              <a:t>🚪 Причины отказов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При Lost система просит причину: дорого / передумал / конкурент. РОП видит сводку.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Пример сводки причин отказов (за квартал)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E9EE"/>
                </a:solidFill>
                <a:latin typeface="Arial"/>
              </a:rPr>
              <a:t>Дорого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4471416"/>
            <a:ext cx="7315200" cy="201168"/>
          </a:xfrm>
          <a:prstGeom prst="roundRect">
            <a:avLst>
              <a:gd name="adj" fmla="val 50000"/>
            </a:avLst>
          </a:prstGeom>
          <a:solidFill>
            <a:srgbClr val="12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94560" y="4471416"/>
            <a:ext cx="3072384" cy="20116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443484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AA1AE"/>
                </a:solidFill>
                <a:latin typeface="Arial"/>
              </a:rPr>
              <a:t>42% · $84k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82312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E9EE"/>
                </a:solidFill>
                <a:latin typeface="Arial"/>
              </a:rPr>
              <a:t>Не отвечает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4818888"/>
            <a:ext cx="7315200" cy="201168"/>
          </a:xfrm>
          <a:prstGeom prst="roundRect">
            <a:avLst>
              <a:gd name="adj" fmla="val 50000"/>
            </a:avLst>
          </a:prstGeom>
          <a:solidFill>
            <a:srgbClr val="12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94560" y="4818888"/>
            <a:ext cx="1828800" cy="20116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478231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AA1AE"/>
                </a:solidFill>
                <a:latin typeface="Arial"/>
              </a:rPr>
              <a:t>25% · $37k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9784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E9EE"/>
                </a:solidFill>
                <a:latin typeface="Arial"/>
              </a:rPr>
              <a:t>Передумал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5166360"/>
            <a:ext cx="7315200" cy="201168"/>
          </a:xfrm>
          <a:prstGeom prst="roundRect">
            <a:avLst>
              <a:gd name="adj" fmla="val 50000"/>
            </a:avLst>
          </a:prstGeom>
          <a:solidFill>
            <a:srgbClr val="12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94560" y="5166360"/>
            <a:ext cx="1316736" cy="20116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5129784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AA1AE"/>
                </a:solidFill>
                <a:latin typeface="Arial"/>
              </a:rPr>
              <a:t>18% · $29k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77256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E9EE"/>
                </a:solidFill>
                <a:latin typeface="Arial"/>
              </a:rPr>
              <a:t>Конкурент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5513832"/>
            <a:ext cx="7315200" cy="201168"/>
          </a:xfrm>
          <a:prstGeom prst="roundRect">
            <a:avLst>
              <a:gd name="adj" fmla="val 50000"/>
            </a:avLst>
          </a:prstGeom>
          <a:solidFill>
            <a:srgbClr val="12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94560" y="5513832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5477256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AA1AE"/>
                </a:solidFill>
                <a:latin typeface="Arial"/>
              </a:rPr>
              <a:t>10% · $18k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24728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E9EE"/>
                </a:solidFill>
                <a:latin typeface="Arial"/>
              </a:rPr>
              <a:t>Другое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94560" y="5861304"/>
            <a:ext cx="7315200" cy="201168"/>
          </a:xfrm>
          <a:prstGeom prst="roundRect">
            <a:avLst>
              <a:gd name="adj" fmla="val 50000"/>
            </a:avLst>
          </a:prstGeom>
          <a:solidFill>
            <a:srgbClr val="12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194560" y="5861304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6E7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582472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AA1AE"/>
                </a:solidFill>
                <a:latin typeface="Arial"/>
              </a:rPr>
              <a:t>5% · $8k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7582"/>
                </a:solidFill>
                <a:latin typeface="Arial"/>
              </a:rPr>
              <a:t>Вывод РОПа: 42% отказов «дорого» → добавить рассрочку и гранты в скрипты продаж.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 · Дополнительно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21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30+ разделов в трёх группах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E7E9EE"/>
                </a:solidFill>
                <a:latin typeface="Arial"/>
              </a:rPr>
              <a:t>📊 Аналитика ·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Здоровье продаж (светофор)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Посещения сайта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Дашборд CRM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Leaderboard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1-на-1 отчёт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Время в статусах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Скорость отклика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Heatmap входящих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Причины отказов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Когортный анализ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ROI по источникам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E7E9EE"/>
                </a:solidFill>
                <a:latin typeface="Arial"/>
              </a:rPr>
              <a:t>⚙️ Операции ·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1168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Менеджеры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Авто-распределение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Статусы воронки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Метки клиентов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Шаблоны ответов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Авто-сценарии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Причины отказов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База знаний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Комиссии и выплаты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Журнал аудита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Утилиты и бэкапы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Все лиды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554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E7E9EE"/>
                </a:solidFill>
                <a:latin typeface="Arial"/>
              </a:rPr>
              <a:t>🌍 Контент сайта ·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01168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Видимость блоков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Главный экран (Hero)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О компании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Страны и Университеты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Партнёрские университеты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Калькулятор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Отзывы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FAQ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Контакты и график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События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3212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50992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86EFAC"/>
                </a:solidFill>
                <a:latin typeface="Arial"/>
              </a:rPr>
              <a:t>БЕРЕЖНЫЙ РЕЖИМ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Все разделы свёрнуты; раздел грузит данные только когда его открыли — админка лёгкая даже на слабых ноутбуках.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VII · Структура админки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22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«Светофор» — состояние продаж за 2 секунды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8" cy="152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58635"/>
                <a:gridCol w="5587725"/>
                <a:gridCol w="3234998"/>
              </a:tblGrid>
              <a:tr h="3810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9AA1AE"/>
                          </a:solidFill>
                          <a:latin typeface="Arial"/>
                        </a:rPr>
                        <a:t>Цвет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9AA1AE"/>
                          </a:solidFill>
                          <a:latin typeface="Arial"/>
                        </a:rPr>
                        <a:t>Условия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9AA1AE"/>
                          </a:solidFill>
                          <a:latin typeface="Arial"/>
                        </a:rPr>
                        <a:t>Действие РОПа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810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1">
                          <a:solidFill>
                            <a:srgbClr val="86EFAC"/>
                          </a:solidFill>
                          <a:latin typeface="Arial"/>
                        </a:rPr>
                        <a:t>🟢 Норма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0">
                          <a:solidFill>
                            <a:srgbClr val="E7E9EE"/>
                          </a:solidFill>
                          <a:latin typeface="Arial"/>
                        </a:rPr>
                        <a:t>SLA ≥ 80% · конверсия ≥ 15% · просрочек &lt; 6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0">
                          <a:solidFill>
                            <a:srgbClr val="E7E9EE"/>
                          </a:solidFill>
                          <a:latin typeface="Arial"/>
                        </a:rPr>
                        <a:t>Работаем дальше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810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1">
                          <a:solidFill>
                            <a:srgbClr val="FDE68A"/>
                          </a:solidFill>
                          <a:latin typeface="Arial"/>
                        </a:rPr>
                        <a:t>🟡 Внимание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0">
                          <a:solidFill>
                            <a:srgbClr val="E7E9EE"/>
                          </a:solidFill>
                          <a:latin typeface="Arial"/>
                        </a:rPr>
                        <a:t>SLA 60–80% или конверсия 10–15%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0">
                          <a:solidFill>
                            <a:srgbClr val="E7E9EE"/>
                          </a:solidFill>
                          <a:latin typeface="Arial"/>
                        </a:rPr>
                        <a:t>Открыть детали, найти узкое место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810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1">
                          <a:solidFill>
                            <a:srgbClr val="FDA4AF"/>
                          </a:solidFill>
                          <a:latin typeface="Arial"/>
                        </a:rPr>
                        <a:t>🔴 Срочно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0">
                          <a:solidFill>
                            <a:srgbClr val="E7E9EE"/>
                          </a:solidFill>
                          <a:latin typeface="Arial"/>
                        </a:rPr>
                        <a:t>SLA &lt; 60% или конверсия &lt; 10% или просрочек &gt; 5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0">
                          <a:solidFill>
                            <a:srgbClr val="E7E9EE"/>
                          </a:solidFill>
                          <a:latin typeface="Arial"/>
                        </a:rPr>
                        <a:t>Разбираться немедленно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246120"/>
            <a:ext cx="10881360" cy="1325880"/>
          </a:xfrm>
          <a:prstGeom prst="roundRect">
            <a:avLst>
              <a:gd name="adj" fmla="val 6000"/>
            </a:avLst>
          </a:prstGeom>
          <a:solidFill>
            <a:srgbClr val="0A1F18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Arial"/>
              </a:rPr>
              <a:t>🟢  ЗДОРОВЬЕ ПРОДАЖ</a:t>
            </a:r>
          </a:p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ВСЁ В ПОРЯДКЕ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429000"/>
            <a:ext cx="1143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SLA</a:t>
            </a:r>
          </a:p>
          <a:p>
            <a:pPr algn="l"/>
            <a:r>
              <a:rPr sz="2000" b="1">
                <a:solidFill>
                  <a:srgbClr val="86EFAC"/>
                </a:solidFill>
                <a:latin typeface="Arial"/>
              </a:rPr>
              <a:t>87%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429000"/>
            <a:ext cx="1143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КОНВЕРСИЯ</a:t>
            </a:r>
          </a:p>
          <a:p>
            <a:pPr algn="l"/>
            <a:r>
              <a:rPr sz="2000" b="1">
                <a:solidFill>
                  <a:srgbClr val="86EFAC"/>
                </a:solidFill>
                <a:latin typeface="Arial"/>
              </a:rPr>
              <a:t>22%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429000"/>
            <a:ext cx="1143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ПРОСРОЧКИ</a:t>
            </a:r>
          </a:p>
          <a:p>
            <a:pPr algn="l"/>
            <a:r>
              <a:rPr sz="2000" b="1">
                <a:solidFill>
                  <a:srgbClr val="E7E9EE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3429000"/>
            <a:ext cx="1143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ЗАВИСШИЕ</a:t>
            </a:r>
          </a:p>
          <a:p>
            <a:pPr algn="l"/>
            <a:r>
              <a:rPr sz="2000" b="1">
                <a:solidFill>
                  <a:srgbClr val="E7E9EE"/>
                </a:solidFill>
                <a:latin typeface="Arial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4632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DE68A"/>
                </a:solidFill>
                <a:latin typeface="Arial"/>
              </a:rPr>
              <a:t>ЕСЛИ ЖЁЛТЫЙ ИЛИ КРАСНЫЙ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Под светофором — список причин: «SLA упал из-за Дамира — офлайн 24ч». Не нужно копать отчёты —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система сама говорит, где проблема и у кого.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VII · Светофор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23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Leaderboard — рейтинг команды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6" cy="1778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7723"/>
                <a:gridCol w="2460133"/>
                <a:gridCol w="1040825"/>
                <a:gridCol w="851584"/>
                <a:gridCol w="1513928"/>
                <a:gridCol w="1608548"/>
                <a:gridCol w="1324687"/>
                <a:gridCol w="1513928"/>
              </a:tblGrid>
              <a:tr h="3556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Менеджер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Лидов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Won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Конверсия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Отклик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Касаний/д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556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🥇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7E9EE"/>
                          </a:solidFill>
                          <a:latin typeface="Arial"/>
                        </a:rPr>
                        <a:t>Гулжан Тен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$32 100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18 мин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556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🥈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7E9EE"/>
                          </a:solidFill>
                          <a:latin typeface="Arial"/>
                        </a:rPr>
                        <a:t>Анна Иванова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$28 500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12 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556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🥉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7E9EE"/>
                          </a:solidFill>
                          <a:latin typeface="Arial"/>
                        </a:rPr>
                        <a:t>Бек Бекович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$19 200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E68A"/>
                          </a:solidFill>
                          <a:latin typeface="Arial"/>
                        </a:rPr>
                        <a:t>32 мин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556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FDA4AF"/>
                          </a:solidFill>
                          <a:latin typeface="Arial"/>
                        </a:rPr>
                        <a:t>Дамир С. ⚠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A4AF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A4AF"/>
                          </a:solidFill>
                          <a:latin typeface="Arial"/>
                        </a:rPr>
                        <a:t>$8 400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A4AF"/>
                          </a:solidFill>
                          <a:latin typeface="Arial"/>
                        </a:rPr>
                        <a:t>94 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A4A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703320"/>
            <a:ext cx="5349240" cy="22402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КАК ЧИТАТЬ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6366F1"/>
                </a:solidFill>
                <a:latin typeface="Arial"/>
              </a:rPr>
              <a:t>•  </a:t>
            </a:r>
            <a:r>
              <a:rPr sz="1100" b="1">
                <a:solidFill>
                  <a:srgbClr val="E7E9EE"/>
                </a:solidFill>
                <a:latin typeface="Arial"/>
              </a:rPr>
              <a:t>Конверсия</a:t>
            </a:r>
            <a:r>
              <a:rPr sz="1100" b="0">
                <a:solidFill>
                  <a:srgbClr val="9AA1AE"/>
                </a:solidFill>
                <a:latin typeface="Arial"/>
              </a:rPr>
              <a:t> — главный показатель качества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366F1"/>
                </a:solidFill>
                <a:latin typeface="Arial"/>
              </a:rPr>
              <a:t>•  </a:t>
            </a:r>
            <a:r>
              <a:rPr sz="1100" b="1">
                <a:solidFill>
                  <a:srgbClr val="E7E9EE"/>
                </a:solidFill>
                <a:latin typeface="Arial"/>
              </a:rPr>
              <a:t>Отклик</a:t>
            </a:r>
            <a:r>
              <a:rPr sz="1100" b="0">
                <a:solidFill>
                  <a:srgbClr val="9AA1AE"/>
                </a:solidFill>
                <a:latin typeface="Arial"/>
              </a:rPr>
              <a:t> — скорость 1-го ответа: норма &lt; 30 мин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366F1"/>
                </a:solidFill>
                <a:latin typeface="Arial"/>
              </a:rPr>
              <a:t>•  </a:t>
            </a:r>
            <a:r>
              <a:rPr sz="1100" b="1">
                <a:solidFill>
                  <a:srgbClr val="E7E9EE"/>
                </a:solidFill>
                <a:latin typeface="Arial"/>
              </a:rPr>
              <a:t>Касания/день</a:t>
            </a:r>
            <a:r>
              <a:rPr sz="1100" b="0">
                <a:solidFill>
                  <a:srgbClr val="9AA1AE"/>
                </a:solidFill>
                <a:latin typeface="Arial"/>
              </a:rPr>
              <a:t> — реально ли работает с базой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366F1"/>
                </a:solidFill>
                <a:latin typeface="Arial"/>
              </a:rPr>
              <a:t>•  </a:t>
            </a:r>
            <a:r>
              <a:rPr sz="1100" b="1">
                <a:solidFill>
                  <a:srgbClr val="E7E9EE"/>
                </a:solidFill>
                <a:latin typeface="Arial"/>
              </a:rPr>
              <a:t>Всё низкое сразу</a:t>
            </a:r>
            <a:r>
              <a:rPr sz="1100" b="0">
                <a:solidFill>
                  <a:srgbClr val="9AA1AE"/>
                </a:solidFill>
                <a:latin typeface="Arial"/>
              </a:rPr>
              <a:t> = повод для 1-на-1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5349240" cy="22402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840480"/>
            <a:ext cx="4937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СВЯЗКА С 1-НА-1 ОТЧЁТОМ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Увидел проблему → «1-на-1 отчёт» → выбрал менеджера → система собрала недельную сводку: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KPI с динамикой, топ-лиды, зависшие, касания по каналам.</a:t>
            </a:r>
          </a:p>
          <a:p>
            <a:pPr algn="l"/>
            <a:r>
              <a:rPr sz="1200" b="1">
                <a:solidFill>
                  <a:srgbClr val="86EFAC"/>
                </a:solidFill>
                <a:latin typeface="Arial"/>
              </a:rPr>
              <a:t>Подготовка к встрече: 0 минут.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VII · Leaderboard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24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Остальные виджеты аналитики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60" cy="254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22600"/>
                <a:gridCol w="3022600"/>
                <a:gridCol w="4836160"/>
              </a:tblGrid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Виджет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Вопрос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Пример вывода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⏱ Время в статусах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Где зависают лиды?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«В Перезвонить сидят 5 дней — забывают»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⏲ Скорость отклика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Кто быстрый, кто тянет?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«Анна — 12 мин, Дамир — 94 мин»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🌡 Heatmap входящих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Когда приходят заявки?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«Пик — вс 20:00, все офлайн → дежурства»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📆 Когортный анализ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Конверсия растёт или падает?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«Май конвертится хуже марта на 7%»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💸 ROI источников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Какая реклама окупается?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«Instagram: $500 → $12k. TikTok: $800 → $2k»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📈 Дашборд CRM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Общая картина за период?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Лиды по дням, источникам + прогноз выручки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👁 Посещения сайта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Сколько людей заходит?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Динамика трафика по дням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5262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49377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ПРИМЕР ВЫВОДА ИЗ HEATMAP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Воскресенье 18:00–22:00 — пик заявок (17/час), но вся команда офлайн.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Решение: дежурный менеджер по воскресеньям → +15–20 спасённых лидов в месяц.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5262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49377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ЭКСПОРТ В EXCEL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Любой период — одной кнопкой из Дашборда: все лиды с полями, статусами, источниками, суммами.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Для бухгалтерии и инвесторов.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VII · Аналитика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25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Управление командой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E9EE"/>
                </a:solidFill>
                <a:latin typeface="Arial"/>
              </a:rPr>
              <a:t>Создать менеджера — 2 минуты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28800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792224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Админка → «Менеджеры»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Раскрыть раздел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395728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359152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Заполнить форму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Имя, логин (латиницей), Telegram-тег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62656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92608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Выбрать роль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Менеджер / РОП / Партнёр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529584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493008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«+ Создать»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Передать сотруднику логин и пароль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5303520" cy="2651760"/>
          </a:xfrm>
          <a:prstGeom prst="roundRect">
            <a:avLst>
              <a:gd name="adj" fmla="val 6000"/>
            </a:avLst>
          </a:prstGeom>
          <a:solidFill>
            <a:srgbClr val="221012"/>
          </a:solidFill>
          <a:ln w="9525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5448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DA4AF"/>
                </a:solidFill>
                <a:latin typeface="Arial"/>
              </a:rPr>
              <a:t>УВОЛИТЬ = АРХИВИРОВАТЬ, НЕ УДАЛЯТЬ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Кнопка «Архивировать»: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• система спросит, кому передать открытые лиды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• доступ закрывается сразу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• история работы сохраняется</a:t>
            </a:r>
          </a:p>
          <a:p>
            <a:pPr algn="l"/>
            <a:r>
              <a:rPr sz="1150" b="1">
                <a:solidFill>
                  <a:srgbClr val="FDA4AF"/>
                </a:solidFill>
                <a:latin typeface="Arial"/>
              </a:rPr>
              <a:t>Никогда не удаляйте насовсем — сломается статистика прошлых периодов.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Авто-распределение: кому падают лиды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4754880"/>
          <a:ext cx="10881360" cy="152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352544"/>
                <a:gridCol w="6528816"/>
              </a:tblGrid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Правило (пример)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Страна = Япония → Анна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«Японские» лиды идут Анне (спец по Японии)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Источник = Instagram → Гулжан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Лиды из Instagram — Гулжан (ведёт соцсети)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Правил нет / не подошло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Очередь по кругу между «🟢 в сети»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Менеджер из правила офлайн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Лид в общую очередь — не теряется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VII · Команда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26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Комиссии и журнал аудита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E9EE"/>
                </a:solidFill>
                <a:latin typeface="Arial"/>
              </a:rPr>
              <a:t>💵 Комиссии и выплаты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28800"/>
          <a:ext cx="5303519" cy="1320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05878"/>
                <a:gridCol w="2997641"/>
              </a:tblGrid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Правило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Пример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Процент от сделки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5% от суммы Won-контракта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Фикс за сделку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$100 за каждый Won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Для партнёров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3% от приведённого реферала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611880"/>
            <a:ext cx="5303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Система сама считает сумму к выплате по каждому менеджеру за период.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РОП открывает раздел — видит готовые цифры.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E9EE"/>
                </a:solidFill>
                <a:latin typeface="Arial"/>
              </a:rPr>
              <a:t>🕒 Журнал аудита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0A1322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8463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14:02  Анна сменила статус #1247</a:t>
            </a:r>
          </a:p>
          <a:p>
            <a:pPr algn="l"/>
            <a:r>
              <a:rPr sz="1100" b="0">
                <a:solidFill>
                  <a:srgbClr val="6E7582"/>
                </a:solidFill>
                <a:latin typeface="Arial"/>
              </a:rPr>
              <a:t>           «Новый → В работе»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14:05  Анна загрузила «passport.pdf»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14:31  Бек (РОП) переназначил #1198</a:t>
            </a:r>
          </a:p>
          <a:p>
            <a:pPr algn="l"/>
            <a:r>
              <a:rPr sz="1100" b="0">
                <a:solidFill>
                  <a:srgbClr val="6E7582"/>
                </a:solidFill>
                <a:latin typeface="Arial"/>
              </a:rPr>
              <a:t>           «Дамир → Гулжан»</a:t>
            </a:r>
          </a:p>
          <a:p>
            <a:pPr algn="l"/>
            <a:r>
              <a:rPr sz="1100" b="0">
                <a:solidFill>
                  <a:srgbClr val="FDA4AF"/>
                </a:solidFill>
                <a:latin typeface="Arial"/>
              </a:rPr>
              <a:t>15:10  Система: SLA-просрочка #1201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18888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ЗАЧЕМ</a:t>
            </a:r>
          </a:p>
          <a:p>
            <a:pPr algn="l"/>
            <a:r>
              <a:rPr sz="1200" b="0">
                <a:solidFill>
                  <a:srgbClr val="9AA1AE"/>
                </a:solidFill>
                <a:latin typeface="Arial"/>
              </a:rPr>
              <a:t>Спор «кто упустил клиента» решается за минуту — открыл аудит лида и видишь всю историю действий каждого сотрудника.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VII · Комиссии и аудит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27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Сохранность данных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💾 Авто-бэкап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Ежедневная копия базы автоматически, на стороне хостинга. Сгорел сервер — данные восстановимы.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📦 Ручной экспорт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«Утилиты и бэкапы»: одна кнопка — полный архив. Раз в месяц — в облако компании.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📊 Excel-выгрузки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Все лиды за период — в Excel из Дашборда. Для бухгалтерии и отчётов.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Безопасность доступов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3566160"/>
          <a:ext cx="10881359" cy="1905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48110"/>
                <a:gridCol w="7533249"/>
              </a:tblGrid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Что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Как устроено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Пароль админки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Один общий, у админа. Менять раз в квартал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Пароли менеджеров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Личный логин у каждого; пароль выдаёт админ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Вход в CRM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Сессия 12 часов — хватает на весь рабочий день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Уволенный сотрудник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Архивация мгновенно закрывает доступ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Документы клиентов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На сервере платформы, доступ только из CRM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VII · Данные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28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VIII · ПУТЬ КЛИЕНТА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От заявки до отъезда — таймлайн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54480"/>
            <a:ext cx="25400" cy="4663440"/>
          </a:xfrm>
          <a:prstGeom prst="rect">
            <a:avLst/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1554480"/>
            <a:ext cx="237744" cy="237744"/>
          </a:xfrm>
          <a:prstGeom prst="ellipse">
            <a:avLst/>
          </a:prstGeom>
          <a:solidFill>
            <a:srgbClr val="0B0C0F"/>
          </a:solidFill>
          <a:ln w="222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50876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День 0 · 📨 Заявка на сайте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Айгуль заполнила форму → лид #1247 «Новый» упал Анне (правило «Япония → Анна») → push + SLA 3 ч</a:t>
            </a:r>
          </a:p>
        </p:txBody>
      </p:sp>
      <p:sp>
        <p:nvSpPr>
          <p:cNvPr id="10" name="Oval 9"/>
          <p:cNvSpPr/>
          <p:nvPr/>
        </p:nvSpPr>
        <p:spPr>
          <a:xfrm>
            <a:off x="758952" y="2231136"/>
            <a:ext cx="237744" cy="237744"/>
          </a:xfrm>
          <a:prstGeom prst="ellipse">
            <a:avLst/>
          </a:prstGeom>
          <a:solidFill>
            <a:srgbClr val="0B0C0F"/>
          </a:solidFill>
          <a:ln w="222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18541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День 0, +20 мин · 💬 Первый контакт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Кнопка WhatsApp → шаблон «Приветствие» → разговор → статус «В работе»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" y="2907792"/>
            <a:ext cx="237744" cy="237744"/>
          </a:xfrm>
          <a:prstGeom prst="ellipse">
            <a:avLst/>
          </a:prstGeom>
          <a:solidFill>
            <a:srgbClr val="0B0C0F"/>
          </a:solidFill>
          <a:ln w="222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86207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День 2 · 🤝 Встреча в офисе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Статус «Подойдёт в офис» + дата → встреча в календаре → бюджет $15k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" y="3584448"/>
            <a:ext cx="237744" cy="237744"/>
          </a:xfrm>
          <a:prstGeom prst="ellipse">
            <a:avLst/>
          </a:prstGeom>
          <a:solidFill>
            <a:srgbClr val="0B0C0F"/>
          </a:solidFill>
          <a:ln w="222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53872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День 3 · 📎 Документы и сделка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Паспорт и аттестат — в «Файлы». Сделка: $15 000, вероятность 70%, метка Hot</a:t>
            </a:r>
          </a:p>
        </p:txBody>
      </p:sp>
      <p:sp>
        <p:nvSpPr>
          <p:cNvPr id="16" name="Oval 15"/>
          <p:cNvSpPr/>
          <p:nvPr/>
        </p:nvSpPr>
        <p:spPr>
          <a:xfrm>
            <a:off x="758952" y="4261104"/>
            <a:ext cx="237744" cy="237744"/>
          </a:xfrm>
          <a:prstGeom prst="ellipse">
            <a:avLst/>
          </a:prstGeom>
          <a:solidFill>
            <a:srgbClr val="0B0C0F"/>
          </a:solidFill>
          <a:ln w="222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21538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День 7 · 🎉 Контракт — Won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Лид перешёл во вторую воронку «Этапы клиента» → +1 в Leaderboard Анны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" y="4937760"/>
            <a:ext cx="237744" cy="237744"/>
          </a:xfrm>
          <a:prstGeom prst="ellipse">
            <a:avLst/>
          </a:prstGeom>
          <a:solidFill>
            <a:srgbClr val="0B0C0F"/>
          </a:solidFill>
          <a:ln w="222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892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Месяцы 1–6 · 🎓 Сопровождение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Оплата 1 → Документы → Языковой экзамен → Собеседование → Зачисление в Toyo University → Виза → Оплата → Отъезд</a:t>
            </a:r>
          </a:p>
        </p:txBody>
      </p:sp>
      <p:sp>
        <p:nvSpPr>
          <p:cNvPr id="20" name="Oval 19"/>
          <p:cNvSpPr/>
          <p:nvPr/>
        </p:nvSpPr>
        <p:spPr>
          <a:xfrm>
            <a:off x="758952" y="5614416"/>
            <a:ext cx="237744" cy="237744"/>
          </a:xfrm>
          <a:prstGeom prst="ellipse">
            <a:avLst/>
          </a:prstGeom>
          <a:solidFill>
            <a:srgbClr val="0B0C0F"/>
          </a:solidFill>
          <a:ln w="222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556869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Месяц 6 · ✈️ Отъезд</a:t>
            </a:r>
          </a:p>
          <a:p>
            <a:pPr algn="l"/>
            <a:r>
              <a:rPr sz="1100" b="0">
                <a:solidFill>
                  <a:srgbClr val="9AA1AE"/>
                </a:solidFill>
                <a:latin typeface="Arial"/>
              </a:rPr>
              <a:t>Клиентка в Японии. Карточка остаётся в истории — для отзывов и рефералов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VIII · Путь клиента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29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VIII · ПУТЬ КЛИЕНТА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Что фиксируется на каждом шаге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60" cy="254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00400"/>
                <a:gridCol w="3840480"/>
                <a:gridCol w="3840480"/>
              </a:tblGrid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Шаг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Что записала система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AA1AE"/>
                          </a:solidFill>
                          <a:latin typeface="Arial"/>
                        </a:rPr>
                        <a:t>Где видно потом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Заявка пришла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Время, источник, UTM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Heatmap · ROI источников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Первый ответ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Время реакции менеджера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Скорость отклика · SLA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Каждый звонок/WhatsApp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Касание: канал + время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Leaderboard (касания/день)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Смена статуса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Кто, когда, из какого в какой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Время в статусах · Аудит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Сумма сделки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$ и вероятность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Прогноз выручки в Дашборде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Won/Lost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Результат + причина отказа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Конверсия · Причины отказов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Этапы после Won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Прогресс сопровождения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7E9EE"/>
                          </a:solidFill>
                          <a:latin typeface="Arial"/>
                        </a:rPr>
                        <a:t>Канбан «Этапы клиентов»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572000"/>
            <a:ext cx="5349240" cy="164592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09160"/>
            <a:ext cx="49377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ГЛАВНАЯ МЫСЛЬ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Менеджер просто работает — звонит, пишет, двигает статусы. Вся аналитика собирается сама.</a:t>
            </a:r>
          </a:p>
          <a:p>
            <a:pPr algn="l"/>
            <a:r>
              <a:rPr sz="1150" b="1">
                <a:solidFill>
                  <a:srgbClr val="E7E9EE"/>
                </a:solidFill>
                <a:latin typeface="Arial"/>
              </a:rPr>
              <a:t>Никто ничего не заполняет «для отчёта».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572000"/>
            <a:ext cx="5349240" cy="164592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709160"/>
            <a:ext cx="49377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Arial"/>
              </a:rPr>
              <a:t>ДЛЯ КЛИЕНТА ЭТО ЗНАЧИТ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Его не «теряют»: любой менеджер откроет карточку и за 30 секунд поймёт всю историю —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кто что обещал, какие документы есть, что дальше.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VIII · Метрики пути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30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IX · ИСТОРИИ ИЗ ПРАКТИКИ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История 1 · Утро менеджера Анны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E9EE"/>
                </a:solidFill>
                <a:latin typeface="Arial"/>
              </a:rPr>
              <a:t>Анна Иванова</a:t>
            </a:r>
            <a:r>
              <a:rPr sz="1100" b="0">
                <a:solidFill>
                  <a:srgbClr val="6E7582"/>
                </a:solidFill>
                <a:latin typeface="Arial"/>
              </a:rPr>
              <a:t>  · менеджер · 18 won за неделю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«Я не думаю утром, что делать первым. CRM уже подумала за меня».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60320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23744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7E9EE"/>
                </a:solidFill>
                <a:latin typeface="Arial"/>
              </a:rPr>
              <a:t>09:00 · Открыла /lidy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«Мой день»: 3 встречи, 5 горячих, 2 просрочки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45536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108960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7E9EE"/>
                </a:solidFill>
                <a:latin typeface="Arial"/>
              </a:rPr>
              <a:t>09:02 · Inbox 0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Из 47 лидов осталось 8 требующих действия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30752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94176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7E9EE"/>
                </a:solidFill>
                <a:latin typeface="Arial"/>
              </a:rPr>
              <a:t>09:05 · Закрыла просрочки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2 звонка — задачи закрыты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15968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279392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7E9EE"/>
                </a:solidFill>
                <a:latin typeface="Arial"/>
              </a:rPr>
              <a:t>09:20 · Новые лиды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3 шаблона «Приветствие» в WhatsApp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901184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864608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7E9EE"/>
                </a:solidFill>
                <a:latin typeface="Arial"/>
              </a:rPr>
              <a:t>10:00 · Уехала на встречу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Тумблер «не в сети» — лиды идут коллегам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55448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ОБРАБОТАНО</a:t>
            </a:r>
          </a:p>
          <a:p>
            <a:pPr algn="l"/>
            <a:r>
              <a:rPr sz="2200" b="1">
                <a:solidFill>
                  <a:srgbClr val="E7E9EE"/>
                </a:solidFill>
                <a:latin typeface="Arial"/>
              </a:rPr>
              <a:t>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46304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55448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КАСАНИЙ</a:t>
            </a:r>
          </a:p>
          <a:p>
            <a:pPr algn="l"/>
            <a:r>
              <a:rPr sz="2200" b="1">
                <a:solidFill>
                  <a:srgbClr val="E7E9EE"/>
                </a:solidFill>
                <a:latin typeface="Arial"/>
              </a:rPr>
              <a:t>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46888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56032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WON</a:t>
            </a:r>
          </a:p>
          <a:p>
            <a:pPr algn="l"/>
            <a:r>
              <a:rPr sz="2200" b="1">
                <a:solidFill>
                  <a:srgbClr val="86EFAC"/>
                </a:solidFill>
                <a:latin typeface="Arial"/>
              </a:rPr>
              <a:t>2 · $24.5k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246888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56032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E7582"/>
                </a:solidFill>
                <a:latin typeface="Arial"/>
              </a:rPr>
              <a:t>INBOX 0</a:t>
            </a:r>
          </a:p>
          <a:p>
            <a:pPr algn="l"/>
            <a:r>
              <a:rPr sz="2200" b="1">
                <a:solidFill>
                  <a:srgbClr val="86EFAC"/>
                </a:solidFill>
                <a:latin typeface="Arial"/>
              </a:rPr>
              <a:t>✓ пуст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61188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749039"/>
            <a:ext cx="484632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Arial"/>
              </a:rPr>
              <a:t>ПОЧЕМУ ЭТО РАБОТАЕТ</a:t>
            </a:r>
          </a:p>
          <a:p>
            <a:pPr algn="l"/>
            <a:r>
              <a:rPr sz="1200" b="1">
                <a:solidFill>
                  <a:srgbClr val="E7E9EE"/>
                </a:solidFill>
                <a:latin typeface="Arial"/>
              </a:rPr>
              <a:t>Система всегда показывает следующий шаг.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Меньше решений «что делать» → меньше усталость → выше конверсия.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Все 28 касаний зачтены в статистику автоматически.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IX · История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31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IX · ИСТОРИИ ИЗ ПРАКТИКИ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История 2 · Понедельник РОПа Бека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001B3D"/>
          </a:solidFill>
          <a:ln w="9525">
            <a:solidFill>
              <a:srgbClr val="0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📊 GoGlobal · утренний отчёт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За выходные: 23 лида, 3 Won ($12 500), 1 Lost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⚠️ Просрочено SLA: 2 · 📋 Просроченных задач: 4</a:t>
            </a:r>
          </a:p>
          <a:p>
            <a:pPr algn="l"/>
            <a:r>
              <a:rPr sz="1150" b="0">
                <a:solidFill>
                  <a:srgbClr val="FDE68A"/>
                </a:solidFill>
                <a:latin typeface="Arial"/>
              </a:rPr>
              <a:t>⚪ Офлайн &gt;24ч: Дамир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980944"/>
            <a:ext cx="4846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7E9EE"/>
                </a:solidFill>
                <a:latin typeface="Arial"/>
              </a:rPr>
              <a:t>09:05 · Светофор: 🟡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Причина — SLA 72% из-за Дамира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21024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584448"/>
            <a:ext cx="4846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7E9EE"/>
                </a:solidFill>
                <a:latin typeface="Arial"/>
              </a:rPr>
              <a:t>09:10 · Leaderboard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У Дамира 94 мин отклик — кандидат на 1-на-1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24528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187952"/>
            <a:ext cx="4846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7E9EE"/>
                </a:solidFill>
                <a:latin typeface="Arial"/>
              </a:rPr>
              <a:t>09:20 · Звонок Дамиру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Он в больнице — нужно передать лиды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828032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791456"/>
            <a:ext cx="4846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7E9EE"/>
                </a:solidFill>
                <a:latin typeface="Arial"/>
              </a:rPr>
              <a:t>09:25 · Массовая передача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Фильтр «Дамир + Hot» → 5 лидов → Анне за 30 сек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1732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0A1322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54480"/>
            <a:ext cx="48463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Arial"/>
              </a:rPr>
              <a:t>АВТО-СЦЕНАРИЙ НА ВРЕМЯ БОЛЕЗНИ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ЕСЛИ лид Дамира в статусе «Перезвонить» &gt; 24ч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ТО уведомить РОПа в Telegram</a:t>
            </a:r>
          </a:p>
          <a:p>
            <a:pPr algn="l"/>
            <a:r>
              <a:rPr sz="1150" b="0">
                <a:solidFill>
                  <a:srgbClr val="86EFAC"/>
                </a:solidFill>
                <a:latin typeface="Arial"/>
              </a:rPr>
              <a:t>Ничего не «протухнет» незаметно, пока Дамир болеет.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303520" cy="205740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947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Arial"/>
              </a:rPr>
              <a:t>ИТОГ ПОНЕДЕЛЬНИКА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148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6366F1"/>
                </a:solidFill>
                <a:latin typeface="Arial"/>
              </a:rPr>
              <a:t>•  </a:t>
            </a:r>
            <a:r>
              <a:rPr sz="1100" b="0">
                <a:solidFill>
                  <a:srgbClr val="9AA1AE"/>
                </a:solidFill>
                <a:latin typeface="Arial"/>
              </a:rPr>
              <a:t>Проблема найдена за 5 минут (не в пятницу)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366F1"/>
                </a:solidFill>
                <a:latin typeface="Arial"/>
              </a:rPr>
              <a:t>•  </a:t>
            </a:r>
            <a:r>
              <a:rPr sz="1100" b="0">
                <a:solidFill>
                  <a:srgbClr val="9AA1AE"/>
                </a:solidFill>
                <a:latin typeface="Arial"/>
              </a:rPr>
              <a:t>5 горячих лидов спасены передачей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366F1"/>
                </a:solidFill>
                <a:latin typeface="Arial"/>
              </a:rPr>
              <a:t>•  </a:t>
            </a:r>
            <a:r>
              <a:rPr sz="1100" b="0">
                <a:solidFill>
                  <a:srgbClr val="9AA1AE"/>
                </a:solidFill>
                <a:latin typeface="Arial"/>
              </a:rPr>
              <a:t>Контроль на время болезни — автоматический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366F1"/>
                </a:solidFill>
                <a:latin typeface="Arial"/>
              </a:rPr>
              <a:t>•  </a:t>
            </a:r>
            <a:r>
              <a:rPr sz="1100" b="0">
                <a:solidFill>
                  <a:srgbClr val="9AA1AE"/>
                </a:solidFill>
                <a:latin typeface="Arial"/>
              </a:rPr>
              <a:t>Ни одной таблицы Excel не открыто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IX · История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32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IX · ИСТОРИИ ИЗ ПРАКТИКИ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История 3 · Партнёр приводит реферала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E9EE"/>
                </a:solidFill>
                <a:latin typeface="Arial"/>
              </a:rPr>
              <a:t>Нурлан</a:t>
            </a:r>
            <a:r>
              <a:rPr sz="1100" b="0">
                <a:solidFill>
                  <a:srgbClr val="6E7582"/>
                </a:solidFill>
                <a:latin typeface="Arial"/>
              </a:rPr>
              <a:t>  · партнёр · преподаватель английского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«Просто завожу учеников в систему — и получаю процент».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06040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69464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7E9EE"/>
                </a:solidFill>
                <a:latin typeface="Arial"/>
              </a:rPr>
              <a:t>Ученица спросила про Корею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«Передам тебя проверенному агентству»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27832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7E9EE"/>
                </a:solidFill>
                <a:latin typeface="Arial"/>
              </a:rPr>
              <a:t>Вошёл в /lidy под своим логином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Роль «партнёр» — видит только своих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9624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813048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7E9EE"/>
                </a:solidFill>
                <a:latin typeface="Arial"/>
              </a:rPr>
              <a:t>«+ Лид»: имя и телефон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Лид помечен «от партнёра Нурлана»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71416"/>
            <a:ext cx="292608" cy="292608"/>
          </a:xfrm>
          <a:prstGeom prst="ellipse">
            <a:avLst/>
          </a:prstGeom>
          <a:solidFill>
            <a:srgbClr val="121419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434840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7E9EE"/>
                </a:solidFill>
                <a:latin typeface="Arial"/>
              </a:rPr>
              <a:t>Сделка Won $12 000</a:t>
            </a:r>
          </a:p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Комиссия посчиталась сама: 3% = $360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17920" y="1463040"/>
          <a:ext cx="5303519" cy="1651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97126"/>
                <a:gridCol w="3606393"/>
              </a:tblGrid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Кто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Что видит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Нурлан (партнёр)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Только своих рефералов, их статусы, свою комиссию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Менеджер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Обычный лид с источником «партнёр: Нурлан»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РОП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Канал «партнёры» в ROI: лиды, конверсия, выручка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7E9EE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Сумму комиссий к выплате за период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217920" y="402336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160520"/>
            <a:ext cx="4846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Arial"/>
              </a:rPr>
              <a:t>ЗАЧЕМ ЭТО БИЗНЕСУ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Партнёрская сеть = бесплатный канал лидов с оплатой за результат.</a:t>
            </a:r>
          </a:p>
          <a:p>
            <a:pPr algn="l"/>
            <a:r>
              <a:rPr sz="1150" b="0">
                <a:solidFill>
                  <a:srgbClr val="9AA1AE"/>
                </a:solidFill>
                <a:latin typeface="Arial"/>
              </a:rPr>
              <a:t>Преподаватели, выпускники, блогеры — все через одну систему, без чатов и табличек.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IX · История 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33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X · КАРТА ДЕЙСТВИЙ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«Хочу сделать X — куда идти?»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71600"/>
          <a:ext cx="10881359" cy="4191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86596"/>
                <a:gridCol w="4286596"/>
                <a:gridCol w="2308167"/>
              </a:tblGrid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Хочу…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Куда идти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AA1AE"/>
                          </a:solidFill>
                          <a:latin typeface="Arial"/>
                        </a:rPr>
                        <a:t>Кто может</a:t>
                      </a:r>
                    </a:p>
                  </a:txBody>
                  <a:tcPr>
                    <a:solidFill>
                      <a:srgbClr val="121419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Изменить цены/тексты на сайте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/admin → Контент сайта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Добавить вуз или страну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/admin → Страны и Университеты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Создать сотрудника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/admin → Менеджеры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Перестроить воронку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/admin → Статусы лидов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Шаблон WhatsApp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/admin → Шаблоны ответов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«Японские лиды — Анне»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/admin → Авто-распределение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Рейтинг команды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/admin → Leaderboard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Админ · РОП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Подготовиться к 1-на-1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/admin → 1-на-1 отчёт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РОП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Обработать лида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/lidy → карточка лида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Менеджер · РОП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Сменить статус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Карточка → Обзор, или канбан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Менеджер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Передать лид коллеге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Карточка → Обзор → Передача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Менеджер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Загрузить паспорт клиента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Карточка → 📎 Файлы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Менеджер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Выгрузить лиды в Excel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/admin → Дашборд → Экспорт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Админ · РОП</a:t>
                      </a:r>
                    </a:p>
                  </a:txBody>
                  <a:tcPr>
                    <a:solidFill>
                      <a:srgbClr val="0B0C0F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Скачать резервную копию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/admin → Утилиты и бэкапы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7E9EE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X · Карта действий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34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XI · ЧЕК-ЛИСТЫ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Ритуалы по ролям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Менеджер · день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09:00 открыть CRM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Включить «🟢 в сети»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Глянуть «Мой день»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Включить Inbox 0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Закрыть просроченные задачи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Новые лиды — ответ в 15 минут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Шаблоны вместо ручного набора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Суммы сделок — сразу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Обед → «не в сети» → обратно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18:00 Inbox 0 пуст → «не в сети»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РОП · неделя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1168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Ежедневно 09:00 Telegram-отчёт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Светофор в админке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Пн: Leaderboard за неделю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Пн: раздать горячих, топ-3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Ср: 1-на-1 по готовым отчётам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Пт: когорты + ROI каналов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Пт: проверить зависшие лиды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По необходимости: авто-сценарии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554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9EE"/>
                </a:solidFill>
                <a:latin typeface="Arial"/>
              </a:rPr>
              <a:t>Админ · месяц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01168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1-е число: бэкап в облако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1-е число: место в БД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15-е: журнал аудита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Квартал: сменить пароль админки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Полгода: ревизия правил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По запросу: контент сайта</a:t>
            </a:r>
          </a:p>
          <a:p>
            <a:r>
              <a:rPr sz="1000" b="1">
                <a:solidFill>
                  <a:srgbClr val="6366F1"/>
                </a:solidFill>
                <a:latin typeface="Arial"/>
              </a:rPr>
              <a:t>•  </a:t>
            </a:r>
            <a:r>
              <a:rPr sz="1000" b="0">
                <a:solidFill>
                  <a:srgbClr val="9AA1AE"/>
                </a:solidFill>
                <a:latin typeface="Arial"/>
              </a:rPr>
              <a:t>По росту: новые сотрудники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2A1E0A"/>
          </a:solidFill>
          <a:ln w="9525">
            <a:solidFill>
              <a:srgbClr val="785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49240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DE68A"/>
                </a:solidFill>
                <a:latin typeface="Arial"/>
              </a:rPr>
              <a:t>ТРИ «НИКОГДА»</a:t>
            </a:r>
          </a:p>
          <a:p>
            <a:pPr algn="l"/>
            <a:r>
              <a:rPr sz="1150" b="0">
                <a:solidFill>
                  <a:srgbClr val="E7E9EE"/>
                </a:solidFill>
                <a:latin typeface="Arial"/>
              </a:rPr>
              <a:t>1. Не удалять менеджеров — только архивировать.  2. Не забывать «Сохранить» после правок контента.  3. Не оставлять «🟢 в сети» уходя домой.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XI · Чек-листы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35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rial"/>
              </a:rPr>
              <a:t>XI · ЧЕК-ЛИСТЫ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Частые вопросы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Менеджер забыл пароль?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Админ выдаёт стартовый пароль заново через «Менеджеры».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697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Лид никому не назначен?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Все офлайн. Включите «🟢 в сети» — очередь раздастся.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840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Случайно удалили лид?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Восстановление из ежедневного бэкапа — к админу.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92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983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Клиент пришёл повторно?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Дедупликация привяжет заявку к старой карточке.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554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Можно работать с телефона?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Да: CRM ставится как приложение, push туда же.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06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697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Сайт упал — лиды теряются?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Хостинг с авто-перезапуском; WhatsApp-кнопка дублирует канал.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840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Новый источник рекламы?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«Варианты источников» в админке + правило распределения.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892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21419"/>
          </a:solidFill>
          <a:ln w="9525">
            <a:solidFill>
              <a:srgbClr val="232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983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E9EE"/>
                </a:solidFill>
                <a:latin typeface="Arial"/>
              </a:rPr>
              <a:t>Двое правят сайт сразу?</a:t>
            </a:r>
          </a:p>
          <a:p>
            <a:pPr algn="l"/>
            <a:r>
              <a:rPr sz="1050" b="0">
                <a:solidFill>
                  <a:srgbClr val="9AA1AE"/>
                </a:solidFill>
                <a:latin typeface="Arial"/>
              </a:rPr>
              <a:t>Сработает последнее «Сохранить». Контент меняет один человек.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7582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7582"/>
                </a:solidFill>
                <a:latin typeface="Arial"/>
              </a:rPr>
              <a:t>XI · FAQ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582"/>
                </a:solidFill>
                <a:latin typeface="Arial"/>
              </a:rPr>
              <a:t>36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5B4FC"/>
                </a:solidFill>
                <a:latin typeface="Arial"/>
              </a:rPr>
              <a:t>ФИНАЛ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Готово к работе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AA1AE"/>
                </a:solidFill>
                <a:latin typeface="Arial"/>
              </a:rPr>
              <a:t>Платформа закрывает весь цикл: от клика по рекламе до студента в кампусе.</a:t>
            </a:r>
          </a:p>
          <a:p>
            <a:pPr algn="l"/>
            <a:r>
              <a:rPr sz="1600" b="0">
                <a:solidFill>
                  <a:srgbClr val="9AA1AE"/>
                </a:solidFill>
                <a:latin typeface="Arial"/>
              </a:rPr>
              <a:t>Детали — в полной базе знаний (PDF, 40 стр.).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5B4FC"/>
                </a:solidFill>
                <a:latin typeface="Arial"/>
              </a:rPr>
              <a:t>ДОСТУПЫ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A5B4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Сайт: goglobal.kg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A5B4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Админка: goglobal.kg/admin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A5B4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CRM: goglobal.kg/lidy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2004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5B4FC"/>
                </a:solidFill>
                <a:latin typeface="Arial"/>
              </a:rPr>
              <a:t>ДОКУМЕНТЫ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6576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A5B4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Эта презентация (HTML + PPTX)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A5B4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База знаний (PDF, 40 стр.)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A5B4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Мануал CRM (PDF, 97 стр.)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A5B4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Спецификация сайта (PDF)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8" y="32004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5B4FC"/>
                </a:solidFill>
                <a:latin typeface="Arial"/>
              </a:rPr>
              <a:t>ПЕРВЫЕ ШАГИ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8" y="36576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A5B4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Менеджерам: раздел VI + история 1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A5B4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РОПу: разделы VII и XI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A5B4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Админу: всё + база знаний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1AE"/>
                </a:solidFill>
                <a:latin typeface="Arial"/>
              </a:rPr>
              <a:t>GoGlobal · база знаний · Спасибо!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